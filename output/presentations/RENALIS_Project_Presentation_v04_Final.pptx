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864ed30be44789" /><Relationship Type="http://schemas.openxmlformats.org/officeDocument/2006/relationships/extended-properties" Target="/docProps/app.xml" Id="R3aa287a90be34221" /><Relationship Type="http://schemas.openxmlformats.org/officeDocument/2006/relationships/officeDocument" Target="/ppt/presentation.xml" Id="R9ae905caa864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304012d6f4d57"/>
  </p:sldMasterIdLst>
  <p:notesMasterIdLst>
    <p:notesMasterId xmlns:r="http://schemas.openxmlformats.org/officeDocument/2006/relationships" r:id="Ra869d5fe60654b1b"/>
  </p:notesMasterIdLst>
  <p:sldIdLst>
    <p:sldId xmlns:r="http://schemas.openxmlformats.org/officeDocument/2006/relationships" id="256" r:id="R27466f184eb946f7"/>
    <p:sldId xmlns:r="http://schemas.openxmlformats.org/officeDocument/2006/relationships" id="257" r:id="R6dd8702a4b69454c"/>
    <p:sldId xmlns:r="http://schemas.openxmlformats.org/officeDocument/2006/relationships" id="258" r:id="Rda215638097740fc"/>
    <p:sldId xmlns:r="http://schemas.openxmlformats.org/officeDocument/2006/relationships" id="259" r:id="Ra2a3ec04a8e84669"/>
    <p:sldId xmlns:r="http://schemas.openxmlformats.org/officeDocument/2006/relationships" id="260" r:id="R81445573023f4ded"/>
    <p:sldId xmlns:r="http://schemas.openxmlformats.org/officeDocument/2006/relationships" id="261" r:id="R5d914305c4dd4db0"/>
    <p:sldId xmlns:r="http://schemas.openxmlformats.org/officeDocument/2006/relationships" id="262" r:id="R4d2c32fd2f9941fd"/>
    <p:sldId xmlns:r="http://schemas.openxmlformats.org/officeDocument/2006/relationships" id="263" r:id="R06de11b6728842ac"/>
    <p:sldId xmlns:r="http://schemas.openxmlformats.org/officeDocument/2006/relationships" id="264" r:id="R982086517e794487"/>
    <p:sldId xmlns:r="http://schemas.openxmlformats.org/officeDocument/2006/relationships" id="265" r:id="Rb4acb5f8278547be"/>
    <p:sldId xmlns:r="http://schemas.openxmlformats.org/officeDocument/2006/relationships" id="266" r:id="Ree90b4d744d64673"/>
    <p:sldId xmlns:r="http://schemas.openxmlformats.org/officeDocument/2006/relationships" id="267" r:id="R452a654541df42d0"/>
    <p:sldId xmlns:r="http://schemas.openxmlformats.org/officeDocument/2006/relationships" id="268" r:id="R1de763ab4a9e47bf"/>
    <p:sldId xmlns:r="http://schemas.openxmlformats.org/officeDocument/2006/relationships" id="269" r:id="R65797a5349a948a5"/>
    <p:sldId xmlns:r="http://schemas.openxmlformats.org/officeDocument/2006/relationships" id="270" r:id="Rae18d8ccd1ab4bdd"/>
    <p:sldId xmlns:r="http://schemas.openxmlformats.org/officeDocument/2006/relationships" id="271" r:id="Reca4c56d6f5f4f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f71dfcdb424c8c" /><Relationship Type="http://schemas.openxmlformats.org/officeDocument/2006/relationships/slideMaster" Target="/ppt/slideMasters/slideMaster1.xml" Id="R755304012d6f4d57" /><Relationship Type="http://schemas.openxmlformats.org/officeDocument/2006/relationships/notesMaster" Target="/ppt/notesMasters/notesMaster1.xml" Id="Ra869d5fe60654b1b" /><Relationship Type="http://schemas.openxmlformats.org/officeDocument/2006/relationships/presProps" Target="/ppt/presProps.xml" Id="R675ff9934e664d1d" /><Relationship Type="http://schemas.openxmlformats.org/officeDocument/2006/relationships/tableStyles" Target="/ppt/tableStyles.xml" Id="R4d4d58e5258e4d30" /><Relationship Type="http://schemas.openxmlformats.org/officeDocument/2006/relationships/slide" Target="/ppt/slides/slide1.xml" Id="R27466f184eb946f7" /><Relationship Type="http://schemas.openxmlformats.org/officeDocument/2006/relationships/slide" Target="/ppt/slides/slide2.xml" Id="R6dd8702a4b69454c" /><Relationship Type="http://schemas.openxmlformats.org/officeDocument/2006/relationships/slide" Target="/ppt/slides/slide3.xml" Id="Rda215638097740fc" /><Relationship Type="http://schemas.openxmlformats.org/officeDocument/2006/relationships/slide" Target="/ppt/slides/slide4.xml" Id="Ra2a3ec04a8e84669" /><Relationship Type="http://schemas.openxmlformats.org/officeDocument/2006/relationships/slide" Target="/ppt/slides/slide5.xml" Id="R81445573023f4ded" /><Relationship Type="http://schemas.openxmlformats.org/officeDocument/2006/relationships/slide" Target="/ppt/slides/slide6.xml" Id="R5d914305c4dd4db0" /><Relationship Type="http://schemas.openxmlformats.org/officeDocument/2006/relationships/slide" Target="/ppt/slides/slide7.xml" Id="R4d2c32fd2f9941fd" /><Relationship Type="http://schemas.openxmlformats.org/officeDocument/2006/relationships/slide" Target="/ppt/slides/slide8.xml" Id="R06de11b6728842ac" /><Relationship Type="http://schemas.openxmlformats.org/officeDocument/2006/relationships/slide" Target="/ppt/slides/slide9.xml" Id="R982086517e794487" /><Relationship Type="http://schemas.openxmlformats.org/officeDocument/2006/relationships/slide" Target="/ppt/slides/slide10.xml" Id="Rb4acb5f8278547be" /><Relationship Type="http://schemas.openxmlformats.org/officeDocument/2006/relationships/slide" Target="/ppt/slides/slide11.xml" Id="Ree90b4d744d64673" /><Relationship Type="http://schemas.openxmlformats.org/officeDocument/2006/relationships/slide" Target="/ppt/slides/slide12.xml" Id="R452a654541df42d0" /><Relationship Type="http://schemas.openxmlformats.org/officeDocument/2006/relationships/slide" Target="/ppt/slides/slide13.xml" Id="R1de763ab4a9e47bf" /><Relationship Type="http://schemas.openxmlformats.org/officeDocument/2006/relationships/slide" Target="/ppt/slides/slide14.xml" Id="R65797a5349a948a5" /><Relationship Type="http://schemas.openxmlformats.org/officeDocument/2006/relationships/slide" Target="/ppt/slides/slide15.xml" Id="Rae18d8ccd1ab4bdd" /><Relationship Type="http://schemas.openxmlformats.org/officeDocument/2006/relationships/slide" Target="/ppt/slides/slide16.xml" Id="Reca4c56d6f5f4f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2ee6d35c8f42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388b57dfad4874" /><Relationship Type="http://schemas.openxmlformats.org/officeDocument/2006/relationships/notesMaster" Target="/ppt/notesMasters/notesMaster1.xml" Id="R1c4e3ff18f1e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506675c9154093" /><Relationship Type="http://schemas.openxmlformats.org/officeDocument/2006/relationships/notesMaster" Target="/ppt/notesMasters/notesMaster1.xml" Id="R51e387d4edb147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9f2434f3c44a26" /><Relationship Type="http://schemas.openxmlformats.org/officeDocument/2006/relationships/notesMaster" Target="/ppt/notesMasters/notesMaster1.xml" Id="Ra5d41612733743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d10b7801d142f7" /><Relationship Type="http://schemas.openxmlformats.org/officeDocument/2006/relationships/notesMaster" Target="/ppt/notesMasters/notesMaster1.xml" Id="R6de457af0e1a4e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b013095476442d" /><Relationship Type="http://schemas.openxmlformats.org/officeDocument/2006/relationships/notesMaster" Target="/ppt/notesMasters/notesMaster1.xml" Id="Rea08f0bc68c54d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59dd084760455e" /><Relationship Type="http://schemas.openxmlformats.org/officeDocument/2006/relationships/notesMaster" Target="/ppt/notesMasters/notesMaster1.xml" Id="R0453da5bad3f4f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aa5b625a1045db" /><Relationship Type="http://schemas.openxmlformats.org/officeDocument/2006/relationships/notesMaster" Target="/ppt/notesMasters/notesMaster1.xml" Id="R421fd48b778e49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c3c588276c41e5" /><Relationship Type="http://schemas.openxmlformats.org/officeDocument/2006/relationships/notesMaster" Target="/ppt/notesMasters/notesMaster1.xml" Id="Ra67a8110980140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d148e00ecc432d" /><Relationship Type="http://schemas.openxmlformats.org/officeDocument/2006/relationships/notesMaster" Target="/ppt/notesMasters/notesMaster1.xml" Id="R630db6b9d9da4b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562d263eea4ba5" /><Relationship Type="http://schemas.openxmlformats.org/officeDocument/2006/relationships/notesMaster" Target="/ppt/notesMasters/notesMaster1.xml" Id="R13e19baf484a4a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650b66ff10480e" /><Relationship Type="http://schemas.openxmlformats.org/officeDocument/2006/relationships/notesMaster" Target="/ppt/notesMasters/notesMaster1.xml" Id="Rbf346770e64d49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1587bde4eb4962" /><Relationship Type="http://schemas.openxmlformats.org/officeDocument/2006/relationships/notesMaster" Target="/ppt/notesMasters/notesMaster1.xml" Id="Rfc625121c71f40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a3e4d06b244517" /><Relationship Type="http://schemas.openxmlformats.org/officeDocument/2006/relationships/notesMaster" Target="/ppt/notesMasters/notesMaster1.xml" Id="R1af743675f6948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78fd79d9f14622" /><Relationship Type="http://schemas.openxmlformats.org/officeDocument/2006/relationships/notesMaster" Target="/ppt/notesMasters/notesMaster1.xml" Id="Rcd3e4e01cbfa49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53fe0efbeb41b8" /><Relationship Type="http://schemas.openxmlformats.org/officeDocument/2006/relationships/notesMaster" Target="/ppt/notesMasters/notesMaster1.xml" Id="Rca2d3ffefb854c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4850e872e0414d" /><Relationship Type="http://schemas.openxmlformats.org/officeDocument/2006/relationships/notesMaster" Target="/ppt/notesMasters/notesMaster1.xml" Id="R918a854956cf4f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and scope. Built-in patients are fictional. No clinical deployment or prospective benefit is claimed. Team and institution details must be supplied by the actual entrants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motivation: KDIGO Blood pressure and volume management in dialysis, Kidney International 2020. https://kdigo.org/wp-content/uploads/2017/02/KDIGO-BP-Volume-Management-in-Dialysis-Conference-Report.pdf . Equations and noise values in RENALIS are authored research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entry: /workspace?view=investigation&amp;patient=RNL-014&amp;minute=80 . Follow Learn, Understand, Compare, Ask, Review and Verify. The evidence journey is implemented in src/EvidenceJourney.tsx.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backend/history.py, model.py, mechanisms.py, app.py. React/TypeScript frontend, FastAPI/NumPy backend and SQLite persistence. Observed HEMOBP training is separate and does not drive synthetic physiological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backend/history.py and history_fixtures.py. Current-session and future-available records are excluded. Generator and learner share a model family, so this synthetic ablation cannot establish clinical personalization.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backend/model.py advance and backend/mechanisms.py project/sensor_prediction. Fluid conservation is tested. Conservation alone does not validate the pressure equation or identify a real physiological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backend/mechanisms.py. The mixed family expands authored possibilities but does not guarantee model completeness. Similar factual fits can imply divergent hypothetical responses. Family support is not a diagnostic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backend/insights.py. The UI shows conditional 10th to 90th ranges and three hypothetical outcomes. These previews are model-derived, uncalibrated and never enter the acquired-evidence ledger.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backend/mechanisms.py measurement_value. Nine-node Gaussian quadrature is compared with a 41-node diagnostic reference. Information gain remains distinct from expected decision-loss reduction. Costs and loss weights are authored, not elicited clinical utilities.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backend/app.py. Server enforces equipment, channel/value range and cutoff. Failed acquisitions remain charged and visible. Reset archives records. A correction appends a new value at its release time and preserves earlier cutoffs and saved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docs/observed-v04.json and scripts/evaluate_observed_v04.py. Dataset DOI 10.6084/m9.figshare.6260654.v3, CC BY 4.0. https://www.nature.com/articles/s41597-019-0319-8 . Endpoint is next distinct measured SBP &lt;=90 with a 5-35 minute gap and current SBP &gt;90.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docs/observed-v04.json. Fit/calibration/test patient overlap is zero. Threshold selection uses calibration patients. Alerts consolidate under a 30-minute refractory rule. No continuous-event, prospective clinical or India transport claim follows from these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docs/policy-validation-v04.json. All 768 policy records retained. Independent additive futures include mixed/omitted mechanisms, noise, basic equipment and delayed/failing acquisition. Oracle-grid metric amendment is documented and initial report preserved. No policies were tuned after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tests/test_model.py, tests/test_mechanisms.py, tests/test_research_release.py and scripts/check-journey.cjs. UI tests cover five responsive widths from 320 to 1440 pixels. Software tests do not establish clinical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backend/longitudinal.py and backend/app.py fhir_example. FHIR specification https://hl7.org/fhir/R4/observation.html and ABDM guide https://nrces.in/ndhm/fhir/r4/ . This is an example bundle, not a certification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docs/clinical-study-protocol.md and docs/data-capture-schema.json. No recruited clinicians, approvals, measured staff-time savings or patient outcomes are claimed. Team identity and public submission links must be supplied and verified before 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bc7d7a17640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3ac4c19e744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c4dd82ce641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d75e89ef541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8002832f44e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085d579b244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DEC89-5E7E-40A1-96EF-4E8F04FFE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C444D6-6816-4F33-A4A8-AD182489D6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B4C7AE-07F8-4494-ACCE-01E99EAE5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F87AC9-10B5-4D14-896D-5D57BAFC1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67E0FA-668F-46A9-919B-CCD433E90A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1798BB-38DC-43D9-9AB8-456EEC261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353F53-83D2-4825-AE1C-99039DF275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2651E0-CD58-4691-8018-B71E9544EA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77CA42-0E29-44DC-9FA6-3EF72442C8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FB1771-ECF6-45F1-AB64-68096A57F8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7117ef87934a68" /><Relationship Type="http://schemas.openxmlformats.org/officeDocument/2006/relationships/slideLayout" Target="/ppt/slideLayouts/slideLayout1.xml" Id="R95331493fae344fa" /><Relationship Type="http://schemas.openxmlformats.org/officeDocument/2006/relationships/slideLayout" Target="/ppt/slideLayouts/slideLayout2.xml" Id="R13a8c534102245ad" /><Relationship Type="http://schemas.openxmlformats.org/officeDocument/2006/relationships/slideLayout" Target="/ppt/slideLayouts/slideLayout3.xml" Id="R15997740c9e34709" /><Relationship Type="http://schemas.openxmlformats.org/officeDocument/2006/relationships/slideLayout" Target="/ppt/slideLayouts/slideLayout4.xml" Id="R81f373eba9b24692" /><Relationship Type="http://schemas.openxmlformats.org/officeDocument/2006/relationships/slideLayout" Target="/ppt/slideLayouts/slideLayout5.xml" Id="R312b55b5d10740c8" /><Relationship Type="http://schemas.openxmlformats.org/officeDocument/2006/relationships/slideLayout" Target="/ppt/slideLayouts/slideLayout6.xml" Id="R35eadd147ced4c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31493fae344fa"/>
    <p:sldLayoutId xmlns:r="http://schemas.openxmlformats.org/officeDocument/2006/relationships" id="2147483650" r:id="R13a8c534102245ad"/>
    <p:sldLayoutId xmlns:r="http://schemas.openxmlformats.org/officeDocument/2006/relationships" id="2147483651" r:id="R15997740c9e34709"/>
    <p:sldLayoutId xmlns:r="http://schemas.openxmlformats.org/officeDocument/2006/relationships" id="2147483652" r:id="R81f373eba9b24692"/>
    <p:sldLayoutId xmlns:r="http://schemas.openxmlformats.org/officeDocument/2006/relationships" id="2147483653" r:id="R312b55b5d10740c8"/>
    <p:sldLayoutId xmlns:r="http://schemas.openxmlformats.org/officeDocument/2006/relationships" id="2147483654" r:id="R35eadd147ced4c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7309a0ec94cab" /><Relationship Type="http://schemas.openxmlformats.org/officeDocument/2006/relationships/notesSlide" Target="/ppt/notesSlides/notesSlide1.xml" Id="R0ab00a7c9dd449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8776151b34d88" /><Relationship Type="http://schemas.openxmlformats.org/officeDocument/2006/relationships/notesSlide" Target="/ppt/notesSlides/notesSlide2.xml" Id="Rdfaf1902076c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89be59f88462e" /><Relationship Type="http://schemas.openxmlformats.org/officeDocument/2006/relationships/notesSlide" Target="/ppt/notesSlides/notesSlide3.xml" Id="R491e9de54d0743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f10f8897b4687" /><Relationship Type="http://schemas.openxmlformats.org/officeDocument/2006/relationships/notesSlide" Target="/ppt/notesSlides/notesSlide4.xml" Id="Rbae39df05f5c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a97cf85ff4240" /><Relationship Type="http://schemas.openxmlformats.org/officeDocument/2006/relationships/notesSlide" Target="/ppt/notesSlides/notesSlide5.xml" Id="Rc948007b7af240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1df6f7ecb44d9" /><Relationship Type="http://schemas.openxmlformats.org/officeDocument/2006/relationships/notesSlide" Target="/ppt/notesSlides/notesSlide6.xml" Id="R124d6295ad4d4c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b555b75904fd8" /><Relationship Type="http://schemas.openxmlformats.org/officeDocument/2006/relationships/notesSlide" Target="/ppt/notesSlides/notesSlide7.xml" Id="R89031817369b48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1be47af664055" /><Relationship Type="http://schemas.openxmlformats.org/officeDocument/2006/relationships/notesSlide" Target="/ppt/notesSlides/notesSlide8.xml" Id="R3344e36e31294c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3b632fd8a4c2d" /><Relationship Type="http://schemas.openxmlformats.org/officeDocument/2006/relationships/notesSlide" Target="/ppt/notesSlides/notesSlide9.xml" Id="R47cc822841564c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df0fd38e2c4ae7" /><Relationship Type="http://schemas.openxmlformats.org/officeDocument/2006/relationships/notesSlide" Target="/ppt/notesSlides/notesSlide10.xml" Id="R6093bd057b254a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f3699db724c26" /><Relationship Type="http://schemas.openxmlformats.org/officeDocument/2006/relationships/chart" Target="/ppt/slides/charts/chart1.xml" Id="R99a99de93ef7413e" /><Relationship Type="http://schemas.openxmlformats.org/officeDocument/2006/relationships/notesSlide" Target="/ppt/notesSlides/notesSlide11.xml" Id="R1e2a37174fcb40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96736e24145a0" /><Relationship Type="http://schemas.openxmlformats.org/officeDocument/2006/relationships/notesSlide" Target="/ppt/notesSlides/notesSlide12.xml" Id="Rf52aaf526a1f47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5517fcb4b4106" /><Relationship Type="http://schemas.openxmlformats.org/officeDocument/2006/relationships/chart" Target="/ppt/slides/charts/chart2.xml" Id="R52704f85f3d84ef6" /><Relationship Type="http://schemas.openxmlformats.org/officeDocument/2006/relationships/notesSlide" Target="/ppt/notesSlides/notesSlide13.xml" Id="R1e6371aceb7040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41ba1e71f4a13" /><Relationship Type="http://schemas.openxmlformats.org/officeDocument/2006/relationships/notesSlide" Target="/ppt/notesSlides/notesSlide14.xml" Id="R96bc81860c734e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d57a54dc642a6" /><Relationship Type="http://schemas.openxmlformats.org/officeDocument/2006/relationships/notesSlide" Target="/ppt/notesSlides/notesSlide15.xml" Id="R2e81758b79844d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17e9e58a54ee1" /><Relationship Type="http://schemas.openxmlformats.org/officeDocument/2006/relationships/notesSlide" Target="/ppt/notesSlides/notesSlide16.xml" Id="Re6ef29c00baf44f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30796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Persistence</c:v>
                </c:pt>
                <c:pt idx="1">
                  <c:v>Dynamic</c:v>
                </c:pt>
                <c:pt idx="2">
                  <c:v>Demographics</c:v>
                </c:pt>
                <c:pt idx="3">
                  <c:v>Past sessions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12.194</c:v>
                </c:pt>
                <c:pt idx="1">
                  <c:v>11.356</c:v>
                </c:pt>
                <c:pt idx="2">
                  <c:v>11.328</c:v>
                </c:pt>
                <c:pt idx="3">
                  <c:v>11.161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Calibri"/>
                    <a:ea typeface="Calibri"/>
                    <a:cs typeface="Calibri"/>
                  </a:rPr>
                  <a:t>mmHg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Mean independent regret</c:v>
          </c:tx>
          <c:spPr>
            <a:solidFill xmlns:a="http://schemas.openxmlformats.org/drawingml/2006/main">
              <a:srgbClr val="AC734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no observation</c:v>
                </c:pt>
                <c:pt idx="1">
                  <c:v>fixed cuff</c:v>
                </c:pt>
                <c:pt idx="2">
                  <c:v>information gain</c:v>
                </c:pt>
                <c:pt idx="3">
                  <c:v>decision value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0.23078</c:v>
                </c:pt>
                <c:pt idx="1">
                  <c:v>0.2217</c:v>
                </c:pt>
                <c:pt idx="2">
                  <c:v>0.24472</c:v>
                </c:pt>
                <c:pt idx="3">
                  <c:v>0.24145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Calibri"/>
                    <a:ea typeface="Calibri"/>
                    <a:cs typeface="Calibri"/>
                  </a:rPr>
                  <a:t>Research 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5722A-1CCD-49A5-B7CA-5835404C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E8F1DA"/>
                </a:solidFill>
                <a:latin typeface="Calibri"/>
                <a:ea typeface="Calibri"/>
                <a:cs typeface="Calibri"/>
              </a:rPr>
              <a:t>RENALIS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3C807-E4D1-4D7E-9DE7-CB3ED367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B6CBB8"/>
                </a:solidFill>
                <a:latin typeface="Calibri"/>
                <a:ea typeface="Calibri"/>
                <a:cs typeface="Calibri"/>
              </a:rPr>
              <a:t>A dialysis twin that makes competing explanations and the next evidence question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28792-7BD5-4A82-AFE3-4D6BF220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ADC3B0"/>
                </a:solidFill>
                <a:latin typeface="Calibri"/>
                <a:ea typeface="Calibri"/>
                <a:cs typeface="Calibri"/>
              </a:rPr>
              <a:t>RENALIS 0.4 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5AF40-64AB-441B-BB1C-794A3A2A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defPPr>
            <a:lvl1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1pPr>
            <a:lvl2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2pPr>
            <a:lvl3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3pPr>
            <a:lvl4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4pPr>
            <a:lvl5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5pPr>
            <a:lvl6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6pPr>
            <a:lvl7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7pPr>
            <a:lvl8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8pPr>
            <a:lvl9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D5E8BD"/>
                </a:solidFill>
                <a:latin typeface="Calibri"/>
                <a:ea typeface="Calibri"/>
                <a:cs typeface="Calibri"/>
              </a:rPr>
              <a:t>Research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78B10-5B49-47D8-8785-1DF06725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C2D4BE"/>
                </a:solidFill>
                <a:latin typeface="Calibri"/>
                <a:ea typeface="Calibri"/>
                <a:cs typeface="Calibri"/>
              </a:rPr>
              <a:t>Historical records + available device observations + explicit uncertainty</a:t>
            </a:r>
          </a:p>
        </p:txBody>
      </p:sp>
    </p:spTree>
    <p:extLst>
      <p:ext uri="{BB962C8B-B14F-4D97-AF65-F5344CB8AC3E}">
        <p14:creationId xmlns:p14="http://schemas.microsoft.com/office/powerpoint/2010/main" val="1111109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841CC-CEBC-4C9B-B7A3-37FAC8E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clinical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8F77F-BA40-4309-835D-784C663D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 declining pressure trace can fit several physiological explanations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EBDED-2F19-4682-9158-014CA05F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536DE-9178-4087-BEB9-4F75F4CC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During dialysis, fluid removal interacts with refill and compensatory responses.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796C0-3FBC-4A05-9786-198F7635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RENALIS preserves several compatible models and compares hypothetical profiles.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173CC-C894-4530-AA9F-CE72C6F0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next question is which feasible observation could change that comparison.</a:t>
            </a:r>
          </a:p>
        </p:txBody>
      </p:sp>
    </p:spTree>
    <p:extLst>
      <p:ext uri="{BB962C8B-B14F-4D97-AF65-F5344CB8AC3E}">
        <p14:creationId xmlns:p14="http://schemas.microsoft.com/office/powerpoint/2010/main" val="1530368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388EF-21EF-4796-884B-36E4666D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One patient, one evidence cutoff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64B56-4F6D-496E-95E4-EFD4F6F8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Six connected stages keep the reasoning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FFF35-5426-4A60-89E5-0F8DF5E1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5E4B1-8A6F-4B28-97C0-361DF803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Learn from preceding sessions, then inspect the model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F19EC-34FA-4EAA-B53F-94A59F77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Compare four explanations, then preview possible measurement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B2CA9-2F0D-4802-BE7B-42D0756D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Acquire or abstain, review the record, and inspect independent evaluations.</a:t>
            </a:r>
          </a:p>
        </p:txBody>
      </p:sp>
    </p:spTree>
    <p:extLst>
      <p:ext uri="{BB962C8B-B14F-4D97-AF65-F5344CB8AC3E}">
        <p14:creationId xmlns:p14="http://schemas.microsoft.com/office/powerpoint/2010/main" val="2133528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241AB-2C36-4AFC-9169-A038752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2B1C5-3C37-4F88-B43E-8B69F42F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synthetic physiological path and observed-data benchmark remain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31128-8CA3-4846-8F62-1C893D57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64B52-52D2-491F-8C71-B7DD1F7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Preceding synthetic sessions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Raw BP + machine settings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7824A-0E3E-4D45-9724-CC69627C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52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8ACBE-F2D8-4450-930A-72F4426C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History learner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Shrinkage + lineage digest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9D85F-5DB2-469F-8AA6-02C788F3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07979-09D7-4FA1-985E-3B9ED0FF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Current replay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Available-time cutoff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BA1EB-CD27-40B0-974D-25BE818E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33800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345B7-762C-417C-8A5E-4B0D97BD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86250"/>
            <a:ext cx="3457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Four physiological families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48 particles per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6624C-6AE3-4EFF-BCBD-9770CE9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19625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A9DCB-4CB0-4818-BBDA-E9A7932A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Observation-policy comparison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Time, noise, failure, burden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40FB2-E8EA-4E47-AB31-080D77A1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3635C-40CC-4C9D-ABB5-DBC92D19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Evidence journey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Review + saved reports</a:t>
            </a:r>
          </a:p>
        </p:txBody>
      </p:sp>
    </p:spTree>
    <p:extLst>
      <p:ext uri="{BB962C8B-B14F-4D97-AF65-F5344CB8AC3E}">
        <p14:creationId xmlns:p14="http://schemas.microsoft.com/office/powerpoint/2010/main" val="965111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5FB95-4E67-495C-9C28-22C195B3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Patient history changes the prior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CE9C5-C192-4C40-8092-2A76A53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Raw preceding-session trajectories replace an authored refill prior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35769-B575-4BAA-BB99-16C000FA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9BC43-F796-44BE-8190-86E45DA0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Six completed synthetic sessions supply BP readings and machine settings.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26F58-C58D-42F0-BB79-39E030D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 grid likelihood fits refill and compensation, then shrinks toward a population reference.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EC14E-03BD-4EC6-9649-72B4F7FC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 forward-session ablation, uncertainty floor and history digest expose the learning limits.</a:t>
            </a:r>
          </a:p>
        </p:txBody>
      </p:sp>
    </p:spTree>
    <p:extLst>
      <p:ext uri="{BB962C8B-B14F-4D97-AF65-F5344CB8AC3E}">
        <p14:creationId xmlns:p14="http://schemas.microsoft.com/office/powerpoint/2010/main" val="159988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0B571-60AB-4369-9311-B5CBA6C7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Inspectable physiological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8019C-0375-4CBC-AD4F-CCC38C5C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Compartment state, measured settings and authored response maps are labeled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CC0E3-4456-4DBC-855A-0B696836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3CC64-D1CD-4672-8E99-7259690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Tissue fluid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Estimated compartment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E55B4-EA47-4C99-BEDB-ED5B921B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956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39F5-F436-4074-8CD5-8932507C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Circulating volume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Estimated compartment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1813D-41B6-4D38-838A-7F6E487B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956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AFBC9-61E0-4806-91D2-FEEE77BF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Machine removal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Observed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5B382-FEE4-4BDC-8044-0FEF60A2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38575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CE36F-D892-4AA4-9083-C4DD710F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81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Pressure response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Family-specific equation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6D6F2-B6A4-4E4B-A550-47D7C99F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Cardiac output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Authored sensor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ED59E-ED4C-4E1A-BBC8-8364F1F8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Vascular response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Authored hypothesis</a:t>
            </a:r>
          </a:p>
        </p:txBody>
      </p:sp>
    </p:spTree>
    <p:extLst>
      <p:ext uri="{BB962C8B-B14F-4D97-AF65-F5344CB8AC3E}">
        <p14:creationId xmlns:p14="http://schemas.microsoft.com/office/powerpoint/2010/main" val="1927837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642F1-5EB6-41C8-81B7-076E57E4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Four explanations preserve ambiguity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D2028-D115-496F-869B-ED125656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Volume/refill, vascular, cardiac and mixed response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73EB6-FAD4-4B68-859D-95561AF9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36406-6490-463A-8C5E-04E366DD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Each family retains 48 particles and fits the same available BP and machine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5DEF9-7459-48EB-B570-A0E40109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Compatibility weights describe this chosen model bank and can remain unresolved.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A34B0-5506-4BEF-8FD8-87644ECE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Contradictory observations downgrade authority because actual physiology may be absent.</a:t>
            </a:r>
          </a:p>
        </p:txBody>
      </p:sp>
    </p:spTree>
    <p:extLst>
      <p:ext uri="{BB962C8B-B14F-4D97-AF65-F5344CB8AC3E}">
        <p14:creationId xmlns:p14="http://schemas.microsoft.com/office/powerpoint/2010/main" val="1389654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254EF-3379-406F-A2F8-65A5F22C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Possible measurements appear before acquisition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E1860-461F-4561-9F8C-9CE82DBC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Predicted ranges include selected noise and observation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789C0-557B-48B7-85F4-80B280F2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BE3E0-AB3B-40D2-BEF6-0DCD26A4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Cuff BP, relative blood volume and cardiac output have explicit observation equations.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C755C-72FD-4C16-B426-B1E8511A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Lower, middle and higher result previews show conditional support and scenario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EC783-BECB-4157-8B26-4E584933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Overlapping ranges reveal when a measurement cannot reliably separate explanations.</a:t>
            </a:r>
          </a:p>
        </p:txBody>
      </p:sp>
    </p:spTree>
    <p:extLst>
      <p:ext uri="{BB962C8B-B14F-4D97-AF65-F5344CB8AC3E}">
        <p14:creationId xmlns:p14="http://schemas.microsoft.com/office/powerpoint/2010/main" val="678140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DFDCF-82E7-4031-9961-2373159F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Whole-policy observation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CCF29-657F-47B1-B88B-620A3436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comparison includes what happens while waiting and when acquisition fails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BA6DE-AC9F-4563-A794-9146C73C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492EA-1DD0-4D12-AB1F-154B406B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Start with the best immediate action under the declared research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8DABF-F49D-4F9A-BC5E-F6A69979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Integrate possible results, delayed action and acquisition failure using Gaussian quadrature.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DEA59-41AB-4376-B798-BAC499D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Subtract declared burden and delay penalty. Preserve negative value and abstain when needed.</a:t>
            </a:r>
          </a:p>
        </p:txBody>
      </p:sp>
    </p:spTree>
    <p:extLst>
      <p:ext uri="{BB962C8B-B14F-4D97-AF65-F5344CB8AC3E}">
        <p14:creationId xmlns:p14="http://schemas.microsoft.com/office/powerpoint/2010/main" val="842812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34AE0-ADC3-4654-B4C8-DDCEC299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An auditable evidence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0D093-00C0-472D-AC9F-68BB4486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Availability, quality, corrections and saved revisions share one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58243-489E-428C-994C-580BFA05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9EA1B-A0FA-4D64-ADFC-48D2BA1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Observe at minute 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Quality + declared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E613A-E32A-410A-A966-0E99FD8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533BB-4D98-4700-91FD-EA1C214B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Release at minute t + delay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No future-value 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448BD-B164-449A-BA64-52446CDB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468EC-5D75-40A3-9360-49B99DE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Assimilate valid evidence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Retain failures +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E9FD1-C888-42DD-89DE-CD682A17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Append correction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Original value retained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48F0F-AC9B-471A-88C7-962EBFFD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01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0DE5B-E37A-4D42-9CF8-854EB702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Rewind before correction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Earlier evidence restored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C3796-8C27-4C9F-AAC4-46ADC4C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01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D17DA-84A8-486A-A571-FC47F245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767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Save immutable report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Revision + evidence IDs</a:t>
            </a:r>
          </a:p>
        </p:txBody>
      </p:sp>
    </p:spTree>
    <p:extLst>
      <p:ext uri="{BB962C8B-B14F-4D97-AF65-F5344CB8AC3E}">
        <p14:creationId xmlns:p14="http://schemas.microsoft.com/office/powerpoint/2010/main" val="20895584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C2B56-1515-481C-B439-3623F879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History adds a small retrospective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9D4A4-00F1-4F08-98CE-37D16D4F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HEMOBP v3: 61,947 test windows from 176 separate test patients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858C7-CAFE-49AB-87A3-DA97A674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804C997-8668-4346-995F-8BF17A4430A9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a99de93ef7413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E1C01-C242-46FC-A513-9D422C3A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History increment: -0.1665 mmHg. Patient-cluster interval [-0.2298, -0.1099].</a:t>
            </a:r>
          </a:p>
        </p:txBody>
      </p:sp>
    </p:spTree>
    <p:extLst>
      <p:ext uri="{BB962C8B-B14F-4D97-AF65-F5344CB8AC3E}">
        <p14:creationId xmlns:p14="http://schemas.microsoft.com/office/powerpoint/2010/main" val="15990561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7E025-B052-4A74-8C5A-18B78335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observed-data limits change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33109-84F9-4775-B9A8-C2608092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clock-alignment assumption and alert workload remain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B64EA-16AE-401C-87E2-D94AA955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31E46-4BF5-40F9-895F-931D27A1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An empirical eight-hour table offset matches 2,516,989 of 4,366,298 machine packets.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2D1D0-C26F-4CFD-B852-C0DE152D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Source clock semantics still need independent confirmation. Exclusions may bias the cohort.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D02E-DCCF-4232-9054-ABCC0F7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Sensitivity is 61.25%, PPV is 13.51%, and empirical 90% range coverage is 86.74%.</a:t>
            </a:r>
          </a:p>
        </p:txBody>
      </p:sp>
    </p:spTree>
    <p:extLst>
      <p:ext uri="{BB962C8B-B14F-4D97-AF65-F5344CB8AC3E}">
        <p14:creationId xmlns:p14="http://schemas.microsoft.com/office/powerpoint/2010/main" val="5142815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B4591-D964-4892-AF78-E4278E67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Decision value does not beat cuff overall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BC77B-17F5-400A-B977-29D2E43E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Independent authored holdout: 192 cases across eight regimes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D8C38-158F-42B7-8F08-C67877EE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13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04B468A-6FD2-44DB-90FB-06D199D7C945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704f85f3d84ef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C4B14-5902-498D-ACA9-C86B20D8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Decision value minus cuff: +0.01975, paired seed interval [-0.00981, 0.05996].</a:t>
            </a:r>
          </a:p>
        </p:txBody>
      </p:sp>
    </p:spTree>
    <p:extLst>
      <p:ext uri="{BB962C8B-B14F-4D97-AF65-F5344CB8AC3E}">
        <p14:creationId xmlns:p14="http://schemas.microsoft.com/office/powerpoint/2010/main" val="1614590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AE383-42C4-4364-926E-60926A2D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Failure states remain part of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F8C65-C9DF-4737-B2E7-BF198157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 clear demonstration includes the cases where the model should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C2A75-2102-4F76-8D2D-1B2C44AB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AF343-F29E-454C-B27C-957B195E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Current low BP, stale readings, completion and contradiction withhold scenario authority.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0B7D1-AD20-4E9A-9895-67E1F36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Failures and artifacts remain visible. Equipment constraints apply on the server.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F9510-6871-477D-B26C-06ACE61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Network errors disable mutations and offer retry. Reports preserve evidence through corrections.</a:t>
            </a:r>
          </a:p>
        </p:txBody>
      </p:sp>
    </p:spTree>
    <p:extLst>
      <p:ext uri="{BB962C8B-B14F-4D97-AF65-F5344CB8AC3E}">
        <p14:creationId xmlns:p14="http://schemas.microsoft.com/office/powerpoint/2010/main" val="6884195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FB023-F67F-4986-B9CA-2A4F18DA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Longitudinal and interoperability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EC5CA-554E-4EC2-B0A4-82D7307C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Both extensions expose their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8432A-1B82-498A-B33F-9C6D37B9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F3A5C-0C69-41CA-B99E-BF42F05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Conditional fluid transport spans future sessions with authored intake/output and conservation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88C47-AA9E-488B-92FC-694E411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 synthetic FHIR R4 collection exports Patient, Device and measured BP Observation resources.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EE7F4-06F9-4E7B-87E4-F18A762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Prospective physiology, ABDM profile conformance and authorized clinical integration remain open gates.</a:t>
            </a:r>
          </a:p>
        </p:txBody>
      </p:sp>
    </p:spTree>
    <p:extLst>
      <p:ext uri="{BB962C8B-B14F-4D97-AF65-F5344CB8AC3E}">
        <p14:creationId xmlns:p14="http://schemas.microsoft.com/office/powerpoint/2010/main" val="159397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2FE8D-C748-4F00-A83C-5AD9C7F0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next evidence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7C5A8-1C75-4BD8-BA72-C3C247A2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 research prototype becomes credible through independent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1ABF1-36B5-4215-BFB0-A403AA7C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8BA41-4EEA-4537-B41B-68AEBC17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Confirm source clock semantics and reproduce the audited cohort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F5DCA-59E8-4F91-8F75-01F045DC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Conduct an approved expert walkthrough and paired physiological silent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BEE03-8130-4281-974F-412A99AA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Evaluate external calibration and workload before any prospective impact or treatment claim.</a:t>
            </a:r>
          </a:p>
        </p:txBody>
      </p:sp>
    </p:spTree>
    <p:extLst>
      <p:ext uri="{BB962C8B-B14F-4D97-AF65-F5344CB8AC3E}">
        <p14:creationId xmlns:p14="http://schemas.microsoft.com/office/powerpoint/2010/main" val="1399141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2026-10-17T18:50:14.3630000Z</dcterms:created>
  <dcterms:modified xsi:type="dcterms:W3CDTF">2026-10-17T18:50:14.3630000Z</dcterms:modified>
</coreProperties>
</file>