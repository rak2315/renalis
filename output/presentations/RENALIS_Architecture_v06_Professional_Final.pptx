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271c6e9c2b4e22" /><Relationship Type="http://schemas.openxmlformats.org/officeDocument/2006/relationships/extended-properties" Target="/docProps/app.xml" Id="R5d082d6234514504" /><Relationship Type="http://schemas.openxmlformats.org/officeDocument/2006/relationships/officeDocument" Target="/ppt/presentation.xml" Id="Rbefe2a85c52f4e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037c48fb94419"/>
  </p:sldMasterIdLst>
  <p:notesMasterIdLst>
    <p:notesMasterId xmlns:r="http://schemas.openxmlformats.org/officeDocument/2006/relationships" r:id="Rc4d3f1306ad840fc"/>
  </p:notesMasterIdLst>
  <p:sldIdLst>
    <p:sldId xmlns:r="http://schemas.openxmlformats.org/officeDocument/2006/relationships" id="256" r:id="R27c63c9d6f034e36"/>
    <p:sldId xmlns:r="http://schemas.openxmlformats.org/officeDocument/2006/relationships" id="257" r:id="R56439b5616244573"/>
    <p:sldId xmlns:r="http://schemas.openxmlformats.org/officeDocument/2006/relationships" id="258" r:id="Rd4f768ab964d4786"/>
    <p:sldId xmlns:r="http://schemas.openxmlformats.org/officeDocument/2006/relationships" id="259" r:id="R5d1e7c6c751f448d"/>
    <p:sldId xmlns:r="http://schemas.openxmlformats.org/officeDocument/2006/relationships" id="260" r:id="R6d9308e0bbf74d88"/>
    <p:sldId xmlns:r="http://schemas.openxmlformats.org/officeDocument/2006/relationships" id="261" r:id="R598f61824279440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76ee466874564" /><Relationship Type="http://schemas.openxmlformats.org/officeDocument/2006/relationships/slideMaster" Target="/ppt/slideMasters/slideMaster1.xml" Id="R60e037c48fb94419" /><Relationship Type="http://schemas.openxmlformats.org/officeDocument/2006/relationships/notesMaster" Target="/ppt/notesMasters/notesMaster1.xml" Id="Rc4d3f1306ad840fc" /><Relationship Type="http://schemas.openxmlformats.org/officeDocument/2006/relationships/presProps" Target="/ppt/presProps.xml" Id="R730f4a918e6641ff" /><Relationship Type="http://schemas.openxmlformats.org/officeDocument/2006/relationships/tableStyles" Target="/ppt/tableStyles.xml" Id="R9abb3e8469f14c5a" /><Relationship Type="http://schemas.openxmlformats.org/officeDocument/2006/relationships/slide" Target="/ppt/slides/slide1.xml" Id="R27c63c9d6f034e36" /><Relationship Type="http://schemas.openxmlformats.org/officeDocument/2006/relationships/slide" Target="/ppt/slides/slide2.xml" Id="R56439b5616244573" /><Relationship Type="http://schemas.openxmlformats.org/officeDocument/2006/relationships/slide" Target="/ppt/slides/slide3.xml" Id="Rd4f768ab964d4786" /><Relationship Type="http://schemas.openxmlformats.org/officeDocument/2006/relationships/slide" Target="/ppt/slides/slide4.xml" Id="R5d1e7c6c751f448d" /><Relationship Type="http://schemas.openxmlformats.org/officeDocument/2006/relationships/slide" Target="/ppt/slides/slide5.xml" Id="R6d9308e0bbf74d88" /><Relationship Type="http://schemas.openxmlformats.org/officeDocument/2006/relationships/slide" Target="/ppt/slides/slide6.xml" Id="R598f6182427944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3200099fe49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445e24bc7c4f89" /><Relationship Type="http://schemas.openxmlformats.org/officeDocument/2006/relationships/notesMaster" Target="/ppt/notesMasters/notesMaster1.xml" Id="Ra6de414b74e341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59c8ff41114a42" /><Relationship Type="http://schemas.openxmlformats.org/officeDocument/2006/relationships/notesMaster" Target="/ppt/notesMasters/notesMaster1.xml" Id="R4e0ccde361734e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4a1ebb777b48f5" /><Relationship Type="http://schemas.openxmlformats.org/officeDocument/2006/relationships/notesMaster" Target="/ppt/notesMasters/notesMaster1.xml" Id="R5af6c20f659e4d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e70c93b30647bc" /><Relationship Type="http://schemas.openxmlformats.org/officeDocument/2006/relationships/notesMaster" Target="/ppt/notesMasters/notesMaster1.xml" Id="R250deed6750d4d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0181c1cd0f4a43" /><Relationship Type="http://schemas.openxmlformats.org/officeDocument/2006/relationships/notesMaster" Target="/ppt/notesMasters/notesMaster1.xml" Id="Re5dc99e5977743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e165b0be247b4" /><Relationship Type="http://schemas.openxmlformats.org/officeDocument/2006/relationships/notesMaster" Target="/ppt/notesMasters/notesMaster1.xml" Id="Rd49c4dd1d51e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implementation. Sources: backend/app.py PROJECT_DOCUMENTS, DB schema and endpoints; backend/model.py, history.py, mechanisms.py, discrimination.py, insights.py; src/api.ts; vite.config.ts. API functions run in one Python process, not separate microservices. SQLite is a local database. No NGINX, PostgreSQL, container orchestration, cloud deployment, authentication or live hospital integration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modules: backend/history.py learns preceding-session prior; model.py performs replay state estimation and forecast; mechanisms.py defines four families, assimilation, observation equations, projections and action loss; discrimination.py selects the next discriminator; insights.py summarizes predictions. Evidence availability and correction rules are implemented in app.py. The diagram shows responsibilities inside one service, not independent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backend/app.py POST /api/patients/{pid}/investigation and /measurements; backend/measurement_fixtures.py; backend/discrimination.py. Released evidence is gated by available_minute, observed_minute and quality. Failures are retained as acquisition records. Fixture output never enters the planner. The final recomputation occurs on the subsequent investigation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demonstration snapshots: artifacts/submission-v05/film-data.json, before, afterCO and afterRBV. Implementation: backend/discrimination.py. Values are authored conditional model quantities, not diagnostic probabilities or validated device statistics. Pair information ranks feasible observations; action value is a separate objective. Independent sequential-policy validation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backend/app.py CREATE TABLE and correction/save endpoints. Links are logical application relationships, not a claim of database-enforced foreign keys. Saved lab_runs stores result JSON and revision. Corrections use supersedes and correction_reason; archived rows and previous immutable results remain distinguishable.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sources: docs/observed-v04.json, scripts/evaluate_observed_v04.py, HEMOBP v3 DOI10.6084/m9.figshare.6260654.v3. Empirical8h cross-table shift requires confirmation. Independent study: docs/policy-validation-v04.json,192 cases,768records, one acquisition per policy. Current sequential discriminator is not validated by that earlier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9145a643c4a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30f9cb9e940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a44a161304c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0b9fb957144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a90028d2940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03f83279e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E349F-E3A9-4E32-B1B8-88C918D65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D54B22-3E9E-46CF-907E-F7E0A68D2B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0AB4CB-2D5F-4779-AA81-C65C4AD8D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D7532E-16B0-4112-B988-C35FF8CE6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2599C-D61A-4BF7-ACD7-259AE3F9E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DC4317-AF06-4BA0-A164-B9BCD6916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555E24-9E75-4B76-9BF4-BABE695B8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36D190-80D5-4F29-AE20-1B42C5DB34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690971-C4A3-44E3-8E64-200A20CDB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5E0D3D-73EE-4BB4-B3F1-08063EDEC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3687f4c22d4a45" /><Relationship Type="http://schemas.openxmlformats.org/officeDocument/2006/relationships/slideLayout" Target="/ppt/slideLayouts/slideLayout1.xml" Id="Rd841a4383bce4139" /><Relationship Type="http://schemas.openxmlformats.org/officeDocument/2006/relationships/slideLayout" Target="/ppt/slideLayouts/slideLayout2.xml" Id="Rbf27b3a9601e4df4" /><Relationship Type="http://schemas.openxmlformats.org/officeDocument/2006/relationships/slideLayout" Target="/ppt/slideLayouts/slideLayout3.xml" Id="R7d70cba708f348b4" /><Relationship Type="http://schemas.openxmlformats.org/officeDocument/2006/relationships/slideLayout" Target="/ppt/slideLayouts/slideLayout4.xml" Id="R0e05fbef265b4423" /><Relationship Type="http://schemas.openxmlformats.org/officeDocument/2006/relationships/slideLayout" Target="/ppt/slideLayouts/slideLayout5.xml" Id="Rf6bef0f454ff435f" /><Relationship Type="http://schemas.openxmlformats.org/officeDocument/2006/relationships/slideLayout" Target="/ppt/slideLayouts/slideLayout6.xml" Id="Reef18a41589f4a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1a4383bce4139"/>
    <p:sldLayoutId xmlns:r="http://schemas.openxmlformats.org/officeDocument/2006/relationships" id="2147483650" r:id="Rbf27b3a9601e4df4"/>
    <p:sldLayoutId xmlns:r="http://schemas.openxmlformats.org/officeDocument/2006/relationships" id="2147483651" r:id="R7d70cba708f348b4"/>
    <p:sldLayoutId xmlns:r="http://schemas.openxmlformats.org/officeDocument/2006/relationships" id="2147483652" r:id="R0e05fbef265b4423"/>
    <p:sldLayoutId xmlns:r="http://schemas.openxmlformats.org/officeDocument/2006/relationships" id="2147483653" r:id="Rf6bef0f454ff435f"/>
    <p:sldLayoutId xmlns:r="http://schemas.openxmlformats.org/officeDocument/2006/relationships" id="2147483654" r:id="Reef18a41589f4a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ee3716aa94c2d" /><Relationship Type="http://schemas.openxmlformats.org/officeDocument/2006/relationships/image" Target="/ppt/media/image.png" Id="Ra370297f89f1482b" /><Relationship Type="http://schemas.openxmlformats.org/officeDocument/2006/relationships/image" Target="/ppt/media/image2.png" Id="R89d7fe62cc4c4c51" /><Relationship Type="http://schemas.openxmlformats.org/officeDocument/2006/relationships/image" Target="/ppt/media/image3.png" Id="R95ab8ea2dec84f1d" /><Relationship Type="http://schemas.openxmlformats.org/officeDocument/2006/relationships/image" Target="/ppt/media/image4.png" Id="Rcf2094155fbe4b2b" /><Relationship Type="http://schemas.openxmlformats.org/officeDocument/2006/relationships/image" Target="/ppt/media/image5.png" Id="R2e162cd93bba487f" /><Relationship Type="http://schemas.openxmlformats.org/officeDocument/2006/relationships/notesSlide" Target="/ppt/notesSlides/notesSlide1.xml" Id="Rff2a2342d60442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ecb6e57db43f4" /><Relationship Type="http://schemas.openxmlformats.org/officeDocument/2006/relationships/image" Target="/ppt/media/image6.png" Id="R18b07253753547a8" /><Relationship Type="http://schemas.openxmlformats.org/officeDocument/2006/relationships/image" Target="/ppt/media/image7.png" Id="Rfb784f495aee4d2f" /><Relationship Type="http://schemas.openxmlformats.org/officeDocument/2006/relationships/image" Target="/ppt/media/image8.png" Id="R8a1e120fcde54709" /><Relationship Type="http://schemas.openxmlformats.org/officeDocument/2006/relationships/image" Target="/ppt/media/image9.png" Id="Rb96e31a98e604120" /><Relationship Type="http://schemas.openxmlformats.org/officeDocument/2006/relationships/image" Target="/ppt/media/image10.png" Id="Rf6d9c87a5e7448aa" /><Relationship Type="http://schemas.openxmlformats.org/officeDocument/2006/relationships/image" Target="/ppt/media/image11.png" Id="R8837b93c1b4c4088" /><Relationship Type="http://schemas.openxmlformats.org/officeDocument/2006/relationships/notesSlide" Target="/ppt/notesSlides/notesSlide2.xml" Id="R5c334f5754c849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3508c9f0b4627" /><Relationship Type="http://schemas.openxmlformats.org/officeDocument/2006/relationships/image" Target="/ppt/media/image12.png" Id="Raa8b470c8c7941f1" /><Relationship Type="http://schemas.openxmlformats.org/officeDocument/2006/relationships/image" Target="/ppt/media/image13.png" Id="Rd342f9368a7446ea" /><Relationship Type="http://schemas.openxmlformats.org/officeDocument/2006/relationships/image" Target="/ppt/media/image14.png" Id="Rbddea497b401422d" /><Relationship Type="http://schemas.openxmlformats.org/officeDocument/2006/relationships/image" Target="/ppt/media/image15.png" Id="Re562c30f349040cd" /><Relationship Type="http://schemas.openxmlformats.org/officeDocument/2006/relationships/image" Target="/ppt/media/image16.png" Id="R5c2410cae7c94220" /><Relationship Type="http://schemas.openxmlformats.org/officeDocument/2006/relationships/notesSlide" Target="/ppt/notesSlides/notesSlide3.xml" Id="R9c3d0b3d08b740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63f83e1944d97" /><Relationship Type="http://schemas.openxmlformats.org/officeDocument/2006/relationships/image" Target="/ppt/media/image17.png" Id="R6910a8538c9b4c6c" /><Relationship Type="http://schemas.openxmlformats.org/officeDocument/2006/relationships/image" Target="/ppt/media/image18.png" Id="R6f995de43e7442aa" /><Relationship Type="http://schemas.openxmlformats.org/officeDocument/2006/relationships/image" Target="/ppt/media/image19.png" Id="Rc56536b1e91a4b63" /><Relationship Type="http://schemas.openxmlformats.org/officeDocument/2006/relationships/image" Target="/ppt/media/image20.png" Id="R7b0e61680beb4b30" /><Relationship Type="http://schemas.openxmlformats.org/officeDocument/2006/relationships/image" Target="/ppt/media/image21.png" Id="R6d89792b23504439" /><Relationship Type="http://schemas.openxmlformats.org/officeDocument/2006/relationships/image" Target="/ppt/media/image22.png" Id="R822e56d12e274102" /><Relationship Type="http://schemas.openxmlformats.org/officeDocument/2006/relationships/notesSlide" Target="/ppt/notesSlides/notesSlide4.xml" Id="Rf5c3631b9b614e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7846e48144d17" /><Relationship Type="http://schemas.openxmlformats.org/officeDocument/2006/relationships/image" Target="/ppt/media/image23.png" Id="R9b11e770fd7a492b" /><Relationship Type="http://schemas.openxmlformats.org/officeDocument/2006/relationships/image" Target="/ppt/media/image24.png" Id="Re83575a72d674fdc" /><Relationship Type="http://schemas.openxmlformats.org/officeDocument/2006/relationships/image" Target="/ppt/media/image25.png" Id="Rfc219a20b54a45ee" /><Relationship Type="http://schemas.openxmlformats.org/officeDocument/2006/relationships/image" Target="/ppt/media/image26.png" Id="R7a6c866974484c3d" /><Relationship Type="http://schemas.openxmlformats.org/officeDocument/2006/relationships/image" Target="/ppt/media/image27.png" Id="R2b01369ec1ed4017" /><Relationship Type="http://schemas.openxmlformats.org/officeDocument/2006/relationships/image" Target="/ppt/media/image28.png" Id="Ra11a946bf3fe4e93" /><Relationship Type="http://schemas.openxmlformats.org/officeDocument/2006/relationships/notesSlide" Target="/ppt/notesSlides/notesSlide5.xml" Id="Ra7db5d767ebd45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b695733004dd4" /><Relationship Type="http://schemas.openxmlformats.org/officeDocument/2006/relationships/image" Target="/ppt/media/image29.png" Id="Rb2f20dfae6094e9a" /><Relationship Type="http://schemas.openxmlformats.org/officeDocument/2006/relationships/image" Target="/ppt/media/image30.png" Id="R578e7d4591ad4eec" /><Relationship Type="http://schemas.openxmlformats.org/officeDocument/2006/relationships/image" Target="/ppt/media/image31.png" Id="R684222e7e6744ee5" /><Relationship Type="http://schemas.openxmlformats.org/officeDocument/2006/relationships/image" Target="/ppt/media/image32.png" Id="R5c5edcd6b8724b6e" /><Relationship Type="http://schemas.openxmlformats.org/officeDocument/2006/relationships/image" Target="/ppt/media/image33.png" Id="R2ddf1c4560b94185" /><Relationship Type="http://schemas.openxmlformats.org/officeDocument/2006/relationships/notesSlide" Target="/ppt/notesSlides/notesSlide6.xml" Id="R571b154a3c99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5408F-EF24-4A57-A465-816EBD5AF749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4500" y="3929063"/>
            <a:ext cx="1047750" cy="14239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5D26CE-0A23-4EF3-B4A2-7D0B4D99BC3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9334500" y="3286125"/>
            <a:ext cx="1047750" cy="64293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9BDE1-0861-4D6F-8EB5-EBBBAD6D2E7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429250" y="3929063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70BC4-EF87-4233-BB3D-72272E9E493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52675" y="3929063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sp>
        <p:nvSpPr>
          <p:cNvPr id="41" name="System containers">
            <a:extLst xmlns:a="http://schemas.openxmlformats.org/drawingml/2006/main">
              <a:ext uri="{FF2B5EF4-FFF2-40B4-BE49-F238E27FC236}">
                <a16:creationId xmlns:a16="http://schemas.microsoft.com/office/drawing/2014/main" id="{7B6CBC9C-9953-4DEF-8009-3591419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System containers</a:t>
            </a:r>
          </a:p>
        </p:txBody>
      </p:sp>
      <p:sp>
        <p:nvSpPr>
          <p:cNvPr id="2" name="Current local implementation. Browser requests stay separate">
            <a:extLst xmlns:a="http://schemas.openxmlformats.org/drawingml/2006/main">
              <a:ext uri="{FF2B5EF4-FFF2-40B4-BE49-F238E27FC236}">
                <a16:creationId xmlns:a16="http://schemas.microsoft.com/office/drawing/2014/main" id="{F48B5FC5-96C0-46A0-A27F-8242ADA0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Current local implementation. Browser requests stay separate from offline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AF8F3-FC9E-4C88-9EA5-0B8D6A0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392865C-4AD3-4A56-A552-1E78004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6314547-0B66-4A6E-92FC-EB9920C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019CD-3974-4861-B58A-68AE6D7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2001500" cy="52387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sp>
        <p:nvSpPr>
          <p:cNvPr id="7" name="LOCAL RESEARCH WORKSPACE">
            <a:extLst xmlns:a="http://schemas.openxmlformats.org/drawingml/2006/main">
              <a:ext uri="{FF2B5EF4-FFF2-40B4-BE49-F238E27FC236}">
                <a16:creationId xmlns:a16="http://schemas.microsoft.com/office/drawing/2014/main" id="{DFC45456-678D-43FA-9BC4-76BA6E99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166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LOCAL RESEARCH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FC5AE-A4F8-41FB-93AA-E71F292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762125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13EE6-0692-47F0-AAD4-2F7FEE933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0297f89f1482b"/>
          <a:stretch xmlns:a="http://schemas.openxmlformats.org/drawingml/2006/main"/>
        </p:blipFill>
        <p:spPr>
          <a:xfrm xmlns:a="http://schemas.openxmlformats.org/drawingml/2006/main">
            <a:off x="762000" y="3286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0" name="User">
            <a:extLst xmlns:a="http://schemas.openxmlformats.org/drawingml/2006/main">
              <a:ext uri="{FF2B5EF4-FFF2-40B4-BE49-F238E27FC236}">
                <a16:creationId xmlns:a16="http://schemas.microsoft.com/office/drawing/2014/main" id="{1A7996E2-4AEA-4BC6-9746-32CF24D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67075"/>
            <a:ext cx="942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User</a:t>
            </a:r>
          </a:p>
        </p:txBody>
      </p:sp>
      <p:sp>
        <p:nvSpPr>
          <p:cNvPr id="11" name="Research review&#10;Acquire + save">
            <a:extLst xmlns:a="http://schemas.openxmlformats.org/drawingml/2006/main">
              <a:ext uri="{FF2B5EF4-FFF2-40B4-BE49-F238E27FC236}">
                <a16:creationId xmlns:a16="http://schemas.microsoft.com/office/drawing/2014/main" id="{BFBFF9E8-A31C-49BA-B608-93E25677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419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Research review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Acquire + save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A3840-12D0-470A-A4DF-F4D86BF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5717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872FE-F5A6-4ACA-A742-BC14B62262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7fe62cc4c4c51"/>
          <a:stretch xmlns:a="http://schemas.openxmlformats.org/drawingml/2006/main"/>
        </p:blipFill>
        <p:spPr>
          <a:xfrm xmlns:a="http://schemas.openxmlformats.org/drawingml/2006/main">
            <a:off x="3028950" y="3286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4" name="React workspace">
            <a:extLst xmlns:a="http://schemas.openxmlformats.org/drawingml/2006/main">
              <a:ext uri="{FF2B5EF4-FFF2-40B4-BE49-F238E27FC236}">
                <a16:creationId xmlns:a16="http://schemas.microsoft.com/office/drawing/2014/main" id="{67021EE8-AA40-4C5B-88BF-4AA8EE4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6707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React workspace</a:t>
            </a:r>
          </a:p>
        </p:txBody>
      </p:sp>
      <p:sp>
        <p:nvSpPr>
          <p:cNvPr id="15" name="TypeScript + Vite&#10;Browser :5173">
            <a:extLst xmlns:a="http://schemas.openxmlformats.org/drawingml/2006/main">
              <a:ext uri="{FF2B5EF4-FFF2-40B4-BE49-F238E27FC236}">
                <a16:creationId xmlns:a16="http://schemas.microsoft.com/office/drawing/2014/main" id="{5F947472-765D-4578-96C3-A81EDF2F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67150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TypeScript + Vite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Browser :5173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87A11-79B0-456A-BCDA-59B1A5EA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2809875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D5046-5BED-4CE3-8007-0AE93E7978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b8ea2dec84f1d"/>
          <a:stretch xmlns:a="http://schemas.openxmlformats.org/drawingml/2006/main"/>
        </p:blipFill>
        <p:spPr>
          <a:xfrm xmlns:a="http://schemas.openxmlformats.org/drawingml/2006/main">
            <a:off x="6696075" y="3286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8" name="FastAPI service">
            <a:extLst xmlns:a="http://schemas.openxmlformats.org/drawingml/2006/main">
              <a:ext uri="{FF2B5EF4-FFF2-40B4-BE49-F238E27FC236}">
                <a16:creationId xmlns:a16="http://schemas.microsoft.com/office/drawing/2014/main" id="{BDC5FF9C-0C6F-4D2F-AF67-9EF12CD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670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FastAPI service</a:t>
            </a:r>
          </a:p>
        </p:txBody>
      </p:sp>
      <p:sp>
        <p:nvSpPr>
          <p:cNvPr id="19" name="Python + NumPy&#10;HTTP JSON :8000">
            <a:extLst xmlns:a="http://schemas.openxmlformats.org/drawingml/2006/main">
              <a:ext uri="{FF2B5EF4-FFF2-40B4-BE49-F238E27FC236}">
                <a16:creationId xmlns:a16="http://schemas.microsoft.com/office/drawing/2014/main" id="{9CC0A028-930D-4415-BF26-90D49B3B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67150"/>
            <a:ext cx="2466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Python + NumPy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HTTP JSON :8000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93703-77D7-4DC4-9C51-87F34BCC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24125"/>
            <a:ext cx="38576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AB242-0188-4985-9B73-97EA4500E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094155fbe4b2b"/>
          <a:stretch xmlns:a="http://schemas.openxmlformats.org/drawingml/2006/main"/>
        </p:blipFill>
        <p:spPr>
          <a:xfrm xmlns:a="http://schemas.openxmlformats.org/drawingml/2006/main">
            <a:off x="10553700" y="27146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2" name="Twin + planner">
            <a:extLst xmlns:a="http://schemas.openxmlformats.org/drawingml/2006/main">
              <a:ext uri="{FF2B5EF4-FFF2-40B4-BE49-F238E27FC236}">
                <a16:creationId xmlns:a16="http://schemas.microsoft.com/office/drawing/2014/main" id="{AA9D032F-34E6-47DD-859B-E639C5D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95575"/>
            <a:ext cx="3038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Twin + planner</a:t>
            </a:r>
          </a:p>
        </p:txBody>
      </p:sp>
      <p:sp>
        <p:nvSpPr>
          <p:cNvPr id="23" name="History, state, hypotheses&#10;Information + action loss">
            <a:extLst xmlns:a="http://schemas.openxmlformats.org/drawingml/2006/main">
              <a:ext uri="{FF2B5EF4-FFF2-40B4-BE49-F238E27FC236}">
                <a16:creationId xmlns:a16="http://schemas.microsoft.com/office/drawing/2014/main" id="{48888FD3-FA61-412D-A74A-EE3D34C1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95650"/>
            <a:ext cx="3514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History, state, hypotheses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Information + action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61262-C66C-4213-8534-A09117A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91050"/>
            <a:ext cx="38576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AF8EE-9D0B-4906-9ADA-791E1B9E6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62cd93bba487f"/>
          <a:stretch xmlns:a="http://schemas.openxmlformats.org/drawingml/2006/main"/>
        </p:blipFill>
        <p:spPr>
          <a:xfrm xmlns:a="http://schemas.openxmlformats.org/drawingml/2006/main">
            <a:off x="10553700" y="4781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6" name="SQLite evidence store">
            <a:extLst xmlns:a="http://schemas.openxmlformats.org/drawingml/2006/main">
              <a:ext uri="{FF2B5EF4-FFF2-40B4-BE49-F238E27FC236}">
                <a16:creationId xmlns:a16="http://schemas.microsoft.com/office/drawing/2014/main" id="{56319C9D-0158-4F62-8771-21B39EE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0"/>
            <a:ext cx="3038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SQLite evidence store</a:t>
            </a:r>
          </a:p>
        </p:txBody>
      </p:sp>
      <p:sp>
        <p:nvSpPr>
          <p:cNvPr id="27" name="Requests, readings, corrections&#10;Saved experiment revisions">
            <a:extLst xmlns:a="http://schemas.openxmlformats.org/drawingml/2006/main">
              <a:ext uri="{FF2B5EF4-FFF2-40B4-BE49-F238E27FC236}">
                <a16:creationId xmlns:a16="http://schemas.microsoft.com/office/drawing/2014/main" id="{1C84CDC4-30DC-4B9C-91DA-EA92E819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62575"/>
            <a:ext cx="3514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Requests, readings, corrections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Saved experiment revisions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844D9-83F4-40F0-88FC-F9481EB9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956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HTTP&#10;JSON">
            <a:extLst xmlns:a="http://schemas.openxmlformats.org/drawingml/2006/main">
              <a:ext uri="{FF2B5EF4-FFF2-40B4-BE49-F238E27FC236}">
                <a16:creationId xmlns:a16="http://schemas.microsoft.com/office/drawing/2014/main" id="{1E57C416-D415-42BA-B88D-8CFD23E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HTTP</a:t>
            </a:r>
          </a:p>
          <a:p xmlns:a="http://schemas.openxmlformats.org/drawingml/2006/main">
            <a: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JSON</a:t>
            </a:r>
          </a:p>
        </p:txBody>
      </p:sp>
      <p:sp>
        <p:nvSpPr>
          <p:cNvPr id="34" name="Function calls">
            <a:extLst xmlns:a="http://schemas.openxmlformats.org/drawingml/2006/main">
              <a:ext uri="{FF2B5EF4-FFF2-40B4-BE49-F238E27FC236}">
                <a16:creationId xmlns:a16="http://schemas.microsoft.com/office/drawing/2014/main" id="{88241E76-29CF-4BB4-9C5F-29511369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7172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Function calls</a:t>
            </a:r>
          </a:p>
        </p:txBody>
      </p:sp>
      <p:sp>
        <p:nvSpPr>
          <p:cNvPr id="35" name="Transactions">
            <a:extLst xmlns:a="http://schemas.openxmlformats.org/drawingml/2006/main">
              <a:ext uri="{FF2B5EF4-FFF2-40B4-BE49-F238E27FC236}">
                <a16:creationId xmlns:a16="http://schemas.microsoft.com/office/drawing/2014/main" id="{3BB97295-785C-4BA7-83ED-79CF1D3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67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Transactions</a:t>
            </a:r>
          </a:p>
        </p:txBody>
      </p:sp>
      <p:sp>
        <p:nvSpPr>
          <p:cNvPr id="36" name="Synthetic inputs">
            <a:extLst xmlns:a="http://schemas.openxmlformats.org/drawingml/2006/main">
              <a:ext uri="{FF2B5EF4-FFF2-40B4-BE49-F238E27FC236}">
                <a16:creationId xmlns:a16="http://schemas.microsoft.com/office/drawing/2014/main" id="{0055EECB-F7F3-4D74-81BC-28128ABA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768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Synthetic inputs</a:t>
            </a:r>
          </a:p>
        </p:txBody>
      </p:sp>
      <p:sp>
        <p:nvSpPr>
          <p:cNvPr id="37" name="Authored BP/device replay&#10;Six preceding sessions&#10;Explicit ac">
            <a:extLst xmlns:a="http://schemas.openxmlformats.org/drawingml/2006/main">
              <a:ext uri="{FF2B5EF4-FFF2-40B4-BE49-F238E27FC236}">
                <a16:creationId xmlns:a16="http://schemas.microsoft.com/office/drawing/2014/main" id="{FAF956E2-E684-4548-8153-5DF7C95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7690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Authored BP/device replay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Six preceding sessions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Explicit acquisition fixtures</a:t>
            </a:r>
          </a:p>
        </p:txBody>
      </p:sp>
      <p:sp>
        <p:nvSpPr>
          <p:cNvPr id="38" name="Published artifacts">
            <a:extLst xmlns:a="http://schemas.openxmlformats.org/drawingml/2006/main">
              <a:ext uri="{FF2B5EF4-FFF2-40B4-BE49-F238E27FC236}">
                <a16:creationId xmlns:a16="http://schemas.microsoft.com/office/drawing/2014/main" id="{ACBB4BB7-B035-4D3E-AB67-D76C8900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95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Published artifacts</a:t>
            </a:r>
          </a:p>
        </p:txBody>
      </p:sp>
      <p:sp>
        <p:nvSpPr>
          <p:cNvPr id="39" name="Aggregate JSON, PDF/PPTX&#10;Fictional FHIR collection&#10;Versioned">
            <a:extLst xmlns:a="http://schemas.openxmlformats.org/drawingml/2006/main">
              <a:ext uri="{FF2B5EF4-FFF2-40B4-BE49-F238E27FC236}">
                <a16:creationId xmlns:a16="http://schemas.microsoft.com/office/drawing/2014/main" id="{A25F64BB-41C0-4493-91FE-43776795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340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Aggregate JSON, PDF/PPTX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Fictional FHIR collection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Versioned source + model card</a:t>
            </a:r>
          </a:p>
        </p:txBody>
      </p:sp>
      <p:sp>
        <p:nvSpPr>
          <p:cNvPr id="40" name="Observed HEMOBP modeling runs offline and supplies evaluatio">
            <a:extLst xmlns:a="http://schemas.openxmlformats.org/drawingml/2006/main">
              <a:ext uri="{FF2B5EF4-FFF2-40B4-BE49-F238E27FC236}">
                <a16:creationId xmlns:a16="http://schemas.microsoft.com/office/drawing/2014/main" id="{186512CF-A0C3-438B-BC31-8D6AC93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9975"/>
            <a:ext cx="1395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Observed HEMOBP modeling runs offline and supplies evaluation reports, not the synthetic twin state.</a:t>
            </a:r>
          </a:p>
        </p:txBody>
      </p:sp>
    </p:spTree>
    <p:extLst>
      <p:ext uri="{BB962C8B-B14F-4D97-AF65-F5344CB8AC3E}">
        <p14:creationId xmlns:p14="http://schemas.microsoft.com/office/powerpoint/2010/main" val="263368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CC902-5A54-4851-8160-38982CBA248A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109788" y="3286125"/>
            <a:ext cx="2509838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0DE34-54BB-44DD-9121-3DA44D912AA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191250" y="40195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ABFB53-A9E7-4177-AD2C-3A048370AE5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62875" y="3286125"/>
            <a:ext cx="1314450" cy="16097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F1202-9D04-4C78-9129-AC9EA1F5DDE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762875" y="2905125"/>
            <a:ext cx="13144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0DB51-737B-4294-A075-DFDDC181D37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09975" y="3286125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sp>
        <p:nvSpPr>
          <p:cNvPr id="38" name="Inference components">
            <a:extLst xmlns:a="http://schemas.openxmlformats.org/drawingml/2006/main">
              <a:ext uri="{FF2B5EF4-FFF2-40B4-BE49-F238E27FC236}">
                <a16:creationId xmlns:a16="http://schemas.microsoft.com/office/drawing/2014/main" id="{8A770CFF-0221-4B04-8C30-1E818893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Inference components</a:t>
            </a:r>
          </a:p>
        </p:txBody>
      </p:sp>
      <p:sp>
        <p:nvSpPr>
          <p:cNvPr id="2" name="One API process orchestrates distinct model and evidence res">
            <a:extLst xmlns:a="http://schemas.openxmlformats.org/drawingml/2006/main">
              <a:ext uri="{FF2B5EF4-FFF2-40B4-BE49-F238E27FC236}">
                <a16:creationId xmlns:a16="http://schemas.microsoft.com/office/drawing/2014/main" id="{EB255BA7-1DF5-41CB-AE13-BF9A3C2F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One API process orchestrates distinct model and evidence responsibilities.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D5BDE-F685-4EFC-9FB1-3648E4E7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491FC6B-196B-494C-9313-15FCF62A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4F3CAEDE-6531-4C74-8CA2-14B8A57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3B622-3BDE-48E9-A349-9C454EC6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000375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82D27-246C-47A9-A48D-8C0594C7C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07253753547a8"/>
          <a:stretch xmlns:a="http://schemas.openxmlformats.org/drawingml/2006/main"/>
        </p:blipFill>
        <p:spPr>
          <a:xfrm xmlns:a="http://schemas.openxmlformats.org/drawingml/2006/main">
            <a:off x="781050" y="27432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History learner">
            <a:extLst xmlns:a="http://schemas.openxmlformats.org/drawingml/2006/main">
              <a:ext uri="{FF2B5EF4-FFF2-40B4-BE49-F238E27FC236}">
                <a16:creationId xmlns:a16="http://schemas.microsoft.com/office/drawing/2014/main" id="{D2AB3506-21E1-45ED-99BE-0EE1B5D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2181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History learner</a:t>
            </a:r>
          </a:p>
        </p:txBody>
      </p:sp>
      <p:sp>
        <p:nvSpPr>
          <p:cNvPr id="9" name="history.py&#10;Prior + shrinkage + lineage">
            <a:extLst xmlns:a="http://schemas.openxmlformats.org/drawingml/2006/main">
              <a:ext uri="{FF2B5EF4-FFF2-40B4-BE49-F238E27FC236}">
                <a16:creationId xmlns:a16="http://schemas.microsoft.com/office/drawing/2014/main" id="{5DA85EED-353E-4369-9471-7F3A9FA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2657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history.py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Prior + shrinkage + lineage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F8FCE-797C-448E-A316-37B8462F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3143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8AC46-7163-43D3-B201-0707486F7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84f495aee4d2f"/>
          <a:stretch xmlns:a="http://schemas.openxmlformats.org/drawingml/2006/main"/>
        </p:blipFill>
        <p:spPr>
          <a:xfrm xmlns:a="http://schemas.openxmlformats.org/drawingml/2006/main">
            <a:off x="4791075" y="27432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Particle state">
            <a:extLst xmlns:a="http://schemas.openxmlformats.org/drawingml/2006/main">
              <a:ext uri="{FF2B5EF4-FFF2-40B4-BE49-F238E27FC236}">
                <a16:creationId xmlns:a16="http://schemas.microsoft.com/office/drawing/2014/main" id="{A66B5F3C-B21E-4E5F-BF6C-E24A8A72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24150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Particle state</a:t>
            </a:r>
          </a:p>
        </p:txBody>
      </p:sp>
      <p:sp>
        <p:nvSpPr>
          <p:cNvPr id="13" name="model.py / mechanisms.py&#10;Available history only">
            <a:extLst xmlns:a="http://schemas.openxmlformats.org/drawingml/2006/main">
              <a:ext uri="{FF2B5EF4-FFF2-40B4-BE49-F238E27FC236}">
                <a16:creationId xmlns:a16="http://schemas.microsoft.com/office/drawing/2014/main" id="{F37DD4B9-04F1-48EF-9B3D-DBEF45D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24225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model.py / mechanisms.py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Available history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5B7E5-4285-4377-91A5-8E3F60C7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90750"/>
            <a:ext cx="5429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6046E-6555-480A-9AE9-D02E3A8E83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e120fcde54709"/>
          <a:stretch xmlns:a="http://schemas.openxmlformats.org/drawingml/2006/main"/>
        </p:blipFill>
        <p:spPr>
          <a:xfrm xmlns:a="http://schemas.openxmlformats.org/drawingml/2006/main">
            <a:off x="9248775" y="23812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Discriminator">
            <a:extLst xmlns:a="http://schemas.openxmlformats.org/drawingml/2006/main">
              <a:ext uri="{FF2B5EF4-FFF2-40B4-BE49-F238E27FC236}">
                <a16:creationId xmlns:a16="http://schemas.microsoft.com/office/drawing/2014/main" id="{5964D4B7-6F43-4583-9264-25679744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62200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Discriminator</a:t>
            </a:r>
          </a:p>
        </p:txBody>
      </p:sp>
      <p:sp>
        <p:nvSpPr>
          <p:cNvPr id="17" name="discrimination.py&#10;Expected entropy reduction">
            <a:extLst xmlns:a="http://schemas.openxmlformats.org/drawingml/2006/main">
              <a:ext uri="{FF2B5EF4-FFF2-40B4-BE49-F238E27FC236}">
                <a16:creationId xmlns:a16="http://schemas.microsoft.com/office/drawing/2014/main" id="{1DDA6B78-D6F5-42CD-9455-A68EDE96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62275"/>
            <a:ext cx="508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discrimination.py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Expected entropy reduction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FD768-EF87-4ED1-AC5F-0BD6C963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81475"/>
            <a:ext cx="5429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79FD7-4138-4013-8927-86DBF1C327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e31a98e604120"/>
          <a:stretch xmlns:a="http://schemas.openxmlformats.org/drawingml/2006/main"/>
        </p:blipFill>
        <p:spPr>
          <a:xfrm xmlns:a="http://schemas.openxmlformats.org/drawingml/2006/main">
            <a:off x="9248775" y="43719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0" name="Action comparison">
            <a:extLst xmlns:a="http://schemas.openxmlformats.org/drawingml/2006/main">
              <a:ext uri="{FF2B5EF4-FFF2-40B4-BE49-F238E27FC236}">
                <a16:creationId xmlns:a16="http://schemas.microsoft.com/office/drawing/2014/main" id="{102656E0-3087-4EE4-B1D7-4102E30D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52925"/>
            <a:ext cx="461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Action comparison</a:t>
            </a:r>
          </a:p>
        </p:txBody>
      </p:sp>
      <p:sp>
        <p:nvSpPr>
          <p:cNvPr id="21" name="mechanisms.py&#10;Waiting + failure + burden">
            <a:extLst xmlns:a="http://schemas.openxmlformats.org/drawingml/2006/main">
              <a:ext uri="{FF2B5EF4-FFF2-40B4-BE49-F238E27FC236}">
                <a16:creationId xmlns:a16="http://schemas.microsoft.com/office/drawing/2014/main" id="{BAB605BC-CC4E-44A1-B399-75EDD52E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953000"/>
            <a:ext cx="5086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mechanisms.py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Waiting + failure + burden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553FF-1417-4C83-80E1-B7D467F7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34000"/>
            <a:ext cx="3143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B4BAC-0F56-42D6-85E7-964A8458F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9c87a5e7448aa"/>
          <a:stretch xmlns:a="http://schemas.openxmlformats.org/drawingml/2006/main"/>
        </p:blipFill>
        <p:spPr>
          <a:xfrm xmlns:a="http://schemas.openxmlformats.org/drawingml/2006/main">
            <a:off x="4791075" y="55245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" name="Explanation layer">
            <a:extLst xmlns:a="http://schemas.openxmlformats.org/drawingml/2006/main">
              <a:ext uri="{FF2B5EF4-FFF2-40B4-BE49-F238E27FC236}">
                <a16:creationId xmlns:a16="http://schemas.microsoft.com/office/drawing/2014/main" id="{9269AD11-E9C4-4CFF-AAAE-5FEF9BFC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505450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Explanation layer</a:t>
            </a:r>
          </a:p>
        </p:txBody>
      </p:sp>
      <p:sp>
        <p:nvSpPr>
          <p:cNvPr id="25" name="insights.py&#10;Noisy ranges + result previews">
            <a:extLst xmlns:a="http://schemas.openxmlformats.org/drawingml/2006/main">
              <a:ext uri="{FF2B5EF4-FFF2-40B4-BE49-F238E27FC236}">
                <a16:creationId xmlns:a16="http://schemas.microsoft.com/office/drawing/2014/main" id="{A6A5B46C-5EB7-4815-A6B5-86E134F8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105525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insights.py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Noisy ranges + result previews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38F4D-27B4-45C3-A79D-641D7819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0003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38A8A-A8F5-450C-A958-5D96AFA0A4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7b93c1b4c4088"/>
          <a:stretch xmlns:a="http://schemas.openxmlformats.org/drawingml/2006/main"/>
        </p:blipFill>
        <p:spPr>
          <a:xfrm xmlns:a="http://schemas.openxmlformats.org/drawingml/2006/main">
            <a:off x="781050" y="55245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8" name="Released evidence">
            <a:extLst xmlns:a="http://schemas.openxmlformats.org/drawingml/2006/main">
              <a:ext uri="{FF2B5EF4-FFF2-40B4-BE49-F238E27FC236}">
                <a16:creationId xmlns:a16="http://schemas.microsoft.com/office/drawing/2014/main" id="{6A8716B3-959A-4081-8F02-4C6999B5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05450"/>
            <a:ext cx="2181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Released evidence</a:t>
            </a:r>
          </a:p>
        </p:txBody>
      </p:sp>
      <p:sp>
        <p:nvSpPr>
          <p:cNvPr id="29" name="app.py + SQLite&#10;Time, quality and corrections">
            <a:extLst xmlns:a="http://schemas.openxmlformats.org/drawingml/2006/main">
              <a:ext uri="{FF2B5EF4-FFF2-40B4-BE49-F238E27FC236}">
                <a16:creationId xmlns:a16="http://schemas.microsoft.com/office/drawing/2014/main" id="{8FB01749-245D-4270-83E5-C94E5FA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05525"/>
            <a:ext cx="26574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app.py + SQLite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Time, quality and corrections</a:t>
            </a:r>
          </a:p>
        </p:txBody>
      </p:sp>
      <p:sp>
        <p:nvSpPr>
          <p:cNvPr id="35" name="Assimilation">
            <a:extLst xmlns:a="http://schemas.openxmlformats.org/drawingml/2006/main">
              <a:ext uri="{FF2B5EF4-FFF2-40B4-BE49-F238E27FC236}">
                <a16:creationId xmlns:a16="http://schemas.microsoft.com/office/drawing/2014/main" id="{BA9901B0-BB5F-401F-A068-E6834E29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Assimilation</a:t>
            </a:r>
          </a:p>
        </p:txBody>
      </p:sp>
      <p:sp>
        <p:nvSpPr>
          <p:cNvPr id="36" name="Two objectives share the posterior">
            <a:extLst xmlns:a="http://schemas.openxmlformats.org/drawingml/2006/main">
              <a:ext uri="{FF2B5EF4-FFF2-40B4-BE49-F238E27FC236}">
                <a16:creationId xmlns:a16="http://schemas.microsoft.com/office/drawing/2014/main" id="{35632FE5-102B-404B-B799-9182BA5D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134100"/>
            <a:ext cx="528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Two objectives share the posterior</a:t>
            </a:r>
          </a:p>
        </p:txBody>
      </p:sp>
      <p:sp>
        <p:nvSpPr>
          <p:cNvPr id="37" name="Information scores do not substitute for&#10;modeled action-loss">
            <a:extLst xmlns:a="http://schemas.openxmlformats.org/drawingml/2006/main">
              <a:ext uri="{FF2B5EF4-FFF2-40B4-BE49-F238E27FC236}">
                <a16:creationId xmlns:a16="http://schemas.microsoft.com/office/drawing/2014/main" id="{92262ACE-D810-415F-8602-80FC0F8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6294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Information scores do not substitute for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modeled action-loss reduction.</a:t>
            </a:r>
          </a:p>
        </p:txBody>
      </p:sp>
    </p:spTree>
    <p:extLst>
      <p:ext uri="{BB962C8B-B14F-4D97-AF65-F5344CB8AC3E}">
        <p14:creationId xmlns:p14="http://schemas.microsoft.com/office/powerpoint/2010/main" val="608046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Acquisition request sequence">
            <a:extLst xmlns:a="http://schemas.openxmlformats.org/drawingml/2006/main">
              <a:ext uri="{FF2B5EF4-FFF2-40B4-BE49-F238E27FC236}">
                <a16:creationId xmlns:a16="http://schemas.microsoft.com/office/drawing/2014/main" id="{2D69584E-84A5-466C-A7BD-C5561BC9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Acquisition request sequence</a:t>
            </a:r>
          </a:p>
        </p:txBody>
      </p:sp>
      <p:sp>
        <p:nvSpPr>
          <p:cNvPr id="2" name="Planning cannot inspect the fixture result before an explici">
            <a:extLst xmlns:a="http://schemas.openxmlformats.org/drawingml/2006/main">
              <a:ext uri="{FF2B5EF4-FFF2-40B4-BE49-F238E27FC236}">
                <a16:creationId xmlns:a16="http://schemas.microsoft.com/office/drawing/2014/main" id="{9716634E-30E1-4486-98E3-0E53F86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Planning cannot inspect the fixture result before an explicit acquisition.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F38AB-276D-4BEE-A050-1434A374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68F6830-2910-4AAE-9C74-F79CAB6B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275B10E4-85ED-4E21-9774-AE4183DE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9066F-D2B3-4CD9-A77F-15ED408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190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D4EB7-3BB7-4CB6-B8B6-C68A99D52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b470c8c7941f1"/>
          <a:stretch xmlns:a="http://schemas.openxmlformats.org/drawingml/2006/main"/>
        </p:blipFill>
        <p:spPr>
          <a:xfrm xmlns:a="http://schemas.openxmlformats.org/drawingml/2006/main">
            <a:off x="790575" y="2286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Browser">
            <a:extLst xmlns:a="http://schemas.openxmlformats.org/drawingml/2006/main">
              <a:ext uri="{FF2B5EF4-FFF2-40B4-BE49-F238E27FC236}">
                <a16:creationId xmlns:a16="http://schemas.microsoft.com/office/drawing/2014/main" id="{F061EA93-495F-4374-A76C-011FFE0B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66950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Browser</a:t>
            </a:r>
          </a:p>
        </p:txBody>
      </p:sp>
      <p:sp>
        <p:nvSpPr>
          <p:cNvPr id="9" name="React">
            <a:extLst xmlns:a="http://schemas.openxmlformats.org/drawingml/2006/main">
              <a:ext uri="{FF2B5EF4-FFF2-40B4-BE49-F238E27FC236}">
                <a16:creationId xmlns:a16="http://schemas.microsoft.com/office/drawing/2014/main" id="{81FA85E5-139A-4AF2-ADEA-D94FC34E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6702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FE85D-B31C-4377-9700-B1528102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04B6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F50D9-6C91-49E5-A2DE-BB6B481F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190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BEAB1-51E2-44F4-B6D2-3774BC0A21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2f9368a7446ea"/>
          <a:stretch xmlns:a="http://schemas.openxmlformats.org/drawingml/2006/main"/>
        </p:blipFill>
        <p:spPr>
          <a:xfrm xmlns:a="http://schemas.openxmlformats.org/drawingml/2006/main">
            <a:off x="3648075" y="2286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3" name="API">
            <a:extLst xmlns:a="http://schemas.openxmlformats.org/drawingml/2006/main">
              <a:ext uri="{FF2B5EF4-FFF2-40B4-BE49-F238E27FC236}">
                <a16:creationId xmlns:a16="http://schemas.microsoft.com/office/drawing/2014/main" id="{B962CCCB-9CC5-4818-AF99-597922F4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266950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14" name="FastAPI">
            <a:extLst xmlns:a="http://schemas.openxmlformats.org/drawingml/2006/main">
              <a:ext uri="{FF2B5EF4-FFF2-40B4-BE49-F238E27FC236}">
                <a16:creationId xmlns:a16="http://schemas.microsoft.com/office/drawing/2014/main" id="{E205C01A-ED83-47E9-8827-5360BF5F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6702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96788-85CE-4299-BBCE-6B1CCF7D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04B60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4D83B-8E77-4CD3-8E15-51289279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190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70F9B-A1D0-4621-BFE1-A6F07B0FF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ea497b401422d"/>
          <a:stretch xmlns:a="http://schemas.openxmlformats.org/drawingml/2006/main"/>
        </p:blipFill>
        <p:spPr>
          <a:xfrm xmlns:a="http://schemas.openxmlformats.org/drawingml/2006/main">
            <a:off x="6505575" y="2286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8" name="Evidence">
            <a:extLst xmlns:a="http://schemas.openxmlformats.org/drawingml/2006/main">
              <a:ext uri="{FF2B5EF4-FFF2-40B4-BE49-F238E27FC236}">
                <a16:creationId xmlns:a16="http://schemas.microsoft.com/office/drawing/2014/main" id="{777D961D-AB47-486E-98D7-25454F80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66950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Evidence</a:t>
            </a:r>
          </a:p>
        </p:txBody>
      </p:sp>
      <p:sp>
        <p:nvSpPr>
          <p:cNvPr id="19" name="SQLite">
            <a:extLst xmlns:a="http://schemas.openxmlformats.org/drawingml/2006/main">
              <a:ext uri="{FF2B5EF4-FFF2-40B4-BE49-F238E27FC236}">
                <a16:creationId xmlns:a16="http://schemas.microsoft.com/office/drawing/2014/main" id="{25D5D7E1-3689-4A14-B559-89EB093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6702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SQLite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EEBAD-5BB8-41E9-AA3A-CCA90A3D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9925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04B60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1159A-B76D-4C03-9D48-B94115F3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190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3A16C-777A-4E6D-8956-AD3EA9A79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2c30f349040cd"/>
          <a:stretch xmlns:a="http://schemas.openxmlformats.org/drawingml/2006/main"/>
        </p:blipFill>
        <p:spPr>
          <a:xfrm xmlns:a="http://schemas.openxmlformats.org/drawingml/2006/main">
            <a:off x="9363075" y="2286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3" name="Inference">
            <a:extLst xmlns:a="http://schemas.openxmlformats.org/drawingml/2006/main">
              <a:ext uri="{FF2B5EF4-FFF2-40B4-BE49-F238E27FC236}">
                <a16:creationId xmlns:a16="http://schemas.microsoft.com/office/drawing/2014/main" id="{077476B4-DE77-494B-BB7E-D722450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66950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Inference</a:t>
            </a:r>
          </a:p>
        </p:txBody>
      </p:sp>
      <p:sp>
        <p:nvSpPr>
          <p:cNvPr id="24" name="NumPy">
            <a:extLst xmlns:a="http://schemas.openxmlformats.org/drawingml/2006/main">
              <a:ext uri="{FF2B5EF4-FFF2-40B4-BE49-F238E27FC236}">
                <a16:creationId xmlns:a16="http://schemas.microsoft.com/office/drawing/2014/main" id="{DB07515D-834A-4D95-B36B-C3CD0AD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NumPy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75C4F-B6E3-4D30-A1ED-0D82C828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9925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04B60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26810-335C-4162-8DA5-AF33E78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095500"/>
            <a:ext cx="2190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F527A-BD2C-4A56-A772-D4BBE6663D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410cae7c94220"/>
          <a:stretch xmlns:a="http://schemas.openxmlformats.org/drawingml/2006/main"/>
        </p:blipFill>
        <p:spPr>
          <a:xfrm xmlns:a="http://schemas.openxmlformats.org/drawingml/2006/main">
            <a:off x="12220575" y="2286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8" name="Device boundary">
            <a:extLst xmlns:a="http://schemas.openxmlformats.org/drawingml/2006/main">
              <a:ext uri="{FF2B5EF4-FFF2-40B4-BE49-F238E27FC236}">
                <a16:creationId xmlns:a16="http://schemas.microsoft.com/office/drawing/2014/main" id="{85188842-FA18-4DC4-81A3-B561EE69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2266950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Device boundary</a:t>
            </a:r>
          </a:p>
        </p:txBody>
      </p:sp>
      <p:sp>
        <p:nvSpPr>
          <p:cNvPr id="29" name="Synthetic fixture">
            <a:extLst xmlns:a="http://schemas.openxmlformats.org/drawingml/2006/main">
              <a:ext uri="{FF2B5EF4-FFF2-40B4-BE49-F238E27FC236}">
                <a16:creationId xmlns:a16="http://schemas.microsoft.com/office/drawing/2014/main" id="{B543D79D-2D6D-4FCC-8048-8CC78DE2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86702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Synthetic fixture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695C4-047F-48EB-ADCD-FAFEB8C8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09925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04B60"/>
            </a:solidFill>
            <a:prstDash val="dash"/>
          </a:ln>
        </p:spPr>
      </p: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44F7F-B10C-47A7-BC1C-0F4ECCF7CD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34480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sp>
        <p:nvSpPr>
          <p:cNvPr id="32" name="1  POST investigation">
            <a:extLst xmlns:a="http://schemas.openxmlformats.org/drawingml/2006/main">
              <a:ext uri="{FF2B5EF4-FFF2-40B4-BE49-F238E27FC236}">
                <a16:creationId xmlns:a16="http://schemas.microsoft.com/office/drawing/2014/main" id="{11319638-21BF-4819-A100-E03560B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908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1  POST investigation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0243AE-A8B6-4385-AC63-A4B0138FB0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0" y="38481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sp>
        <p:nvSpPr>
          <p:cNvPr id="34" name="2  Read evidence">
            <a:extLst xmlns:a="http://schemas.openxmlformats.org/drawingml/2006/main">
              <a:ext uri="{FF2B5EF4-FFF2-40B4-BE49-F238E27FC236}">
                <a16:creationId xmlns:a16="http://schemas.microsoft.com/office/drawing/2014/main" id="{11693915-393A-4DE8-9F02-071AA5E6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909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2  Read evidence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A6DFE1-7C2F-4DC8-B0D0-3515A9D8FDE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72000" y="42481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sp>
        <p:nvSpPr>
          <p:cNvPr id="36" name="3  Released observations">
            <a:extLst xmlns:a="http://schemas.openxmlformats.org/drawingml/2006/main">
              <a:ext uri="{FF2B5EF4-FFF2-40B4-BE49-F238E27FC236}">
                <a16:creationId xmlns:a16="http://schemas.microsoft.com/office/drawing/2014/main" id="{5708365F-D454-46B8-B60C-61706E2A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909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3  Released observations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F165CD-FD46-4179-944C-0347EBED5B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0" y="4648200"/>
            <a:ext cx="5715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sp>
        <p:nvSpPr>
          <p:cNvPr id="38" name="4  Recompute posterior and next discriminator">
            <a:extLst xmlns:a="http://schemas.openxmlformats.org/drawingml/2006/main">
              <a:ext uri="{FF2B5EF4-FFF2-40B4-BE49-F238E27FC236}">
                <a16:creationId xmlns:a16="http://schemas.microsoft.com/office/drawing/2014/main" id="{31D4A241-D9D0-4C3C-835F-367DB478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91025"/>
            <a:ext cx="557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4  Recompute posterior and next discriminator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AFD4DA-9477-44DD-AA11-F868D328EFF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72000" y="5048250"/>
            <a:ext cx="5715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sp>
        <p:nvSpPr>
          <p:cNvPr id="40" name="5  Recommendation and predicted ranges">
            <a:extLst xmlns:a="http://schemas.openxmlformats.org/drawingml/2006/main">
              <a:ext uri="{FF2B5EF4-FFF2-40B4-BE49-F238E27FC236}">
                <a16:creationId xmlns:a16="http://schemas.microsoft.com/office/drawing/2014/main" id="{9DAC5B35-A556-40EC-861D-1F7596E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91075"/>
            <a:ext cx="557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5  Recommendation and predicted ranges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7DB438-A262-4756-841D-6834828B3A8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714500" y="54483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sp>
        <p:nvSpPr>
          <p:cNvPr id="42" name="6  Investigation response">
            <a:extLst xmlns:a="http://schemas.openxmlformats.org/drawingml/2006/main">
              <a:ext uri="{FF2B5EF4-FFF2-40B4-BE49-F238E27FC236}">
                <a16:creationId xmlns:a16="http://schemas.microsoft.com/office/drawing/2014/main" id="{1486C058-F016-4633-9678-2F13C37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911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6  Investigation response</a:t>
            </a:r>
          </a:p>
        </p:txBody>
      </p: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A86219-1436-42C2-AEC9-926676B48A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58483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sp>
        <p:nvSpPr>
          <p:cNvPr id="44" name="7  POST measurements">
            <a:extLst xmlns:a="http://schemas.openxmlformats.org/drawingml/2006/main">
              <a:ext uri="{FF2B5EF4-FFF2-40B4-BE49-F238E27FC236}">
                <a16:creationId xmlns:a16="http://schemas.microsoft.com/office/drawing/2014/main" id="{064873F2-7EDA-43B5-A7C5-7840537D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911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7  POST measurements</a:t>
            </a:r>
          </a:p>
        </p:txBody>
      </p: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2CE3B4-5C8B-4D0E-AAF8-6225CBBD38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0" y="624840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sp>
        <p:nvSpPr>
          <p:cNvPr id="46" name="8  Acquire selected channel">
            <a:extLst xmlns:a="http://schemas.openxmlformats.org/drawingml/2006/main">
              <a:ext uri="{FF2B5EF4-FFF2-40B4-BE49-F238E27FC236}">
                <a16:creationId xmlns:a16="http://schemas.microsoft.com/office/drawing/2014/main" id="{A5D32A6E-97DE-436A-A9DB-B6E8DB53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99122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8  Acquire selected channel</a:t>
            </a:r>
          </a:p>
        </p:txBody>
      </p: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20D478-D360-4FA1-AD0F-35A294EB84D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572000" y="6648450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sp>
        <p:nvSpPr>
          <p:cNvPr id="48" name="9  Actual value or failure">
            <a:extLst xmlns:a="http://schemas.openxmlformats.org/drawingml/2006/main">
              <a:ext uri="{FF2B5EF4-FFF2-40B4-BE49-F238E27FC236}">
                <a16:creationId xmlns:a16="http://schemas.microsoft.com/office/drawing/2014/main" id="{42BB8016-8646-4D38-9654-9A39F3A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391275"/>
            <a:ext cx="842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9  Actual value or failure</a:t>
            </a:r>
          </a:p>
        </p:txBody>
      </p: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4B6FDD-9FD4-4413-81B5-2FDE25DA2D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72000" y="704850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sp>
        <p:nvSpPr>
          <p:cNvPr id="50" name="10 Append request + reading">
            <a:extLst xmlns:a="http://schemas.openxmlformats.org/drawingml/2006/main">
              <a:ext uri="{FF2B5EF4-FFF2-40B4-BE49-F238E27FC236}">
                <a16:creationId xmlns:a16="http://schemas.microsoft.com/office/drawing/2014/main" id="{0B386019-936A-4A33-9B67-DD52A5D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7913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10 Append request + reading</a:t>
            </a:r>
          </a:p>
        </p:txBody>
      </p:sp>
      <p:sp>
        <p:nvSpPr>
          <p:cNvPr id="51" name="The next investigation reads the appended evidence and recom">
            <a:extLst xmlns:a="http://schemas.openxmlformats.org/drawingml/2006/main">
              <a:ext uri="{FF2B5EF4-FFF2-40B4-BE49-F238E27FC236}">
                <a16:creationId xmlns:a16="http://schemas.microsoft.com/office/drawing/2014/main" id="{3DB32992-051E-4C1A-9242-35F39142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9975"/>
            <a:ext cx="1395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The next investigation reads the appended evidence and recomputes both support and the next question.</a:t>
            </a:r>
          </a:p>
        </p:txBody>
      </p:sp>
    </p:spTree>
    <p:extLst>
      <p:ext uri="{BB962C8B-B14F-4D97-AF65-F5344CB8AC3E}">
        <p14:creationId xmlns:p14="http://schemas.microsoft.com/office/powerpoint/2010/main" val="392449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32C9D2-0609-4203-9F98-74F193C2EED9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3848100" y="62960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412EDB-F02B-422B-9121-7DF022F39EEE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8905875" y="629602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87714-7119-4D76-A99B-8882A134D467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2196763" y="4076700"/>
            <a:ext cx="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0B08C-043A-4460-91BF-2972B2CB385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05875" y="32670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7BFC5-D06F-4B42-A4A1-03680DF28D7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48100" y="326707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sp>
        <p:nvSpPr>
          <p:cNvPr id="37" name="Adaptive measurement planning">
            <a:extLst xmlns:a="http://schemas.openxmlformats.org/drawingml/2006/main">
              <a:ext uri="{FF2B5EF4-FFF2-40B4-BE49-F238E27FC236}">
                <a16:creationId xmlns:a16="http://schemas.microsoft.com/office/drawing/2014/main" id="{84646679-200B-4E6F-85BE-A1F575D5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Adaptive measurement planning</a:t>
            </a:r>
          </a:p>
        </p:txBody>
      </p:sp>
      <p:sp>
        <p:nvSpPr>
          <p:cNvPr id="2" name="Concrete synthetic replay at minute 90. Each acquired result">
            <a:extLst xmlns:a="http://schemas.openxmlformats.org/drawingml/2006/main">
              <a:ext uri="{FF2B5EF4-FFF2-40B4-BE49-F238E27FC236}">
                <a16:creationId xmlns:a16="http://schemas.microsoft.com/office/drawing/2014/main" id="{E712B584-3276-4889-A787-0A80135B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Concrete synthetic replay at minute 90. Each acquired result changes the next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A5CF5-F3DB-4FE5-ADC1-61F4F2BF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D3CE5392-4D67-48A7-8260-CAB967D7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99C63D3B-9A5B-4CD5-8FF7-5976D95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F408B-2A64-4004-8AE2-8FDCF3A2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38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4373D-13F3-46B9-B936-E276A0313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0a8538c9b4c6c"/>
          <a:stretch xmlns:a="http://schemas.openxmlformats.org/drawingml/2006/main"/>
        </p:blipFill>
        <p:spPr>
          <a:xfrm xmlns:a="http://schemas.openxmlformats.org/drawingml/2006/main">
            <a:off x="781050" y="2647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Posterior after CO">
            <a:extLst xmlns:a="http://schemas.openxmlformats.org/drawingml/2006/main">
              <a:ext uri="{FF2B5EF4-FFF2-40B4-BE49-F238E27FC236}">
                <a16:creationId xmlns:a16="http://schemas.microsoft.com/office/drawing/2014/main" id="{DE5EAA33-D743-4F6F-ADA0-F9AD506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Posterior after CO</a:t>
            </a:r>
          </a:p>
        </p:txBody>
      </p:sp>
      <p:sp>
        <p:nvSpPr>
          <p:cNvPr id="9" name="3.74 L/min acquired&#10;Cardiac 51.7% / volume 46.2%">
            <a:extLst xmlns:a="http://schemas.openxmlformats.org/drawingml/2006/main">
              <a:ext uri="{FF2B5EF4-FFF2-40B4-BE49-F238E27FC236}">
                <a16:creationId xmlns:a16="http://schemas.microsoft.com/office/drawing/2014/main" id="{28AD4444-77CC-43C2-A68A-60A32AD4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3.74 L/min acquired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Cardiac 51.7% / volume 46.2%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6943F-C52E-4A81-A9B7-192B077B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4286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3B53C-667D-40CE-87CE-44B95B1D3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95de43e7442aa"/>
          <a:stretch xmlns:a="http://schemas.openxmlformats.org/drawingml/2006/main"/>
        </p:blipFill>
        <p:spPr>
          <a:xfrm xmlns:a="http://schemas.openxmlformats.org/drawingml/2006/main">
            <a:off x="4791075" y="2647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Conditional predictions">
            <a:extLst xmlns:a="http://schemas.openxmlformats.org/drawingml/2006/main">
              <a:ext uri="{FF2B5EF4-FFF2-40B4-BE49-F238E27FC236}">
                <a16:creationId xmlns:a16="http://schemas.microsoft.com/office/drawing/2014/main" id="{82014C21-66F9-40F6-81D6-C044316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28900"/>
            <a:ext cx="346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Conditional predictions</a:t>
            </a:r>
          </a:p>
        </p:txBody>
      </p:sp>
      <p:sp>
        <p:nvSpPr>
          <p:cNvPr id="13" name="RBV median 83.87% vs 87.81%&#10;Sensor noise SD 1.00%">
            <a:extLst xmlns:a="http://schemas.openxmlformats.org/drawingml/2006/main">
              <a:ext uri="{FF2B5EF4-FFF2-40B4-BE49-F238E27FC236}">
                <a16:creationId xmlns:a16="http://schemas.microsoft.com/office/drawing/2014/main" id="{A13F62CD-AE88-4911-A388-9FF23FD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28975"/>
            <a:ext cx="3943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RBV median 83.87% vs 87.81%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Sensor noise SD 1.00%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A336-0209-4910-8CEE-3F9197B5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57450"/>
            <a:ext cx="4619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4FD7F-4775-41CD-BB7F-9D25E7F12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536b1e91a4b63"/>
          <a:stretch xmlns:a="http://schemas.openxmlformats.org/drawingml/2006/main"/>
        </p:blipFill>
        <p:spPr>
          <a:xfrm xmlns:a="http://schemas.openxmlformats.org/drawingml/2006/main">
            <a:off x="10058400" y="2647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Feasible measurement">
            <a:extLst xmlns:a="http://schemas.openxmlformats.org/drawingml/2006/main">
              <a:ext uri="{FF2B5EF4-FFF2-40B4-BE49-F238E27FC236}">
                <a16:creationId xmlns:a16="http://schemas.microsoft.com/office/drawing/2014/main" id="{FDA96EDB-16E2-4CA8-A2BB-C858C968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28900"/>
            <a:ext cx="3800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Feasible measurement</a:t>
            </a:r>
          </a:p>
        </p:txBody>
      </p:sp>
      <p:sp>
        <p:nvSpPr>
          <p:cNvPr id="17" name="Expected pair information&#10;RBV 0.39378 bits">
            <a:extLst xmlns:a="http://schemas.openxmlformats.org/drawingml/2006/main">
              <a:ext uri="{FF2B5EF4-FFF2-40B4-BE49-F238E27FC236}">
                <a16:creationId xmlns:a16="http://schemas.microsoft.com/office/drawing/2014/main" id="{DADA3604-5ECD-4A66-86D5-B53564F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28975"/>
            <a:ext cx="4276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Expected pair information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RBV 0.39378 bits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58B0A-455A-41FB-B1E7-E0478D7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238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05FCA-04FB-41EA-930B-11D5BF41B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e61680beb4b30"/>
          <a:stretch xmlns:a="http://schemas.openxmlformats.org/drawingml/2006/main"/>
        </p:blipFill>
        <p:spPr>
          <a:xfrm xmlns:a="http://schemas.openxmlformats.org/drawingml/2006/main">
            <a:off x="781050" y="5676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0" name="Updated posterior">
            <a:extLst xmlns:a="http://schemas.openxmlformats.org/drawingml/2006/main">
              <a:ext uri="{FF2B5EF4-FFF2-40B4-BE49-F238E27FC236}">
                <a16:creationId xmlns:a16="http://schemas.microsoft.com/office/drawing/2014/main" id="{72DD2824-8E41-4834-B3A0-13EC347D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2419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Updated posterior</a:t>
            </a:r>
          </a:p>
        </p:txBody>
      </p:sp>
      <p:sp>
        <p:nvSpPr>
          <p:cNvPr id="21" name="Volume 66.9% / cardiac 31.8%&#10;Residual ambiguity retained">
            <a:extLst xmlns:a="http://schemas.openxmlformats.org/drawingml/2006/main">
              <a:ext uri="{FF2B5EF4-FFF2-40B4-BE49-F238E27FC236}">
                <a16:creationId xmlns:a16="http://schemas.microsoft.com/office/drawing/2014/main" id="{94C5684A-E485-48A3-867F-18FBF77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57925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Volume 66.9% / cardiac 31.8%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Residual ambiguity retained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C69DC-2DD9-4A4A-BCB3-8888CF3E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86400"/>
            <a:ext cx="4286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2B4DF-6FC8-4F5C-8F2E-54ADB2864D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9792b23504439"/>
          <a:stretch xmlns:a="http://schemas.openxmlformats.org/drawingml/2006/main"/>
        </p:blipFill>
        <p:spPr>
          <a:xfrm xmlns:a="http://schemas.openxmlformats.org/drawingml/2006/main">
            <a:off x="4791075" y="5676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" name="Ledger append">
            <a:extLst xmlns:a="http://schemas.openxmlformats.org/drawingml/2006/main">
              <a:ext uri="{FF2B5EF4-FFF2-40B4-BE49-F238E27FC236}">
                <a16:creationId xmlns:a16="http://schemas.microsoft.com/office/drawing/2014/main" id="{03C9A799-FE20-4800-9BCE-2619C80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57850"/>
            <a:ext cx="346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Ledger append</a:t>
            </a:r>
          </a:p>
        </p:txBody>
      </p:sp>
      <p:sp>
        <p:nvSpPr>
          <p:cNvPr id="25" name="Observed time + release time&#10;Quality, cost and source">
            <a:extLst xmlns:a="http://schemas.openxmlformats.org/drawingml/2006/main">
              <a:ext uri="{FF2B5EF4-FFF2-40B4-BE49-F238E27FC236}">
                <a16:creationId xmlns:a16="http://schemas.microsoft.com/office/drawing/2014/main" id="{F8E8297C-6AA8-41A8-BBA6-4B328559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57925"/>
            <a:ext cx="3943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Observed time + release time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Quality, cost and 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F122E9-D648-4756-BA6D-96FC770B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86400"/>
            <a:ext cx="4619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2AAEEC-99A9-45F0-A4DA-89DC136B51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e56d12e274102"/>
          <a:stretch xmlns:a="http://schemas.openxmlformats.org/drawingml/2006/main"/>
        </p:blipFill>
        <p:spPr>
          <a:xfrm xmlns:a="http://schemas.openxmlformats.org/drawingml/2006/main">
            <a:off x="10058400" y="5676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8" name="Acquire actual RBV">
            <a:extLst xmlns:a="http://schemas.openxmlformats.org/drawingml/2006/main">
              <a:ext uri="{FF2B5EF4-FFF2-40B4-BE49-F238E27FC236}">
                <a16:creationId xmlns:a16="http://schemas.microsoft.com/office/drawing/2014/main" id="{C8E1CC0E-AAC8-4C3A-A3B7-F377C41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657850"/>
            <a:ext cx="3800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Acquire actual RBV</a:t>
            </a:r>
          </a:p>
        </p:txBody>
      </p:sp>
      <p:sp>
        <p:nvSpPr>
          <p:cNvPr id="29" name="Fixture returns 85.0%&#10;Result unknown until requested">
            <a:extLst xmlns:a="http://schemas.openxmlformats.org/drawingml/2006/main">
              <a:ext uri="{FF2B5EF4-FFF2-40B4-BE49-F238E27FC236}">
                <a16:creationId xmlns:a16="http://schemas.microsoft.com/office/drawing/2014/main" id="{3CA5DD2E-16DD-469C-925E-BA849640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257925"/>
            <a:ext cx="42767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Fixture returns 85.0%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Result unknown until requested</a:t>
            </a:r>
          </a:p>
        </p:txBody>
      </p:sp>
      <p:sp>
        <p:nvSpPr>
          <p:cNvPr id="35" name="Equipment, timing, guards, failures and previous acquisition">
            <a:extLst xmlns:a="http://schemas.openxmlformats.org/drawingml/2006/main">
              <a:ext uri="{FF2B5EF4-FFF2-40B4-BE49-F238E27FC236}">
                <a16:creationId xmlns:a16="http://schemas.microsoft.com/office/drawing/2014/main" id="{E6A7143E-ED6C-4A6E-9EE7-8128153F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Equipment, timing, guards, failures and previous acquisitions constrain the candidate set.</a:t>
            </a:r>
          </a:p>
        </p:txBody>
      </p:sp>
      <p:sp>
        <p:nvSpPr>
          <p:cNvPr id="36" name="No useful discriminator is a valid stop state. Repeated read">
            <a:extLst xmlns:a="http://schemas.openxmlformats.org/drawingml/2006/main">
              <a:ext uri="{FF2B5EF4-FFF2-40B4-BE49-F238E27FC236}">
                <a16:creationId xmlns:a16="http://schemas.microsoft.com/office/drawing/2014/main" id="{4B311F71-8028-426D-A408-A21434D1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No useful discriminator is a valid stop state. Repeated readings currently assume independent noise.</a:t>
            </a:r>
          </a:p>
        </p:txBody>
      </p:sp>
    </p:spTree>
    <p:extLst>
      <p:ext uri="{BB962C8B-B14F-4D97-AF65-F5344CB8AC3E}">
        <p14:creationId xmlns:p14="http://schemas.microsoft.com/office/powerpoint/2010/main" val="1598159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2B507-7E1E-4FC0-A9E8-256F82B73D9A}"/>
              </a:ext>
            </a:extLst>
          </p:cNvPr>
          <p:cNvCxnSpPr>
            <a:stCxn xmlns:a="http://schemas.openxmlformats.org/drawingml/2006/main" id="2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7639050" y="4048125"/>
            <a:ext cx="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B3610-3A76-493E-8738-1EA50B80209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39300" y="3214688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F4149-8B09-4383-B7EA-37CC48BB5CB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14850" y="3214688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sp>
        <p:nvSpPr>
          <p:cNvPr id="37" name="Evidence persistence and lineage">
            <a:extLst xmlns:a="http://schemas.openxmlformats.org/drawingml/2006/main">
              <a:ext uri="{FF2B5EF4-FFF2-40B4-BE49-F238E27FC236}">
                <a16:creationId xmlns:a16="http://schemas.microsoft.com/office/drawing/2014/main" id="{C92301BE-9683-4AC9-A432-4C643698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Evidence persistence and lineage</a:t>
            </a:r>
          </a:p>
        </p:txBody>
      </p:sp>
      <p:sp>
        <p:nvSpPr>
          <p:cNvPr id="2" name="Logical relationships in SQLite. Correction appends preserve">
            <a:extLst xmlns:a="http://schemas.openxmlformats.org/drawingml/2006/main">
              <a:ext uri="{FF2B5EF4-FFF2-40B4-BE49-F238E27FC236}">
                <a16:creationId xmlns:a16="http://schemas.microsoft.com/office/drawing/2014/main" id="{5B54E33D-7B42-4802-88CF-72CC0528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Logical relationships in SQLite. Correction appends preserve earlier replay cutoffs.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20312-2F29-4029-AFE7-C2F917A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B930124-5A00-4B87-8C67-6382A3B4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1EE6C772-B3EE-4BA1-9790-6DC2F4A9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1B7DB-4FE0-4208-B8A2-10A732CE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905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C6105-678C-43DD-9EFD-EC71AD0B4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1e770fd7a492b"/>
          <a:stretch xmlns:a="http://schemas.openxmlformats.org/drawingml/2006/main"/>
        </p:blipFill>
        <p:spPr>
          <a:xfrm xmlns:a="http://schemas.openxmlformats.org/drawingml/2006/main">
            <a:off x="781050" y="2571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acquisitions">
            <a:extLst xmlns:a="http://schemas.openxmlformats.org/drawingml/2006/main">
              <a:ext uri="{FF2B5EF4-FFF2-40B4-BE49-F238E27FC236}">
                <a16:creationId xmlns:a16="http://schemas.microsoft.com/office/drawing/2014/main" id="{A242F6DF-8294-46EC-9CAB-97BE30C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acquisitions</a:t>
            </a:r>
          </a:p>
        </p:txBody>
      </p:sp>
      <p:sp>
        <p:nvSpPr>
          <p:cNvPr id="9" name="status / request_cutoff&#10;available_minute / measurement_id">
            <a:extLst xmlns:a="http://schemas.openxmlformats.org/drawingml/2006/main">
              <a:ext uri="{FF2B5EF4-FFF2-40B4-BE49-F238E27FC236}">
                <a16:creationId xmlns:a16="http://schemas.microsoft.com/office/drawing/2014/main" id="{0C94E221-554E-47BF-B7BA-AEE49EC1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3562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status / request_cutoff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available_minute / measurement_id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3D574-ACC0-4B6B-8CBC-E962A96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81250"/>
            <a:ext cx="4000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D6CE1-D1D5-4B4A-A06E-6D56332CC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575a72d674fdc"/>
          <a:stretch xmlns:a="http://schemas.openxmlformats.org/drawingml/2006/main"/>
        </p:blipFill>
        <p:spPr>
          <a:xfrm xmlns:a="http://schemas.openxmlformats.org/drawingml/2006/main">
            <a:off x="5810250" y="2571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measurements">
            <a:extLst xmlns:a="http://schemas.openxmlformats.org/drawingml/2006/main">
              <a:ext uri="{FF2B5EF4-FFF2-40B4-BE49-F238E27FC236}">
                <a16:creationId xmlns:a16="http://schemas.microsoft.com/office/drawing/2014/main" id="{966AC115-ACA1-4846-A42C-FB301198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318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measurements</a:t>
            </a:r>
          </a:p>
        </p:txBody>
      </p:sp>
      <p:sp>
        <p:nvSpPr>
          <p:cNvPr id="13" name="observed_minute / available_minute&#10;quality / noise_sd / supe">
            <a:extLst xmlns:a="http://schemas.openxmlformats.org/drawingml/2006/main">
              <a:ext uri="{FF2B5EF4-FFF2-40B4-BE49-F238E27FC236}">
                <a16:creationId xmlns:a16="http://schemas.microsoft.com/office/drawing/2014/main" id="{B1EDCDEF-F2A7-4716-8E3D-CFB6776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52775"/>
            <a:ext cx="3657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observed_minute / available_minute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quality / noise_sd / supersedes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25C03-F6E4-422C-995F-4AF15D9B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3905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E56E1-5FEE-4788-8C92-60E540A26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19a20b54a45ee"/>
          <a:stretch xmlns:a="http://schemas.openxmlformats.org/drawingml/2006/main"/>
        </p:blipFill>
        <p:spPr>
          <a:xfrm xmlns:a="http://schemas.openxmlformats.org/drawingml/2006/main">
            <a:off x="10877550" y="2571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lab_runs">
            <a:extLst xmlns:a="http://schemas.openxmlformats.org/drawingml/2006/main">
              <a:ext uri="{FF2B5EF4-FFF2-40B4-BE49-F238E27FC236}">
                <a16:creationId xmlns:a16="http://schemas.microsoft.com/office/drawing/2014/main" id="{5EEC168A-1A3C-4849-A324-A2A921B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55270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lab_runs</a:t>
            </a:r>
          </a:p>
        </p:txBody>
      </p:sp>
      <p:sp>
        <p:nvSpPr>
          <p:cNvPr id="17" name="revision / settings / result&#10;Immutable saved JSON snapshot">
            <a:extLst xmlns:a="http://schemas.openxmlformats.org/drawingml/2006/main">
              <a:ext uri="{FF2B5EF4-FFF2-40B4-BE49-F238E27FC236}">
                <a16:creationId xmlns:a16="http://schemas.microsoft.com/office/drawing/2014/main" id="{D9F3D7A6-764D-4274-94F6-3792BD17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52775"/>
            <a:ext cx="3562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revision / settings / result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Immutable saved JSON snapshot</a:t>
            </a:r>
          </a:p>
        </p:txBody>
      </p:sp>
      <p:sp>
        <p:nvSpPr>
          <p:cNvPr id="20" name="reading">
            <a:extLst xmlns:a="http://schemas.openxmlformats.org/drawingml/2006/main">
              <a:ext uri="{FF2B5EF4-FFF2-40B4-BE49-F238E27FC236}">
                <a16:creationId xmlns:a16="http://schemas.microsoft.com/office/drawing/2014/main" id="{C34A2A10-3F0C-45FC-A27B-A575F69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432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reading</a:t>
            </a:r>
          </a:p>
        </p:txBody>
      </p:sp>
      <p:sp>
        <p:nvSpPr>
          <p:cNvPr id="21" name="snapshot">
            <a:extLst xmlns:a="http://schemas.openxmlformats.org/drawingml/2006/main">
              <a:ext uri="{FF2B5EF4-FFF2-40B4-BE49-F238E27FC236}">
                <a16:creationId xmlns:a16="http://schemas.microsoft.com/office/drawing/2014/main" id="{D43B0EB0-7FDB-4B88-B705-DDFB841E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43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snapshot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EC35B-4020-42AE-934E-D149DFB9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400675"/>
            <a:ext cx="4000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A37BA-5901-4C40-88C9-FC9F143872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c866974484c3d"/>
          <a:stretch xmlns:a="http://schemas.openxmlformats.org/drawingml/2006/main"/>
        </p:blipFill>
        <p:spPr>
          <a:xfrm xmlns:a="http://schemas.openxmlformats.org/drawingml/2006/main">
            <a:off x="5810250" y="55911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" name="Appended correction">
            <a:extLst xmlns:a="http://schemas.openxmlformats.org/drawingml/2006/main">
              <a:ext uri="{FF2B5EF4-FFF2-40B4-BE49-F238E27FC236}">
                <a16:creationId xmlns:a16="http://schemas.microsoft.com/office/drawing/2014/main" id="{D5C994F4-E410-4606-AA42-5152DBDA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72125"/>
            <a:ext cx="318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Appended correction</a:t>
            </a:r>
          </a:p>
        </p:txBody>
      </p:sp>
      <p:sp>
        <p:nvSpPr>
          <p:cNvPr id="25" name="supersedes + reason&#10;Earlier reading stays in history">
            <a:extLst xmlns:a="http://schemas.openxmlformats.org/drawingml/2006/main">
              <a:ext uri="{FF2B5EF4-FFF2-40B4-BE49-F238E27FC236}">
                <a16:creationId xmlns:a16="http://schemas.microsoft.com/office/drawing/2014/main" id="{AB3DCA30-592C-49E7-B5DC-36FA460A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3657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supersedes + reason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Earlier reading stays in history</a:t>
            </a:r>
          </a:p>
        </p:txBody>
      </p:sp>
      <p:sp>
        <p:nvSpPr>
          <p:cNvPr id="27" name="Logical self-link">
            <a:extLst xmlns:a="http://schemas.openxmlformats.org/drawingml/2006/main">
              <a:ext uri="{FF2B5EF4-FFF2-40B4-BE49-F238E27FC236}">
                <a16:creationId xmlns:a16="http://schemas.microsoft.com/office/drawing/2014/main" id="{F67FB5EB-1E2B-4D95-9E6C-3862FE45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Logical self-link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40707-BB5E-4D4D-BC57-6353A28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3905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7325C-9A74-407E-B3B5-9EB5AC29F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1369ec1ed4017"/>
          <a:stretch xmlns:a="http://schemas.openxmlformats.org/drawingml/2006/main"/>
        </p:blipFill>
        <p:spPr>
          <a:xfrm xmlns:a="http://schemas.openxmlformats.org/drawingml/2006/main">
            <a:off x="781050" y="55911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0" name="reviews">
            <a:extLst xmlns:a="http://schemas.openxmlformats.org/drawingml/2006/main">
              <a:ext uri="{FF2B5EF4-FFF2-40B4-BE49-F238E27FC236}">
                <a16:creationId xmlns:a16="http://schemas.microsoft.com/office/drawing/2014/main" id="{804C7821-5BB1-4A35-B672-D037ACB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72125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reviews</a:t>
            </a:r>
          </a:p>
        </p:txBody>
      </p:sp>
      <p:sp>
        <p:nvSpPr>
          <p:cNvPr id="31" name="patient / cutoff / note&#10;Review context">
            <a:extLst xmlns:a="http://schemas.openxmlformats.org/drawingml/2006/main">
              <a:ext uri="{FF2B5EF4-FFF2-40B4-BE49-F238E27FC236}">
                <a16:creationId xmlns:a16="http://schemas.microsoft.com/office/drawing/2014/main" id="{FD323BBE-A843-4623-93D8-9C1057B6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3562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patient / cutoff / note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Review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C5A7B-442B-41B0-8AC4-751A2739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00675"/>
            <a:ext cx="3905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60C8B-C892-4533-9665-4E5E4CDA5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a946bf3fe4e93"/>
          <a:stretch xmlns:a="http://schemas.openxmlformats.org/drawingml/2006/main"/>
        </p:blipFill>
        <p:spPr>
          <a:xfrm xmlns:a="http://schemas.openxmlformats.org/drawingml/2006/main">
            <a:off x="10877550" y="55911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4" name="branches">
            <a:extLst xmlns:a="http://schemas.openxmlformats.org/drawingml/2006/main">
              <a:ext uri="{FF2B5EF4-FFF2-40B4-BE49-F238E27FC236}">
                <a16:creationId xmlns:a16="http://schemas.microsoft.com/office/drawing/2014/main" id="{17F2FD2B-D045-40C1-A919-0004D4C4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572125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branches</a:t>
            </a:r>
          </a:p>
        </p:txBody>
      </p:sp>
      <p:sp>
        <p:nvSpPr>
          <p:cNvPr id="35" name="cutoff / rate / profile / result&#10;Saved hypothetical comparis">
            <a:extLst xmlns:a="http://schemas.openxmlformats.org/drawingml/2006/main">
              <a:ext uri="{FF2B5EF4-FFF2-40B4-BE49-F238E27FC236}">
                <a16:creationId xmlns:a16="http://schemas.microsoft.com/office/drawing/2014/main" id="{33114332-CB45-4282-A7AA-AFE223F4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72200"/>
            <a:ext cx="3562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cutoff / rate / profile / result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Saved hypothetical comparison</a:t>
            </a:r>
          </a:p>
        </p:txBody>
      </p:sp>
      <p:sp>
        <p:nvSpPr>
          <p:cNvPr id="36" name="Quality excludes artifacts from inference. Availability gate">
            <a:extLst xmlns:a="http://schemas.openxmlformats.org/drawingml/2006/main">
              <a:ext uri="{FF2B5EF4-FFF2-40B4-BE49-F238E27FC236}">
                <a16:creationId xmlns:a16="http://schemas.microsoft.com/office/drawing/2014/main" id="{0B78D012-4737-40B1-BD54-39FCD7D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1395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Quality excludes artifacts from inference. Availability gates replay. Saved revisions retain their evidence.</a:t>
            </a:r>
          </a:p>
        </p:txBody>
      </p:sp>
    </p:spTree>
    <p:extLst>
      <p:ext uri="{BB962C8B-B14F-4D97-AF65-F5344CB8AC3E}">
        <p14:creationId xmlns:p14="http://schemas.microsoft.com/office/powerpoint/2010/main" val="230768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707E6-E788-4939-967A-9014464C923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58250" y="3405188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95DBD-51F1-439F-AD6C-1951B723E84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05275" y="3405188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sp>
        <p:nvSpPr>
          <p:cNvPr id="32" name="Evaluation boundaries">
            <a:extLst xmlns:a="http://schemas.openxmlformats.org/drawingml/2006/main">
              <a:ext uri="{FF2B5EF4-FFF2-40B4-BE49-F238E27FC236}">
                <a16:creationId xmlns:a16="http://schemas.microsoft.com/office/drawing/2014/main" id="{0D10A24C-B3CD-4D45-9E35-12BA7386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Evaluation boundaries</a:t>
            </a:r>
          </a:p>
        </p:txBody>
      </p:sp>
      <p:sp>
        <p:nvSpPr>
          <p:cNvPr id="2" name="Three different evidence questions retain separate data, end">
            <a:extLst xmlns:a="http://schemas.openxmlformats.org/drawingml/2006/main">
              <a:ext uri="{FF2B5EF4-FFF2-40B4-BE49-F238E27FC236}">
                <a16:creationId xmlns:a16="http://schemas.microsoft.com/office/drawing/2014/main" id="{DE4E452C-F82E-4F68-B7C2-3415D89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Three different evidence questions retain separate data, endpoints and claims.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1FB2F-8B79-4584-AD1C-07149987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AF358BB-3669-47B9-A7AC-350D49BC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BBB982A4-A86A-4AE7-A8EA-97DE559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6B9C1-2FD7-4A1B-9586-B1F52DB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14001750" cy="2238375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65C9F1"/>
            </a:solidFill>
            <a:prstDash val="solid"/>
          </a:ln>
        </p:spPr>
      </p:sp>
      <p:sp>
        <p:nvSpPr>
          <p:cNvPr id="7" name="OBSERVED HEMOBP BENCHMARK">
            <a:extLst xmlns:a="http://schemas.openxmlformats.org/drawingml/2006/main">
              <a:ext uri="{FF2B5EF4-FFF2-40B4-BE49-F238E27FC236}">
                <a16:creationId xmlns:a16="http://schemas.microsoft.com/office/drawing/2014/main" id="{1653E2D0-A435-4E21-BBF8-A976449E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1366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OBSERVED HEMOBP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71C74-24E3-4E2D-8C1B-8D4D940E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32861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7B2B9-B746-4593-8886-8445AD3B6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20dfae6094e9a"/>
          <a:stretch xmlns:a="http://schemas.openxmlformats.org/drawingml/2006/main"/>
        </p:blipFill>
        <p:spPr>
          <a:xfrm xmlns:a="http://schemas.openxmlformats.org/drawingml/2006/main">
            <a:off x="990600" y="2905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0" name="Versioned public tables">
            <a:extLst xmlns:a="http://schemas.openxmlformats.org/drawingml/2006/main">
              <a:ext uri="{FF2B5EF4-FFF2-40B4-BE49-F238E27FC236}">
                <a16:creationId xmlns:a16="http://schemas.microsoft.com/office/drawing/2014/main" id="{BC369642-54E5-488F-9D33-B113FAF5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86075"/>
            <a:ext cx="2466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Versioned public tables</a:t>
            </a:r>
          </a:p>
        </p:txBody>
      </p:sp>
      <p:sp>
        <p:nvSpPr>
          <p:cNvPr id="11" name="HEMOBP v3 / CC BY 4.0&#10;Clock alignment assumption">
            <a:extLst xmlns:a="http://schemas.openxmlformats.org/drawingml/2006/main">
              <a:ext uri="{FF2B5EF4-FFF2-40B4-BE49-F238E27FC236}">
                <a16:creationId xmlns:a16="http://schemas.microsoft.com/office/drawing/2014/main" id="{086F4C8B-4672-40AE-9C4B-D6537CE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29432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HEMOBP v3 / CC BY 4.0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Clock alignment assumption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A91DB-DCC6-4A75-9E10-B96FB4C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4000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F828A-54D4-4B89-8748-82C2A8E8A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e7d4591ad4eec"/>
          <a:stretch xmlns:a="http://schemas.openxmlformats.org/drawingml/2006/main"/>
        </p:blipFill>
        <p:spPr>
          <a:xfrm xmlns:a="http://schemas.openxmlformats.org/drawingml/2006/main">
            <a:off x="5029200" y="2905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4" name="Audited cohort">
            <a:extLst xmlns:a="http://schemas.openxmlformats.org/drawingml/2006/main">
              <a:ext uri="{FF2B5EF4-FFF2-40B4-BE49-F238E27FC236}">
                <a16:creationId xmlns:a16="http://schemas.microsoft.com/office/drawing/2014/main" id="{1C84EC13-BEFB-4C2A-948C-D8F2952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318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Audited cohort</a:t>
            </a:r>
          </a:p>
        </p:txBody>
      </p:sp>
      <p:sp>
        <p:nvSpPr>
          <p:cNvPr id="15" name="Elapsed checks / canonical units&#10;Preceding-session inputs on">
            <a:extLst xmlns:a="http://schemas.openxmlformats.org/drawingml/2006/main">
              <a:ext uri="{FF2B5EF4-FFF2-40B4-BE49-F238E27FC236}">
                <a16:creationId xmlns:a16="http://schemas.microsoft.com/office/drawing/2014/main" id="{81313303-6494-4A3D-9601-4FF4E8DA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365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Elapsed checks / canonical units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Preceding-session inputs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29C4E-85DF-431D-A639-F1904F4B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14625"/>
            <a:ext cx="45529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F0F3A-57FF-4DC6-A757-1E5A662B8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222e7e6744ee5"/>
          <a:stretch xmlns:a="http://schemas.openxmlformats.org/drawingml/2006/main"/>
        </p:blipFill>
        <p:spPr>
          <a:xfrm xmlns:a="http://schemas.openxmlformats.org/drawingml/2006/main">
            <a:off x="10010775" y="2905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8" name="Patient-disjoint splits">
            <a:extLst xmlns:a="http://schemas.openxmlformats.org/drawingml/2006/main">
              <a:ext uri="{FF2B5EF4-FFF2-40B4-BE49-F238E27FC236}">
                <a16:creationId xmlns:a16="http://schemas.microsoft.com/office/drawing/2014/main" id="{A291CE2D-6190-4F52-9165-1B59DB4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860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Patient-disjoint splits</a:t>
            </a:r>
          </a:p>
        </p:txBody>
      </p:sp>
      <p:sp>
        <p:nvSpPr>
          <p:cNvPr id="19" name="Fit 563 / calibration 141 / test 176&#10;MAE, calibration and wo">
            <a:extLst xmlns:a="http://schemas.openxmlformats.org/drawingml/2006/main">
              <a:ext uri="{FF2B5EF4-FFF2-40B4-BE49-F238E27FC236}">
                <a16:creationId xmlns:a16="http://schemas.microsoft.com/office/drawing/2014/main" id="{67BA6C1B-D96D-421B-95D9-B3D3C4D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86150"/>
            <a:ext cx="4210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Fit 563 / calibration 141 / test 176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MAE, calibration and workload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FD510-5DA1-4218-8B30-D93A1C0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743700" cy="2371725"/>
          </a:xfrm>
          <a:prstGeom xmlns:a="http://schemas.openxmlformats.org/drawingml/2006/main" prst="roundRect">
            <a:avLst>
              <a:gd name="adj" fmla="val 8032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FFA383"/>
            </a:solidFill>
            <a:prstDash val="solid"/>
          </a:ln>
        </p:spPr>
      </p:sp>
      <p:sp>
        <p:nvSpPr>
          <p:cNvPr id="23" name="INDEPENDENT SYNTHETIC POLICY STUDY">
            <a:extLst xmlns:a="http://schemas.openxmlformats.org/drawingml/2006/main">
              <a:ext uri="{FF2B5EF4-FFF2-40B4-BE49-F238E27FC236}">
                <a16:creationId xmlns:a16="http://schemas.microsoft.com/office/drawing/2014/main" id="{D65F062F-5D68-41D8-90E8-8A7BFB85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6410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INDEPENDENT SYNTHETIC POLICY STUDY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1A87C-B93F-4F9E-966B-B0D0BAD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819650"/>
            <a:ext cx="6791325" cy="2371725"/>
          </a:xfrm>
          <a:prstGeom xmlns:a="http://schemas.openxmlformats.org/drawingml/2006/main" prst="roundRect">
            <a:avLst>
              <a:gd name="adj" fmla="val 8032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B1A1FF"/>
            </a:solidFill>
            <a:prstDash val="dash"/>
          </a:ln>
        </p:spPr>
      </p:sp>
      <p:sp>
        <p:nvSpPr>
          <p:cNvPr id="25" name="CURRENT SEQUENTIAL SELECTOR">
            <a:extLst xmlns:a="http://schemas.openxmlformats.org/drawingml/2006/main">
              <a:ext uri="{FF2B5EF4-FFF2-40B4-BE49-F238E27FC236}">
                <a16:creationId xmlns:a16="http://schemas.microsoft.com/office/drawing/2014/main" id="{CC421D3F-80EC-46E6-BCB8-438CC623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933950"/>
            <a:ext cx="645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CURRENT SEQUENTIAL SELECTOR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76155C-AF6B-42CF-8437-3D779E524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edcd6b8724b6e"/>
          <a:stretch xmlns:a="http://schemas.openxmlformats.org/drawingml/2006/main"/>
        </p:blipFill>
        <p:spPr>
          <a:xfrm xmlns:a="http://schemas.openxmlformats.org/drawingml/2006/main">
            <a:off x="847725" y="53435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7" name="192 cases / 768 policy records">
            <a:extLst xmlns:a="http://schemas.openxmlformats.org/drawingml/2006/main">
              <a:ext uri="{FF2B5EF4-FFF2-40B4-BE49-F238E27FC236}">
                <a16:creationId xmlns:a16="http://schemas.microsoft.com/office/drawing/2014/main" id="{4828EADF-E09E-42EF-9A3D-3431FED2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14950"/>
            <a:ext cx="5514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192 cases / 768 policy records</a:t>
            </a:r>
          </a:p>
        </p:txBody>
      </p:sp>
      <p:sp>
        <p:nvSpPr>
          <p:cNvPr id="28" name="Separate scoring futures and one-acquisition budget.&#10;Decisio">
            <a:extLst xmlns:a="http://schemas.openxmlformats.org/drawingml/2006/main">
              <a:ext uri="{FF2B5EF4-FFF2-40B4-BE49-F238E27FC236}">
                <a16:creationId xmlns:a16="http://schemas.microsoft.com/office/drawing/2014/main" id="{18AF2162-7AFE-461F-9BA1-41D84E2A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2175"/>
            <a:ext cx="61626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Separate scoring futures and one-acquisition budget.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Decision value does not outperform fixed cuff overall.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38308-F254-4321-A924-B519A0988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f1c4560b94185"/>
          <a:stretch xmlns:a="http://schemas.openxmlformats.org/drawingml/2006/main"/>
        </p:blipFill>
        <p:spPr>
          <a:xfrm xmlns:a="http://schemas.openxmlformats.org/drawingml/2006/main">
            <a:off x="8058150" y="53435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Software checks + real UI replay">
            <a:extLst xmlns:a="http://schemas.openxmlformats.org/drawingml/2006/main">
              <a:ext uri="{FF2B5EF4-FFF2-40B4-BE49-F238E27FC236}">
                <a16:creationId xmlns:a16="http://schemas.microsoft.com/office/drawing/2014/main" id="{16511B8D-B71B-4DCA-8D15-DEBD701E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14950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Software checks + real UI replay</a:t>
            </a:r>
          </a:p>
        </p:txBody>
      </p:sp>
      <p:sp>
        <p:nvSpPr>
          <p:cNvPr id="31" name="Multi-acquisition effectiveness remains unevaluated.&#10;A futur">
            <a:extLst xmlns:a="http://schemas.openxmlformats.org/drawingml/2006/main">
              <a:ext uri="{FF2B5EF4-FFF2-40B4-BE49-F238E27FC236}">
                <a16:creationId xmlns:a16="http://schemas.microsoft.com/office/drawing/2014/main" id="{1682381C-F1AA-418C-9959-E1E391C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972175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Multi-acquisition effectiveness remains unevaluated.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 future study needs predeclared correlated noise.</a:t>
            </a:r>
          </a:p>
        </p:txBody>
      </p:sp>
    </p:spTree>
    <p:extLst>
      <p:ext uri="{BB962C8B-B14F-4D97-AF65-F5344CB8AC3E}">
        <p14:creationId xmlns:p14="http://schemas.microsoft.com/office/powerpoint/2010/main" val="743056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2026-10-20T05:54:18.5510000Z</dcterms:created>
  <dcterms:modified xsi:type="dcterms:W3CDTF">2026-10-20T05:54:18.5520000Z</dcterms:modified>
</coreProperties>
</file>