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4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9826517a444787" /><Relationship Type="http://schemas.openxmlformats.org/officeDocument/2006/relationships/extended-properties" Target="/docProps/app.xml" Id="Rcb1bc1bc4cb04c30" /><Relationship Type="http://schemas.openxmlformats.org/officeDocument/2006/relationships/officeDocument" Target="/ppt/presentation.xml" Id="R5b598c0911f748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623450737d47e2"/>
  </p:sldMasterIdLst>
  <p:notesMasterIdLst>
    <p:notesMasterId xmlns:r="http://schemas.openxmlformats.org/officeDocument/2006/relationships" r:id="R9c6e8520167b4200"/>
  </p:notesMasterIdLst>
  <p:sldIdLst>
    <p:sldId xmlns:r="http://schemas.openxmlformats.org/officeDocument/2006/relationships" id="256" r:id="Rc92bc759d3df47e5"/>
    <p:sldId xmlns:r="http://schemas.openxmlformats.org/officeDocument/2006/relationships" id="257" r:id="Rbc32a264fc364622"/>
    <p:sldId xmlns:r="http://schemas.openxmlformats.org/officeDocument/2006/relationships" id="258" r:id="Rce74498a74274637"/>
    <p:sldId xmlns:r="http://schemas.openxmlformats.org/officeDocument/2006/relationships" id="259" r:id="R1ba61f417c0e4ed8"/>
    <p:sldId xmlns:r="http://schemas.openxmlformats.org/officeDocument/2006/relationships" id="260" r:id="Rd6bb8c3017ad47c3"/>
    <p:sldId xmlns:r="http://schemas.openxmlformats.org/officeDocument/2006/relationships" id="261" r:id="R53c61d668abc44c7"/>
    <p:sldId xmlns:r="http://schemas.openxmlformats.org/officeDocument/2006/relationships" id="262" r:id="Red81c7a04b9746fa"/>
    <p:sldId xmlns:r="http://schemas.openxmlformats.org/officeDocument/2006/relationships" id="263" r:id="R0e8eeed71f3a4b27"/>
    <p:sldId xmlns:r="http://schemas.openxmlformats.org/officeDocument/2006/relationships" id="264" r:id="Rdebee7966a6a4aa2"/>
    <p:sldId xmlns:r="http://schemas.openxmlformats.org/officeDocument/2006/relationships" id="265" r:id="R459880b2ba0e4e0d"/>
    <p:sldId xmlns:r="http://schemas.openxmlformats.org/officeDocument/2006/relationships" id="266" r:id="R036f41a04e474a18"/>
    <p:sldId xmlns:r="http://schemas.openxmlformats.org/officeDocument/2006/relationships" id="267" r:id="Rff1fe151a19c4d4a"/>
    <p:sldId xmlns:r="http://schemas.openxmlformats.org/officeDocument/2006/relationships" id="268" r:id="R1a76a582c7eb4a51"/>
    <p:sldId xmlns:r="http://schemas.openxmlformats.org/officeDocument/2006/relationships" id="269" r:id="R4dec0edf91334417"/>
    <p:sldId xmlns:r="http://schemas.openxmlformats.org/officeDocument/2006/relationships" id="270" r:id="Ra577f66e807b4e48"/>
    <p:sldId xmlns:r="http://schemas.openxmlformats.org/officeDocument/2006/relationships" id="271" r:id="R26083e86331744d6"/>
    <p:sldId xmlns:r="http://schemas.openxmlformats.org/officeDocument/2006/relationships" id="272" r:id="Rb4b009de61014149"/>
    <p:sldId xmlns:r="http://schemas.openxmlformats.org/officeDocument/2006/relationships" id="273" r:id="R70144489ab37460c"/>
    <p:sldId xmlns:r="http://schemas.openxmlformats.org/officeDocument/2006/relationships" id="274" r:id="Rdb75707325e34a89"/>
    <p:sldId xmlns:r="http://schemas.openxmlformats.org/officeDocument/2006/relationships" id="275" r:id="R4212714af304404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50ad05b243472d" /><Relationship Type="http://schemas.openxmlformats.org/officeDocument/2006/relationships/slideMaster" Target="/ppt/slideMasters/slideMaster1.xml" Id="Rf8623450737d47e2" /><Relationship Type="http://schemas.openxmlformats.org/officeDocument/2006/relationships/notesMaster" Target="/ppt/notesMasters/notesMaster1.xml" Id="R9c6e8520167b4200" /><Relationship Type="http://schemas.openxmlformats.org/officeDocument/2006/relationships/presProps" Target="/ppt/presProps.xml" Id="Rf4545d3e0dcb4827" /><Relationship Type="http://schemas.openxmlformats.org/officeDocument/2006/relationships/tableStyles" Target="/ppt/tableStyles.xml" Id="R28d8cc107d5c48fd" /><Relationship Type="http://schemas.openxmlformats.org/officeDocument/2006/relationships/slide" Target="/ppt/slides/slide1.xml" Id="Rc92bc759d3df47e5" /><Relationship Type="http://schemas.openxmlformats.org/officeDocument/2006/relationships/slide" Target="/ppt/slides/slide2.xml" Id="Rbc32a264fc364622" /><Relationship Type="http://schemas.openxmlformats.org/officeDocument/2006/relationships/slide" Target="/ppt/slides/slide3.xml" Id="Rce74498a74274637" /><Relationship Type="http://schemas.openxmlformats.org/officeDocument/2006/relationships/slide" Target="/ppt/slides/slide4.xml" Id="R1ba61f417c0e4ed8" /><Relationship Type="http://schemas.openxmlformats.org/officeDocument/2006/relationships/slide" Target="/ppt/slides/slide5.xml" Id="Rd6bb8c3017ad47c3" /><Relationship Type="http://schemas.openxmlformats.org/officeDocument/2006/relationships/slide" Target="/ppt/slides/slide6.xml" Id="R53c61d668abc44c7" /><Relationship Type="http://schemas.openxmlformats.org/officeDocument/2006/relationships/slide" Target="/ppt/slides/slide7.xml" Id="Red81c7a04b9746fa" /><Relationship Type="http://schemas.openxmlformats.org/officeDocument/2006/relationships/slide" Target="/ppt/slides/slide8.xml" Id="R0e8eeed71f3a4b27" /><Relationship Type="http://schemas.openxmlformats.org/officeDocument/2006/relationships/slide" Target="/ppt/slides/slide9.xml" Id="Rdebee7966a6a4aa2" /><Relationship Type="http://schemas.openxmlformats.org/officeDocument/2006/relationships/slide" Target="/ppt/slides/slide10.xml" Id="R459880b2ba0e4e0d" /><Relationship Type="http://schemas.openxmlformats.org/officeDocument/2006/relationships/slide" Target="/ppt/slides/slide11.xml" Id="R036f41a04e474a18" /><Relationship Type="http://schemas.openxmlformats.org/officeDocument/2006/relationships/slide" Target="/ppt/slides/slide12.xml" Id="Rff1fe151a19c4d4a" /><Relationship Type="http://schemas.openxmlformats.org/officeDocument/2006/relationships/slide" Target="/ppt/slides/slide13.xml" Id="R1a76a582c7eb4a51" /><Relationship Type="http://schemas.openxmlformats.org/officeDocument/2006/relationships/slide" Target="/ppt/slides/slide14.xml" Id="R4dec0edf91334417" /><Relationship Type="http://schemas.openxmlformats.org/officeDocument/2006/relationships/slide" Target="/ppt/slides/slide15.xml" Id="Ra577f66e807b4e48" /><Relationship Type="http://schemas.openxmlformats.org/officeDocument/2006/relationships/slide" Target="/ppt/slides/slide16.xml" Id="R26083e86331744d6" /><Relationship Type="http://schemas.openxmlformats.org/officeDocument/2006/relationships/slide" Target="/ppt/slides/slide17.xml" Id="Rb4b009de61014149" /><Relationship Type="http://schemas.openxmlformats.org/officeDocument/2006/relationships/slide" Target="/ppt/slides/slide18.xml" Id="R70144489ab37460c" /><Relationship Type="http://schemas.openxmlformats.org/officeDocument/2006/relationships/slide" Target="/ppt/slides/slide19.xml" Id="Rdb75707325e34a89" /><Relationship Type="http://schemas.openxmlformats.org/officeDocument/2006/relationships/slide" Target="/ppt/slides/slide20.xml" Id="R4212714af30440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08db4095aa4f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eda0731495427a" /><Relationship Type="http://schemas.openxmlformats.org/officeDocument/2006/relationships/notesMaster" Target="/ppt/notesMasters/notesMaster1.xml" Id="R2a85ba237f4647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a49c4fe6924ab9" /><Relationship Type="http://schemas.openxmlformats.org/officeDocument/2006/relationships/notesMaster" Target="/ppt/notesMasters/notesMaster1.xml" Id="Rfbc7dc5691234b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063ba850ae4650" /><Relationship Type="http://schemas.openxmlformats.org/officeDocument/2006/relationships/notesMaster" Target="/ppt/notesMasters/notesMaster1.xml" Id="R209269c2b9c84c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102a7ffae44c69" /><Relationship Type="http://schemas.openxmlformats.org/officeDocument/2006/relationships/notesMaster" Target="/ppt/notesMasters/notesMaster1.xml" Id="R464d1a90ead14f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659fb1c20049fa" /><Relationship Type="http://schemas.openxmlformats.org/officeDocument/2006/relationships/notesMaster" Target="/ppt/notesMasters/notesMaster1.xml" Id="R4d5d11bd1b5c4b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852622b16b4e97" /><Relationship Type="http://schemas.openxmlformats.org/officeDocument/2006/relationships/notesMaster" Target="/ppt/notesMasters/notesMaster1.xml" Id="Rf7cf7978366b4f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081eaba52141fe" /><Relationship Type="http://schemas.openxmlformats.org/officeDocument/2006/relationships/notesMaster" Target="/ppt/notesMasters/notesMaster1.xml" Id="Rde1ab1dabe1540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d182318da44610" /><Relationship Type="http://schemas.openxmlformats.org/officeDocument/2006/relationships/notesMaster" Target="/ppt/notesMasters/notesMaster1.xml" Id="R1d3e45b518d043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ad829c313542a4" /><Relationship Type="http://schemas.openxmlformats.org/officeDocument/2006/relationships/notesMaster" Target="/ppt/notesMasters/notesMaster1.xml" Id="R4516effc350441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3bc5a845af4aac" /><Relationship Type="http://schemas.openxmlformats.org/officeDocument/2006/relationships/notesMaster" Target="/ppt/notesMasters/notesMaster1.xml" Id="Rb9690f59f7a54d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6e5935f3e94d7b" /><Relationship Type="http://schemas.openxmlformats.org/officeDocument/2006/relationships/notesMaster" Target="/ppt/notesMasters/notesMaster1.xml" Id="R69b1358701484a3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374d55ab2848f5" /><Relationship Type="http://schemas.openxmlformats.org/officeDocument/2006/relationships/notesMaster" Target="/ppt/notesMasters/notesMaster1.xml" Id="Rdb444087814344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f61527bf3b844c8" /><Relationship Type="http://schemas.openxmlformats.org/officeDocument/2006/relationships/notesMaster" Target="/ppt/notesMasters/notesMaster1.xml" Id="R05cef4e206ac484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955ea174ee141a4" /><Relationship Type="http://schemas.openxmlformats.org/officeDocument/2006/relationships/notesMaster" Target="/ppt/notesMasters/notesMaster1.xml" Id="R5346df00e26142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1ecc4cf342d4cb9" /><Relationship Type="http://schemas.openxmlformats.org/officeDocument/2006/relationships/notesMaster" Target="/ppt/notesMasters/notesMaster1.xml" Id="Rb27df27f470149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f0708fa71c545e2" /><Relationship Type="http://schemas.openxmlformats.org/officeDocument/2006/relationships/notesMaster" Target="/ppt/notesMasters/notesMaster1.xml" Id="Rc4d70983f7c74d2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46831cf80354f4f" /><Relationship Type="http://schemas.openxmlformats.org/officeDocument/2006/relationships/notesMaster" Target="/ppt/notesMasters/notesMaster1.xml" Id="R0a1646f2fba14dd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3ea01b3e37d4123" /><Relationship Type="http://schemas.openxmlformats.org/officeDocument/2006/relationships/notesMaster" Target="/ppt/notesMasters/notesMaster1.xml" Id="Rbe568bbd95df467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a5ba5b31c114a40" /><Relationship Type="http://schemas.openxmlformats.org/officeDocument/2006/relationships/notesMaster" Target="/ppt/notesMasters/notesMaster1.xml" Id="Rff0bd5ccfe36408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d0025c7066c401e" /><Relationship Type="http://schemas.openxmlformats.org/officeDocument/2006/relationships/notesMaster" Target="/ppt/notesMasters/notesMaster1.xml" Id="Rf5aaf4d22f6a4c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details supplied by entrant. Research prototype. Conceptual generated cover illustration, not a real device or patient. Built-in patients/device streams are fictional. Artwork prompt and provenance: public/presentation-assets/provenance.json.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contains actual non-null available observations from film-data.json before cutoff90. No interpolation beyond the released data is shown. Clinical motivation: KDIGO BP and Volume Management in Dialysis Conference Report2020, https://kdigo.org/wp-content/uploads/2017/02/KDIGO-BP-Volume-Management-in-Dialysis-Conference-Report.pdf . Competing mechanisms remain authored research models.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captured interface on an isolated synthetic database. Source: src/EvidenceJourney.tsx and video/submission_v05/capture.cjs. Patient RNL-014 at minute 90. Six journey sections are implemented, not a UI mockup.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implementation. Sources: backend/app.py PROJECT_DOCUMENTS, DB schema and endpoints; backend/model.py, history.py, mechanisms.py, discrimination.py, insights.py; src/api.ts; vite.config.ts. API functions run in one Python process, not separate microservices. SQLite is a local database. No NGINX, PostgreSQL, container orchestration, cloud deployment, authentication or live hospital integration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backend/history.py and history_fixtures.py. History contains authored synthetic sessions. Shrinkage, source lineage and ablation expose assumptions; no clinical parameter identification is established.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backend/model.py advance/pressure and backend/mechanisms.py infer/project/sensor_prediction. The schematic is a computational compartment model, not an anatomical diagram or a clinically validated whole-body simulator.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Values: film-data.json before, Meera/RNL-014 minute 90, hypothetical constant650mL/h. Each family has48 particles. Weights quantify relative compatibility inside this model bank, not diagnostic probabilities. Physiology outside the bank may be absent.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synthetic acquisition and posterior: film-data.json afterCO and interface capture. Source backend/measurement_fixtures.py. Output can fall with depleted circulation or limited modeled cardiac response. This reading does not identify a unique cause.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four series and all three states are literal values from film-data.json. Percentages may have minor rounding error. New editable chart and embedded workbook snapshot preserve the source values. Cardiac51.66% / volume46.17% afterCO; volume66.93% / cardiac31.78% afterRBV.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AfterCO snapshot adaptive planner. Volume median 83.87, 10th–90th81.25–86.40; cardiac87.81,84.40–90.53. Includes declared sensor SD 1.00% of start. Expected pair information0.39378 bits vs cuff0.00004 bits. Native range diagram represents displayed quantiles, not a fitted Gaussian curve. It does not promise resolution or treatment benefit.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synthetic RBV85.0 result from film-data.json afterRBV. No manually chosen resolving5.4 is required. The newly recomputed planner may continue or stop depending on feasible expected separation and guards. This example remains ambiguous.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backend/discrimination.py and mechanisms.py measurement_value. Information bits and action loss are separate units and should not be subtracted from each other. A useful discriminator can have nonpositive net action value. Clinical utility has not been elicited or validated.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backend/app.py measurements, acquisitions and lab_runs schema; corrections endpoint. Observation and availability time have different meanings. Artifact values are retained but excluded from assimilation. Saved report revisions do not change after later corrections.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docs/observed-v04.json models and history_increment. History increment compares history+dynamic with demographics+dynamic on the same cohort. MAE12.194,11.356,11.328,11.161mmHg. Empirical clock shift and exclusions constrain interpretation. DOI10.6084/m9.figshare.6260654.v3; https://www.nature.com/articles/s41597-019-0319-8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docs/observed-v04.json audit, interval and event_model. Endpoint requires currently non-low SBP and next distinct measured reading within5–35minutes. Missing events, false alerts and undercoverage remain visible. Raw observed data is not redistributed.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docs/policy-validation-v04.json. Mean regret0.23078no observation,0.22170fixed cuff,0.24472information gain,0.24145decision value. Earlier one-acquisition study. It does not validate current sequential selection. Paired decision-value delta vs cuff0.01975, interval[-0.00981,0.05996]. All768records and the metric amendment are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backend/app.py scenario guards, model.py alert states, mechanisms.py support_state, tests/test_model.py and test_discrimination.py. Current events, stale evidence and session completion block ranked scenario mutations. Poor model fit remains explicit. These are software guards, not a medical alarm specification.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Implemented backend/longitudinal.py, backend/fhir.py and app.py /longitudinal and /fhir. Compartment transport does not predict future BP or identify renal function. FHIR R4 collection is fictional and not certified for ABDM. Source standard https://hl7.org/fhir/R4/observation.html and https://nrces.in/ndhm/fhir/r4/ . Future integration is dashed and not an implemented connection.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work, not completed studies. Sources: docs/clinical-study-protocol.md, data-capture-schema.json, implementation-decisions-v04.md and model-card.md. Clinical collaborators, approvals, enrollment and prospective impact are not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source https://github.com/RAK2315/RENALIS and unlisted video https://youtu.be/ZcWNYMtM1tI . Sources and interpretations are in per-slide notes and README, docs/model-card.md, docs/observed-v04.json, docs/policy-validation-v04.json, research dossier and study protocol. No universal novelty or patient outcome benefit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4e51d881754b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e5cab7732c4b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4cab4bb37942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1284e9df1b47e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0c516a161f4ff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2316c7951c4b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0CE5D3-C860-43AB-8341-2F54EFCDAC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188CD5-EFBC-4BD6-AEA7-4A1E3A9ACA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1C4DD2E-2621-49BB-A1AF-D0705DE834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DD270B-628C-4CF6-95EF-F560827AAF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784872E-7011-4F29-AD7E-15FCBF8D3D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E31EB7-CF00-4531-8B61-0D49636D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C6003A-5AAD-4DE5-A2EB-88EBAD92E1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3C5E1E2-DEBC-43A5-985F-624C114BA53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8ED16A-2202-4BA9-B9BA-7A47A83275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573E0DD-85F7-49BE-9D0D-12543523AB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91bab395574697" /><Relationship Type="http://schemas.openxmlformats.org/officeDocument/2006/relationships/slideLayout" Target="/ppt/slideLayouts/slideLayout1.xml" Id="R0b231bf39d5c448c" /><Relationship Type="http://schemas.openxmlformats.org/officeDocument/2006/relationships/slideLayout" Target="/ppt/slideLayouts/slideLayout2.xml" Id="Re283d2123c964157" /><Relationship Type="http://schemas.openxmlformats.org/officeDocument/2006/relationships/slideLayout" Target="/ppt/slideLayouts/slideLayout3.xml" Id="Rc181f24d83734879" /><Relationship Type="http://schemas.openxmlformats.org/officeDocument/2006/relationships/slideLayout" Target="/ppt/slideLayouts/slideLayout4.xml" Id="R1b3efa0a3d754d4a" /><Relationship Type="http://schemas.openxmlformats.org/officeDocument/2006/relationships/slideLayout" Target="/ppt/slideLayouts/slideLayout5.xml" Id="R32d40365c55c43cb" /><Relationship Type="http://schemas.openxmlformats.org/officeDocument/2006/relationships/slideLayout" Target="/ppt/slideLayouts/slideLayout6.xml" Id="R71dc5aaec53440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231bf39d5c448c"/>
    <p:sldLayoutId xmlns:r="http://schemas.openxmlformats.org/officeDocument/2006/relationships" id="2147483650" r:id="Re283d2123c964157"/>
    <p:sldLayoutId xmlns:r="http://schemas.openxmlformats.org/officeDocument/2006/relationships" id="2147483651" r:id="Rc181f24d83734879"/>
    <p:sldLayoutId xmlns:r="http://schemas.openxmlformats.org/officeDocument/2006/relationships" id="2147483652" r:id="R1b3efa0a3d754d4a"/>
    <p:sldLayoutId xmlns:r="http://schemas.openxmlformats.org/officeDocument/2006/relationships" id="2147483653" r:id="R32d40365c55c43cb"/>
    <p:sldLayoutId xmlns:r="http://schemas.openxmlformats.org/officeDocument/2006/relationships" id="2147483654" r:id="R71dc5aaec53440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e4a1c63eb34f8d" /><Relationship Type="http://schemas.openxmlformats.org/officeDocument/2006/relationships/image" Target="/ppt/media/image.png" Id="R2e4c730aa0d64ae1" /><Relationship Type="http://schemas.openxmlformats.org/officeDocument/2006/relationships/notesSlide" Target="/ppt/notesSlides/notesSlide1.xml" Id="R5f7d71df935148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7bf8105e1449fd" /><Relationship Type="http://schemas.openxmlformats.org/officeDocument/2006/relationships/chart" Target="/ppt/slides/charts/chart1.xml" Id="Re514b04bb6dc4028" /><Relationship Type="http://schemas.openxmlformats.org/officeDocument/2006/relationships/notesSlide" Target="/ppt/notesSlides/notesSlide2.xml" Id="R0f79fc68f12c4f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675723c15845c4" /><Relationship Type="http://schemas.openxmlformats.org/officeDocument/2006/relationships/image" Target="/ppt/media/image2.png" Id="Rb3e1f6564490471f" /><Relationship Type="http://schemas.openxmlformats.org/officeDocument/2006/relationships/notesSlide" Target="/ppt/notesSlides/notesSlide3.xml" Id="R33b207a0bc164b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c95108132c4c81" /><Relationship Type="http://schemas.openxmlformats.org/officeDocument/2006/relationships/image" Target="/ppt/media/image3.png" Id="Rfdb6682563e24156" /><Relationship Type="http://schemas.openxmlformats.org/officeDocument/2006/relationships/image" Target="/ppt/media/image4.png" Id="R895cf15c149b4116" /><Relationship Type="http://schemas.openxmlformats.org/officeDocument/2006/relationships/image" Target="/ppt/media/image5.png" Id="R369a82fe487a4345" /><Relationship Type="http://schemas.openxmlformats.org/officeDocument/2006/relationships/image" Target="/ppt/media/image6.png" Id="Rd91f051d13ac4887" /><Relationship Type="http://schemas.openxmlformats.org/officeDocument/2006/relationships/image" Target="/ppt/media/image7.png" Id="Rc0a20a9e49824c45" /><Relationship Type="http://schemas.openxmlformats.org/officeDocument/2006/relationships/notesSlide" Target="/ppt/notesSlides/notesSlide4.xml" Id="Rc3dd3f8a201e49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02e4d6a3554301" /><Relationship Type="http://schemas.openxmlformats.org/officeDocument/2006/relationships/image" Target="/ppt/media/image8.png" Id="Rb619ad59970e4f73" /><Relationship Type="http://schemas.openxmlformats.org/officeDocument/2006/relationships/image" Target="/ppt/media/image9.png" Id="R37507b0dda6848eb" /><Relationship Type="http://schemas.openxmlformats.org/officeDocument/2006/relationships/image" Target="/ppt/media/image10.png" Id="R8342a479732d4b3b" /><Relationship Type="http://schemas.openxmlformats.org/officeDocument/2006/relationships/notesSlide" Target="/ppt/notesSlides/notesSlide5.xml" Id="R742e869df93443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86c83ecbb54c15" /><Relationship Type="http://schemas.openxmlformats.org/officeDocument/2006/relationships/image" Target="/ppt/media/image11.png" Id="Rc9df83ff4d0a4f6e" /><Relationship Type="http://schemas.openxmlformats.org/officeDocument/2006/relationships/image" Target="/ppt/media/image12.png" Id="Rf1f84b5d99cd4a7d" /><Relationship Type="http://schemas.openxmlformats.org/officeDocument/2006/relationships/image" Target="/ppt/media/image13.png" Id="R4c2cb636a191483a" /><Relationship Type="http://schemas.openxmlformats.org/officeDocument/2006/relationships/image" Target="/ppt/media/image14.png" Id="R219030302a044460" /><Relationship Type="http://schemas.openxmlformats.org/officeDocument/2006/relationships/notesSlide" Target="/ppt/notesSlides/notesSlide6.xml" Id="R07d09ce05ff343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53dc3329f346cd" /><Relationship Type="http://schemas.openxmlformats.org/officeDocument/2006/relationships/image" Target="/ppt/media/image15.png" Id="Rbb32281ff5b74848" /><Relationship Type="http://schemas.openxmlformats.org/officeDocument/2006/relationships/image" Target="/ppt/media/image16.png" Id="R8c0851e9d4d0454a" /><Relationship Type="http://schemas.openxmlformats.org/officeDocument/2006/relationships/image" Target="/ppt/media/image17.png" Id="R84e23dc6496a4924" /><Relationship Type="http://schemas.openxmlformats.org/officeDocument/2006/relationships/image" Target="/ppt/media/image18.png" Id="Rd3dcdc8ac2fe4736" /><Relationship Type="http://schemas.openxmlformats.org/officeDocument/2006/relationships/notesSlide" Target="/ppt/notesSlides/notesSlide7.xml" Id="R28df6b7911a74f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293638876f4a67" /><Relationship Type="http://schemas.openxmlformats.org/officeDocument/2006/relationships/image" Target="/ppt/media/image19.png" Id="R0a74ae145fb94bf1" /><Relationship Type="http://schemas.openxmlformats.org/officeDocument/2006/relationships/notesSlide" Target="/ppt/notesSlides/notesSlide8.xml" Id="Re332d761fcd947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4ac59854f6465d" /><Relationship Type="http://schemas.openxmlformats.org/officeDocument/2006/relationships/chart" Target="/ppt/slides/charts/chart2.xml" Id="R40e319e8dab3458a" /><Relationship Type="http://schemas.openxmlformats.org/officeDocument/2006/relationships/notesSlide" Target="/ppt/notesSlides/notesSlide9.xml" Id="R5e33108202bb41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4e3a303f9a4869" /><Relationship Type="http://schemas.openxmlformats.org/officeDocument/2006/relationships/notesSlide" Target="/ppt/notesSlides/notesSlide10.xml" Id="Rbeb6ac761c8c45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1593c8210444f5" /><Relationship Type="http://schemas.openxmlformats.org/officeDocument/2006/relationships/image" Target="/ppt/media/image20.png" Id="Ree0a10184da14185" /><Relationship Type="http://schemas.openxmlformats.org/officeDocument/2006/relationships/notesSlide" Target="/ppt/notesSlides/notesSlide11.xml" Id="R7bc30292be7544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4450c9070344df" /><Relationship Type="http://schemas.openxmlformats.org/officeDocument/2006/relationships/image" Target="/ppt/media/image21.png" Id="R426041bf84204f98" /><Relationship Type="http://schemas.openxmlformats.org/officeDocument/2006/relationships/image" Target="/ppt/media/image22.png" Id="R7240f8d78053431d" /><Relationship Type="http://schemas.openxmlformats.org/officeDocument/2006/relationships/notesSlide" Target="/ppt/notesSlides/notesSlide12.xml" Id="R630422888a8848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17c8479eec4e19" /><Relationship Type="http://schemas.openxmlformats.org/officeDocument/2006/relationships/image" Target="/ppt/media/image23.png" Id="R13d018895a4d4dec" /><Relationship Type="http://schemas.openxmlformats.org/officeDocument/2006/relationships/notesSlide" Target="/ppt/notesSlides/notesSlide13.xml" Id="R98c6c760fae441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5fc738ec4b499f" /><Relationship Type="http://schemas.openxmlformats.org/officeDocument/2006/relationships/chart" Target="/ppt/slides/charts/chart3.xml" Id="R0358436bbcdf4d25" /><Relationship Type="http://schemas.openxmlformats.org/officeDocument/2006/relationships/notesSlide" Target="/ppt/notesSlides/notesSlide14.xml" Id="R69434f5be93b46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9516b2e6b442e5" /><Relationship Type="http://schemas.openxmlformats.org/officeDocument/2006/relationships/notesSlide" Target="/ppt/notesSlides/notesSlide15.xml" Id="R2cb69080d65d4c2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ac7b8945fe4ff2" /><Relationship Type="http://schemas.openxmlformats.org/officeDocument/2006/relationships/chart" Target="/ppt/slides/charts/chart4.xml" Id="R9615f9fc344845cb" /><Relationship Type="http://schemas.openxmlformats.org/officeDocument/2006/relationships/notesSlide" Target="/ppt/notesSlides/notesSlide16.xml" Id="R4d73f9706558441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6352263384c81" /><Relationship Type="http://schemas.openxmlformats.org/officeDocument/2006/relationships/image" Target="/ppt/media/image24.png" Id="Rd87dc75df5df4158" /><Relationship Type="http://schemas.openxmlformats.org/officeDocument/2006/relationships/image" Target="/ppt/media/image25.png" Id="Rfd56552696f34410" /><Relationship Type="http://schemas.openxmlformats.org/officeDocument/2006/relationships/image" Target="/ppt/media/image26.png" Id="R96b7a6119d5c47af" /><Relationship Type="http://schemas.openxmlformats.org/officeDocument/2006/relationships/image" Target="/ppt/media/image27.png" Id="R2d2542732a214095" /><Relationship Type="http://schemas.openxmlformats.org/officeDocument/2006/relationships/notesSlide" Target="/ppt/notesSlides/notesSlide17.xml" Id="R9e1ca5e8ed37461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79d9c53155464a" /><Relationship Type="http://schemas.openxmlformats.org/officeDocument/2006/relationships/image" Target="/ppt/media/image28.png" Id="Re1ed6182eab64df9" /><Relationship Type="http://schemas.openxmlformats.org/officeDocument/2006/relationships/image" Target="/ppt/media/image29.png" Id="R1e0ea521cecb40ae" /><Relationship Type="http://schemas.openxmlformats.org/officeDocument/2006/relationships/image" Target="/ppt/media/image30.png" Id="Racf874a9d40143de" /><Relationship Type="http://schemas.openxmlformats.org/officeDocument/2006/relationships/image" Target="/ppt/media/image31.png" Id="R9ad2540a701b47ec" /><Relationship Type="http://schemas.openxmlformats.org/officeDocument/2006/relationships/notesSlide" Target="/ppt/notesSlides/notesSlide18.xml" Id="R054405b1a9b44fa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a944aadbd04b1d" /><Relationship Type="http://schemas.openxmlformats.org/officeDocument/2006/relationships/notesSlide" Target="/ppt/notesSlides/notesSlide19.xml" Id="R42dfa49e885e4bb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c68556a7af43b0" /><Relationship Type="http://schemas.openxmlformats.org/officeDocument/2006/relationships/notesSlide" Target="/ppt/notesSlides/notesSlide20.xml" Id="Rbaa8fe00d9bc494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Observed synthetic SBP</c:v>
          </c:tx>
          <c:spPr>
            <a:ln xmlns:a="http://schemas.openxmlformats.org/drawingml/2006/main" w="38100">
              <a:solidFill>
                <a:srgbClr val="147D83"/>
              </a:solidFill>
            </a:ln>
          </c:spPr>
          <c:marker>
            <c:symbol val="circle"/>
            <c:size val="6"/>
            <c:spPr>
              <a:solidFill xmlns:a="http://schemas.openxmlformats.org/drawingml/2006/main">
                <a:srgbClr val="147D83"/>
              </a:solidFill>
            </c:spPr>
          </c:marker>
          <c:cat>
            <c:numRef>
              <c:f>'Chart Data'!$A$2:$A$20</c:f>
              <c:numCache>
                <c:formatCode>General</c:formatCode>
                <c:ptCount val="19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</c:numCache>
            </c:numRef>
          </c:cat>
          <c:val>
            <c:numRef>
              <c:f>'Chart Data'!$B$2:$B$20</c:f>
              <c:numCache>
                <c:formatCode>0.0</c:formatCode>
                <c:ptCount val="19"/>
                <c:pt idx="0">
                  <c:v>148.5</c:v>
                </c:pt>
                <c:pt idx="1">
                  <c:v>146.3</c:v>
                </c:pt>
                <c:pt idx="2">
                  <c:v>144.5</c:v>
                </c:pt>
                <c:pt idx="3">
                  <c:v>142</c:v>
                </c:pt>
                <c:pt idx="4">
                  <c:v>141</c:v>
                </c:pt>
                <c:pt idx="5">
                  <c:v>134.8</c:v>
                </c:pt>
                <c:pt idx="6">
                  <c:v>133</c:v>
                </c:pt>
                <c:pt idx="7">
                  <c:v>128.4</c:v>
                </c:pt>
                <c:pt idx="8">
                  <c:v>129.6</c:v>
                </c:pt>
                <c:pt idx="9">
                  <c:v>127</c:v>
                </c:pt>
                <c:pt idx="10">
                  <c:v>125.8</c:v>
                </c:pt>
                <c:pt idx="11">
                  <c:v>116.2</c:v>
                </c:pt>
                <c:pt idx="12">
                  <c:v>113</c:v>
                </c:pt>
                <c:pt idx="13">
                  <c:v>110.5</c:v>
                </c:pt>
                <c:pt idx="14">
                  <c:v>111.3</c:v>
                </c:pt>
                <c:pt idx="15">
                  <c:v>103.7</c:v>
                </c:pt>
                <c:pt idx="16">
                  <c:v>103.7</c:v>
                </c:pt>
                <c:pt idx="17">
                  <c:v>96</c:v>
                </c:pt>
                <c:pt idx="18">
                  <c:v>95.9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02B3B"/>
                  </a:solidFill>
                  <a:latin typeface="Segoe UI"/>
                  <a:ea typeface="Segoe UI"/>
                  <a:cs typeface="Segoe U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F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  <c:max val="160"/>
          <c:min val="6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F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B3B"/>
                    </a:solidFill>
                    <a:latin typeface="Segoe UI"/>
                    <a:ea typeface="Segoe UI"/>
                    <a:cs typeface="Segoe UI"/>
                  </a:rPr>
                  <a:t>SBP (mmHg)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B3B"/>
                  </a:solidFill>
                  <a:latin typeface="Segoe UI"/>
                  <a:ea typeface="Segoe UI"/>
                  <a:cs typeface="Segoe U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Volume / refill</c:v>
          </c:tx>
          <c:spPr>
            <a:solidFill xmlns:a="http://schemas.openxmlformats.org/drawingml/2006/main">
              <a:srgbClr val="63DBC0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BP only</c:v>
                </c:pt>
                <c:pt idx="1">
                  <c:v>After CO 3.74</c:v>
                </c:pt>
                <c:pt idx="2">
                  <c:v>After RBV 85.0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0.2493</c:v>
                </c:pt>
                <c:pt idx="1">
                  <c:v>0.4617</c:v>
                </c:pt>
                <c:pt idx="2">
                  <c:v>0.6693</c:v>
                </c:pt>
              </c:numCache>
            </c:numRef>
          </c:val>
        </c:ser>
        <c:ser>
          <c:idx val="1"/>
          <c:order val="1"/>
          <c:tx>
            <c:v>Vascular response</c:v>
          </c:tx>
          <c:spPr>
            <a:solidFill xmlns:a="http://schemas.openxmlformats.org/drawingml/2006/main">
              <a:srgbClr val="FFA383"/>
            </a:solidFill>
          </c:spPr>
          <c:invertIfNegative val="0"/>
          <c:dLbls>
            <c:dLbl>
              <c:idx val="1"/>
              <c:showVal val="0"/>
            </c:dLbl>
            <c:dLbl>
              <c:idx val="2"/>
              <c:showVal val="0"/>
            </c:dLbl>
          </c:dLbls>
          <c:cat>
            <c:strRef>
              <c:f>'Chart Data'!$C$2:$C$4</c:f>
              <c:strCache>
                <c:ptCount val="3"/>
                <c:pt idx="0">
                  <c:v>BP only</c:v>
                </c:pt>
                <c:pt idx="1">
                  <c:v>After CO 3.74</c:v>
                </c:pt>
                <c:pt idx="2">
                  <c:v>After RBV 85.0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0.2499</c:v>
                </c:pt>
                <c:pt idx="1">
                  <c:v>0.0001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v>Cardiac response</c:v>
          </c:tx>
          <c:spPr>
            <a:solidFill xmlns:a="http://schemas.openxmlformats.org/drawingml/2006/main">
              <a:srgbClr val="B1A1FF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BP only</c:v>
                </c:pt>
                <c:pt idx="1">
                  <c:v>After CO 3.74</c:v>
                </c:pt>
                <c:pt idx="2">
                  <c:v>After RBV 85.0</c:v>
                </c:pt>
              </c:strCache>
            </c:strRef>
          </c:cat>
          <c:val>
            <c:numRef>
              <c:f>'Chart Data'!$F$2:$F$4</c:f>
              <c:numCache>
                <c:formatCode>0%</c:formatCode>
                <c:ptCount val="3"/>
                <c:pt idx="0">
                  <c:v>0.2502</c:v>
                </c:pt>
                <c:pt idx="1">
                  <c:v>0.5166</c:v>
                </c:pt>
                <c:pt idx="2">
                  <c:v>0.3178</c:v>
                </c:pt>
              </c:numCache>
            </c:numRef>
          </c:val>
        </c:ser>
        <c:ser>
          <c:idx val="3"/>
          <c:order val="3"/>
          <c:tx>
            <c:v>Mixed response</c:v>
          </c:tx>
          <c:spPr>
            <a:solidFill xmlns:a="http://schemas.openxmlformats.org/drawingml/2006/main">
              <a:srgbClr val="65C9F1"/>
            </a:solidFill>
          </c:spPr>
          <c:invertIfNegative val="0"/>
          <c:dLbls>
            <c:dLbl>
              <c:idx val="1"/>
              <c:showVal val="0"/>
            </c:dLbl>
            <c:dLbl>
              <c:idx val="2"/>
              <c:showVal val="0"/>
            </c:dLbl>
          </c:dLbls>
          <c:cat>
            <c:strRef>
              <c:f>'Chart Data'!$G$2:$G$4</c:f>
              <c:strCache>
                <c:ptCount val="3"/>
                <c:pt idx="0">
                  <c:v>BP only</c:v>
                </c:pt>
                <c:pt idx="1">
                  <c:v>After CO 3.74</c:v>
                </c:pt>
                <c:pt idx="2">
                  <c:v>After RBV 85.0</c:v>
                </c:pt>
              </c:strCache>
            </c:strRef>
          </c:cat>
          <c:val>
            <c:numRef>
              <c:f>'Chart Data'!$H$2:$H$4</c:f>
              <c:numCache>
                <c:formatCode>0%</c:formatCode>
                <c:ptCount val="3"/>
                <c:pt idx="0">
                  <c:v>0.2505</c:v>
                </c:pt>
                <c:pt idx="1">
                  <c:v>0.0216</c:v>
                </c:pt>
                <c:pt idx="2">
                  <c:v>0.0128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02B3B"/>
                  </a:solidFill>
                  <a:latin typeface="Segoe UI"/>
                  <a:ea typeface="Segoe UI"/>
                  <a:cs typeface="Segoe U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F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F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B3B"/>
                    </a:solidFill>
                    <a:latin typeface="Segoe UI"/>
                    <a:ea typeface="Segoe UI"/>
                    <a:cs typeface="Segoe UI"/>
                  </a:rPr>
                  <a:t>Relative model support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B3B"/>
                  </a:solidFill>
                  <a:latin typeface="Segoe UI"/>
                  <a:ea typeface="Segoe UI"/>
                  <a:cs typeface="Segoe UI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102B3B"/>
              </a:solidFill>
              <a:latin typeface="Segoe UI"/>
              <a:ea typeface="Segoe UI"/>
              <a:cs typeface="Segoe UI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Test MAE</c:v>
          </c:tx>
          <c:spPr>
            <a:solidFill xmlns:a="http://schemas.openxmlformats.org/drawingml/2006/main">
              <a:srgbClr val="147D83"/>
            </a:solidFill>
          </c:spPr>
          <c:invertIfNegative val="0"/>
          <c:dPt>
            <c:idx val="3"/>
            <c:invertIfNegative val="0"/>
            <c:spPr>
              <a:solidFill xmlns:a="http://schemas.openxmlformats.org/drawingml/2006/main">
                <a:srgbClr val="183E56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Persistence</c:v>
                </c:pt>
                <c:pt idx="1">
                  <c:v>Dynamic</c:v>
                </c:pt>
                <c:pt idx="2">
                  <c:v>Demographics
+ dynamic</c:v>
                </c:pt>
                <c:pt idx="3">
                  <c:v>History
+ dynamic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12.194</c:v>
                </c:pt>
                <c:pt idx="1">
                  <c:v>11.356</c:v>
                </c:pt>
                <c:pt idx="2">
                  <c:v>11.328</c:v>
                </c:pt>
                <c:pt idx="3">
                  <c:v>11.161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02B3B"/>
                  </a:solidFill>
                  <a:latin typeface="Segoe UI"/>
                  <a:ea typeface="Segoe UI"/>
                  <a:cs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F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  <c:max val="1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F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B3B"/>
                    </a:solidFill>
                    <a:latin typeface="Segoe UI"/>
                    <a:ea typeface="Segoe UI"/>
                    <a:cs typeface="Segoe UI"/>
                  </a:rPr>
                  <a:t>MAE (mmHg)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B3B"/>
                  </a:solidFill>
                  <a:latin typeface="Segoe UI"/>
                  <a:ea typeface="Segoe UI"/>
                  <a:cs typeface="Segoe U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regret</c:v>
          </c:tx>
          <c:spPr>
            <a:solidFill xmlns:a="http://schemas.openxmlformats.org/drawingml/2006/main">
              <a:srgbClr val="B96D4D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147D83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No observation</c:v>
                </c:pt>
                <c:pt idx="1">
                  <c:v>Fixed cuff</c:v>
                </c:pt>
                <c:pt idx="2">
                  <c:v>Information gain</c:v>
                </c:pt>
                <c:pt idx="3">
                  <c:v>Decision value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0.23078</c:v>
                </c:pt>
                <c:pt idx="1">
                  <c:v>0.2217</c:v>
                </c:pt>
                <c:pt idx="2">
                  <c:v>0.24472</c:v>
                </c:pt>
                <c:pt idx="3">
                  <c:v>0.24145</c:v>
                </c:pt>
              </c:numCache>
            </c:numRef>
          </c:val>
        </c:ser>
        <c:dLbls>
          <c:numFmt formatCode="0.0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02B3B"/>
                  </a:solidFill>
                  <a:latin typeface="Segoe UI"/>
                  <a:ea typeface="Segoe UI"/>
                  <a:cs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2DFE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  <c:max val="0.3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2DFE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rgbClr val="102B3B"/>
                    </a:solidFill>
                    <a:latin typeface="Segoe UI"/>
                    <a:ea typeface="Segoe UI"/>
                    <a:cs typeface="Segoe UI"/>
                  </a:rPr>
                  <a:t>Mean physiology regret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02B3B"/>
                  </a:solidFill>
                  <a:latin typeface="Segoe UI"/>
                  <a:ea typeface="Segoe UI"/>
                  <a:cs typeface="Segoe U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9F02C-F2E2-408B-81FD-05AC0F134C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c730aa0d64ae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RENALIS">
            <a:extLst xmlns:a="http://schemas.openxmlformats.org/drawingml/2006/main">
              <a:ext uri="{FF2B5EF4-FFF2-40B4-BE49-F238E27FC236}">
                <a16:creationId xmlns:a16="http://schemas.microsoft.com/office/drawing/2014/main" id="{024787EF-BDC1-4698-919B-31933410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7620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7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7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7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7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7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7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7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7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7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7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7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7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RENALIS</a:t>
            </a:r>
          </a:p>
        </p:txBody>
      </p:sp>
      <p:sp>
        <p:nvSpPr>
          <p:cNvPr id="3" name="Evidence-aware&#10;dialysis digital twin">
            <a:extLst xmlns:a="http://schemas.openxmlformats.org/drawingml/2006/main">
              <a:ext uri="{FF2B5EF4-FFF2-40B4-BE49-F238E27FC236}">
                <a16:creationId xmlns:a16="http://schemas.microsoft.com/office/drawing/2014/main" id="{B85ACC88-7F29-40E9-AD54-87E9B3FF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29000"/>
            <a:ext cx="666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6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6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6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6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6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6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6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6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6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Evidence-aware</a:t>
            </a:r>
          </a:p>
          <a:p xmlns:a="http://schemas.openxmlformats.org/drawingml/2006/main">
            <a:pPr>
              <a:defRPr sz="36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dialysis digital twin</a:t>
            </a:r>
          </a:p>
        </p:txBody>
      </p:sp>
      <p:sp>
        <p:nvSpPr>
          <p:cNvPr id="4" name="Competing explanations.&#10;A better next measurement question.">
            <a:extLst xmlns:a="http://schemas.openxmlformats.org/drawingml/2006/main">
              <a:ext uri="{FF2B5EF4-FFF2-40B4-BE49-F238E27FC236}">
                <a16:creationId xmlns:a16="http://schemas.microsoft.com/office/drawing/2014/main" id="{D66E0B07-9BED-466A-ADDD-E60203C9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24475"/>
            <a:ext cx="628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Competing explanations.</a:t>
            </a:r>
          </a:p>
          <a:p xmlns:a="http://schemas.openxmlformats.org/drawingml/2006/main">
            <a: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A better next measurement question.</a:t>
            </a:r>
          </a:p>
        </p:txBody>
      </p:sp>
      <p:sp>
        <p:nvSpPr>
          <p:cNvPr id="5" name="TEAM SIGMOID">
            <a:extLst xmlns:a="http://schemas.openxmlformats.org/drawingml/2006/main">
              <a:ext uri="{FF2B5EF4-FFF2-40B4-BE49-F238E27FC236}">
                <a16:creationId xmlns:a16="http://schemas.microsoft.com/office/drawing/2014/main" id="{70B8412A-9213-43CA-9367-F1873722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675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63DBC0"/>
                </a:solidFill>
                <a:latin typeface="Segoe UI"/>
                <a:ea typeface="Segoe UI"/>
                <a:cs typeface="Segoe UI"/>
              </a:rPr>
              <a:t>TEAM SIGMOID</a:t>
            </a:r>
          </a:p>
        </p:txBody>
      </p:sp>
      <p:sp>
        <p:nvSpPr>
          <p:cNvPr id="6" name="Rehaan / JSS University, Noida">
            <a:extLst xmlns:a="http://schemas.openxmlformats.org/drawingml/2006/main">
              <a:ext uri="{FF2B5EF4-FFF2-40B4-BE49-F238E27FC236}">
                <a16:creationId xmlns:a16="http://schemas.microsoft.com/office/drawing/2014/main" id="{02898B8B-944F-4B68-A4EC-8B92552A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24750"/>
            <a:ext cx="638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Rehaan / JSS University, Noida</a:t>
            </a:r>
          </a:p>
        </p:txBody>
      </p:sp>
    </p:spTree>
    <p:extLst>
      <p:ext uri="{BB962C8B-B14F-4D97-AF65-F5344CB8AC3E}">
        <p14:creationId xmlns:p14="http://schemas.microsoft.com/office/powerpoint/2010/main" val="18431067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One BP trace can support several explanations">
            <a:extLst xmlns:a="http://schemas.openxmlformats.org/drawingml/2006/main">
              <a:ext uri="{FF2B5EF4-FFF2-40B4-BE49-F238E27FC236}">
                <a16:creationId xmlns:a16="http://schemas.microsoft.com/office/drawing/2014/main" id="{539C3982-A5EA-47FB-B514-4F5DCEE4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02B3B"/>
                </a:solidFill>
                <a:latin typeface="Segoe UI"/>
                <a:ea typeface="Segoe UI"/>
                <a:cs typeface="Segoe UI"/>
              </a:rPr>
              <a:t>One BP trace can support several explanations</a:t>
            </a:r>
          </a:p>
        </p:txBody>
      </p:sp>
      <p:sp>
        <p:nvSpPr>
          <p:cNvPr id="2" name="An observation can narrow uncertainty without identifying a ">
            <a:extLst xmlns:a="http://schemas.openxmlformats.org/drawingml/2006/main">
              <a:ext uri="{FF2B5EF4-FFF2-40B4-BE49-F238E27FC236}">
                <a16:creationId xmlns:a16="http://schemas.microsoft.com/office/drawing/2014/main" id="{1CC74835-4053-495A-8CA2-A612AD8D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16F7D"/>
                </a:solidFill>
                <a:latin typeface="Segoe UI"/>
                <a:ea typeface="Segoe UI"/>
                <a:cs typeface="Segoe UI"/>
              </a:rPr>
              <a:t>An observation can narrow uncertainty without identifying a unique physiological cause.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CB8E5-FBF8-41AA-90B0-2E314ED6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8DA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109A1BFC-64FC-4750-AE16-B7E93720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B7884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2F915B4F-3BBA-457A-8D6A-444E856E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02B3B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CAF4D5F-7B4C-4E12-80D9-86913CA8FD90}"/>
              </a:ext>
            </a:extLst>
          </p:cNvPr>
          <p:cNvGraphicFramePr/>
          <p:nvPr/>
        </p:nvGraphicFramePr>
        <p:xfrm>
          <a:off xmlns:a="http://schemas.openxmlformats.org/drawingml/2006/main" x="619125" y="2343150"/>
          <a:ext xmlns:a="http://schemas.openxmlformats.org/drawingml/2006/main" cx="92392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14b04bb6dc4028"/>
          </a:graphicData>
        </a:graphic>
      </p:graphicFrame>
      <p:sp>
        <p:nvSpPr>
          <p:cNvPr id="7" name="Elapsed session minutes">
            <a:extLst xmlns:a="http://schemas.openxmlformats.org/drawingml/2006/main">
              <a:ext uri="{FF2B5EF4-FFF2-40B4-BE49-F238E27FC236}">
                <a16:creationId xmlns:a16="http://schemas.microsoft.com/office/drawing/2014/main" id="{66F4C9F4-B003-466D-B1FB-FC26D405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9532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16F7D"/>
                </a:solidFill>
                <a:latin typeface="Segoe UI"/>
                <a:ea typeface="Segoe UI"/>
                <a:cs typeface="Segoe UI"/>
              </a:rPr>
              <a:t>Elapsed session minutes</a:t>
            </a:r>
          </a:p>
        </p:txBody>
      </p:sp>
      <p:sp>
        <p:nvSpPr>
          <p:cNvPr id="8" name="The missing variable">
            <a:extLst xmlns:a="http://schemas.openxmlformats.org/drawingml/2006/main">
              <a:ext uri="{FF2B5EF4-FFF2-40B4-BE49-F238E27FC236}">
                <a16:creationId xmlns:a16="http://schemas.microsoft.com/office/drawing/2014/main" id="{9E65CC07-7D42-4ED4-98A1-608CA65F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5270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02B3B"/>
                </a:solidFill>
                <a:latin typeface="Segoe UI"/>
                <a:ea typeface="Segoe UI"/>
                <a:cs typeface="Segoe UI"/>
              </a:rPr>
              <a:t>The missing variable</a:t>
            </a:r>
          </a:p>
        </p:txBody>
      </p:sp>
      <p:sp>
        <p:nvSpPr>
          <p:cNvPr id="9" name="Is the pressure change&#10;more compatible with&#10;volume, vascular">
            <a:extLst xmlns:a="http://schemas.openxmlformats.org/drawingml/2006/main">
              <a:ext uri="{FF2B5EF4-FFF2-40B4-BE49-F238E27FC236}">
                <a16:creationId xmlns:a16="http://schemas.microsoft.com/office/drawing/2014/main" id="{EC05705F-0523-4F61-9199-740DC62E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05175"/>
            <a:ext cx="3810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defPPr>
            <a:lvl1pPr>
              <a:defRPr sz="2475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1pPr>
            <a:lvl2pPr>
              <a:defRPr sz="2475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2pPr>
            <a:lvl3pPr>
              <a:defRPr sz="2475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3pPr>
            <a:lvl4pPr>
              <a:defRPr sz="2475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4pPr>
            <a:lvl5pPr>
              <a:defRPr sz="2475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5pPr>
            <a:lvl6pPr>
              <a:defRPr sz="2475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6pPr>
            <a:lvl7pPr>
              <a:defRPr sz="2475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7pPr>
            <a:lvl8pPr>
              <a:defRPr sz="2475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8pPr>
            <a:lvl9pPr>
              <a:defRPr sz="2475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02B3B"/>
                </a:solidFill>
                <a:latin typeface="Segoe UI"/>
                <a:ea typeface="Segoe UI"/>
                <a:cs typeface="Segoe UI"/>
              </a:rPr>
              <a:t>Is the pressure change</a:t>
            </a:r>
          </a:p>
          <a:p xmlns:a="http://schemas.openxmlformats.org/drawingml/2006/main">
            <a:pPr>
              <a:defRPr sz="2475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02B3B"/>
                </a:solidFill>
                <a:latin typeface="Segoe UI"/>
                <a:ea typeface="Segoe UI"/>
                <a:cs typeface="Segoe UI"/>
              </a:rPr>
              <a:t>more compatible with</a:t>
            </a:r>
          </a:p>
          <a:p xmlns:a="http://schemas.openxmlformats.org/drawingml/2006/main">
            <a:pPr>
              <a:defRPr sz="2475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02B3B"/>
                </a:solidFill>
                <a:latin typeface="Segoe UI"/>
                <a:ea typeface="Segoe UI"/>
                <a:cs typeface="Segoe UI"/>
              </a:rPr>
              <a:t>volume, vascular or</a:t>
            </a:r>
          </a:p>
          <a:p xmlns:a="http://schemas.openxmlformats.org/drawingml/2006/main">
            <a:pPr>
              <a:defRPr sz="2475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pPr>
            <a:r>
              <a:rPr sz="2475" b="0">
                <a:solidFill>
                  <a:srgbClr val="102B3B"/>
                </a:solidFill>
                <a:latin typeface="Segoe UI"/>
                <a:ea typeface="Segoe UI"/>
                <a:cs typeface="Segoe UI"/>
              </a:rPr>
              <a:t>cardiac response?</a:t>
            </a:r>
          </a:p>
        </p:txBody>
      </p:sp>
      <p:sp>
        <p:nvSpPr>
          <p:cNvPr id="10" name="Synthetic replay at minute 90">
            <a:extLst xmlns:a="http://schemas.openxmlformats.org/drawingml/2006/main">
              <a:ext uri="{FF2B5EF4-FFF2-40B4-BE49-F238E27FC236}">
                <a16:creationId xmlns:a16="http://schemas.microsoft.com/office/drawing/2014/main" id="{24C8D26F-3538-408A-AA7F-AD3475E4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960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16F7D"/>
                </a:solidFill>
                <a:latin typeface="Segoe UI"/>
                <a:ea typeface="Segoe UI"/>
                <a:cs typeface="Segoe UI"/>
              </a:rPr>
              <a:t>Synthetic replay at minute 90</a:t>
            </a:r>
          </a:p>
        </p:txBody>
      </p:sp>
    </p:spTree>
    <p:extLst>
      <p:ext uri="{BB962C8B-B14F-4D97-AF65-F5344CB8AC3E}">
        <p14:creationId xmlns:p14="http://schemas.microsoft.com/office/powerpoint/2010/main" val="6115993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he research workspace">
            <a:extLst xmlns:a="http://schemas.openxmlformats.org/drawingml/2006/main">
              <a:ext uri="{FF2B5EF4-FFF2-40B4-BE49-F238E27FC236}">
                <a16:creationId xmlns:a16="http://schemas.microsoft.com/office/drawing/2014/main" id="{087F6F1A-8E8F-477B-AA8F-08B51A5C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The research workspace</a:t>
            </a:r>
          </a:p>
        </p:txBody>
      </p:sp>
      <p:sp>
        <p:nvSpPr>
          <p:cNvPr id="2" name="One evidence cutoff connects the patient replay, hypotheses ">
            <a:extLst xmlns:a="http://schemas.openxmlformats.org/drawingml/2006/main">
              <a:ext uri="{FF2B5EF4-FFF2-40B4-BE49-F238E27FC236}">
                <a16:creationId xmlns:a16="http://schemas.microsoft.com/office/drawing/2014/main" id="{CFD84ECF-A56F-45E4-AFAB-1CB04CFE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One evidence cutoff connects the patient replay, hypotheses and acquisition history.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3AFC0-6936-4DB3-A281-B458DC87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1EA0E1DE-3648-402C-A3BF-3C9146DC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C8658640-006E-47C2-B189-EAE5F476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DF5F9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16E7E-86ED-454A-BC51-BCE8777F28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1f6564490471f"/>
          <a:stretch xmlns:a="http://schemas.openxmlformats.org/drawingml/2006/main"/>
        </p:blipFill>
        <p:spPr>
          <a:xfrm xmlns:a="http://schemas.openxmlformats.org/drawingml/2006/main">
            <a:off x="4444471" y="2133600"/>
            <a:ext cx="9922933" cy="5581650"/>
          </a:xfrm>
          <a:prstGeom xmlns:a="http://schemas.openxmlformats.org/drawingml/2006/main" prst="rect">
            <a:avLst/>
          </a:prstGeom>
        </p:spPr>
      </p:pic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BAE60919-6DD4-4052-BFA7-63F7EE36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2764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63DBC0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Learn">
            <a:extLst xmlns:a="http://schemas.openxmlformats.org/drawingml/2006/main">
              <a:ext uri="{FF2B5EF4-FFF2-40B4-BE49-F238E27FC236}">
                <a16:creationId xmlns:a16="http://schemas.microsoft.com/office/drawing/2014/main" id="{17CA1170-2AA7-47F0-91BE-674934C7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238375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Learn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3D6970CB-448D-42EB-9B80-84711A1F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4325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63DBC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0" name="Understand">
            <a:extLst xmlns:a="http://schemas.openxmlformats.org/drawingml/2006/main">
              <a:ext uri="{FF2B5EF4-FFF2-40B4-BE49-F238E27FC236}">
                <a16:creationId xmlns:a16="http://schemas.microsoft.com/office/drawing/2014/main" id="{3A77BCCD-58B5-4E5B-B5A1-3CB7F310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051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Understand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D800FD68-92F0-480B-B430-244710BF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1002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63DBC0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2" name="Compare">
            <a:extLst xmlns:a="http://schemas.openxmlformats.org/drawingml/2006/main">
              <a:ext uri="{FF2B5EF4-FFF2-40B4-BE49-F238E27FC236}">
                <a16:creationId xmlns:a16="http://schemas.microsoft.com/office/drawing/2014/main" id="{75696ED0-3AC7-4F57-A98E-E3A1B8B8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71925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Compare</a:t>
            </a:r>
          </a:p>
        </p:txBody>
      </p:sp>
      <p:sp>
        <p:nvSpPr>
          <p:cNvPr id="13" name="04">
            <a:extLst xmlns:a="http://schemas.openxmlformats.org/drawingml/2006/main">
              <a:ext uri="{FF2B5EF4-FFF2-40B4-BE49-F238E27FC236}">
                <a16:creationId xmlns:a16="http://schemas.microsoft.com/office/drawing/2014/main" id="{66FA4D50-6838-4CFE-8547-D2ACEA58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7680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63DBC0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4" name="Ask">
            <a:extLst xmlns:a="http://schemas.openxmlformats.org/drawingml/2006/main">
              <a:ext uri="{FF2B5EF4-FFF2-40B4-BE49-F238E27FC236}">
                <a16:creationId xmlns:a16="http://schemas.microsoft.com/office/drawing/2014/main" id="{2B0FE670-602A-40BF-9360-9A47DEF2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3870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Ask</a:t>
            </a:r>
          </a:p>
        </p:txBody>
      </p:sp>
      <p:sp>
        <p:nvSpPr>
          <p:cNvPr id="15" name="05">
            <a:extLst xmlns:a="http://schemas.openxmlformats.org/drawingml/2006/main">
              <a:ext uri="{FF2B5EF4-FFF2-40B4-BE49-F238E27FC236}">
                <a16:creationId xmlns:a16="http://schemas.microsoft.com/office/drawing/2014/main" id="{7CD4DC39-4DD1-4444-BB56-50C004DA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435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63DBC0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16" name="Review">
            <a:extLst xmlns:a="http://schemas.openxmlformats.org/drawingml/2006/main">
              <a:ext uri="{FF2B5EF4-FFF2-40B4-BE49-F238E27FC236}">
                <a16:creationId xmlns:a16="http://schemas.microsoft.com/office/drawing/2014/main" id="{5BC16D97-FFB8-464B-ADC3-6FDFAF57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05475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Review</a:t>
            </a:r>
          </a:p>
        </p:txBody>
      </p:sp>
      <p:sp>
        <p:nvSpPr>
          <p:cNvPr id="17" name="06">
            <a:extLst xmlns:a="http://schemas.openxmlformats.org/drawingml/2006/main">
              <a:ext uri="{FF2B5EF4-FFF2-40B4-BE49-F238E27FC236}">
                <a16:creationId xmlns:a16="http://schemas.microsoft.com/office/drawing/2014/main" id="{0C7105B5-5961-434D-880E-B1908DCA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610350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defPPr>
            <a:lvl1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1pPr>
            <a:lvl2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2pPr>
            <a:lvl3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3pPr>
            <a:lvl4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4pPr>
            <a:lvl5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5pPr>
            <a:lvl6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6pPr>
            <a:lvl7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7pPr>
            <a:lvl8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8pPr>
            <a:lvl9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63DBC0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18" name="Verify">
            <a:extLst xmlns:a="http://schemas.openxmlformats.org/drawingml/2006/main">
              <a:ext uri="{FF2B5EF4-FFF2-40B4-BE49-F238E27FC236}">
                <a16:creationId xmlns:a16="http://schemas.microsoft.com/office/drawing/2014/main" id="{B9A7209D-2948-454B-800A-7AEF02B8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572250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Verify</a:t>
            </a:r>
          </a:p>
        </p:txBody>
      </p:sp>
    </p:spTree>
    <p:extLst>
      <p:ext uri="{BB962C8B-B14F-4D97-AF65-F5344CB8AC3E}">
        <p14:creationId xmlns:p14="http://schemas.microsoft.com/office/powerpoint/2010/main" val="16381568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DA0945-DC20-49E4-889F-BC6D057B7C2A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334500" y="3929063"/>
            <a:ext cx="1047750" cy="1423988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FFA383"/>
            </a:solidFill>
            <a:prstDash val="solid"/>
            <a:tailEnd type="triangle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163177-7F59-42FE-9366-2C3333FAA83B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9334500" y="3286125"/>
            <a:ext cx="1047750" cy="642938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B1A1FF"/>
            </a:solidFill>
            <a:prstDash val="solid"/>
            <a:tailEnd type="triangl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7DB0E5-32DA-4360-8F81-6C9D29261225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429250" y="3929063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5C9F1"/>
            </a:solidFill>
            <a:prstDash val="solid"/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1D7713-9544-43E9-BEF9-499A54B0394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352675" y="3929063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5C9F1"/>
            </a:solidFill>
            <a:prstDash val="solid"/>
            <a:tailEnd type="triangle" w="med" len="med"/>
          </a:ln>
        </p:spPr>
      </p:cxnSp>
      <p:sp>
        <p:nvSpPr>
          <p:cNvPr id="41" name="System containers">
            <a:extLst xmlns:a="http://schemas.openxmlformats.org/drawingml/2006/main">
              <a:ext uri="{FF2B5EF4-FFF2-40B4-BE49-F238E27FC236}">
                <a16:creationId xmlns:a16="http://schemas.microsoft.com/office/drawing/2014/main" id="{A101BB6B-DEDA-4D74-BC0C-46C2C566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System containers</a:t>
            </a:r>
          </a:p>
        </p:txBody>
      </p:sp>
      <p:sp>
        <p:nvSpPr>
          <p:cNvPr id="2" name="Current local implementation. Browser requests stay separate">
            <a:extLst xmlns:a="http://schemas.openxmlformats.org/drawingml/2006/main">
              <a:ext uri="{FF2B5EF4-FFF2-40B4-BE49-F238E27FC236}">
                <a16:creationId xmlns:a16="http://schemas.microsoft.com/office/drawing/2014/main" id="{F88B8D8C-922D-43ED-9C75-0E79C7F7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Current local implementation. Browser requests stay separate from offline evaluation.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0F091-AB67-40A3-B7A8-876B5B53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114E6E58-03C1-4A4B-952D-29D0F847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A02DE56C-0369-456C-B3ED-CB2D1471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DF5F9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D395E-1007-474A-88F4-370E83F7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76450"/>
            <a:ext cx="12001500" cy="5238750"/>
          </a:xfrm>
          <a:prstGeom xmlns:a="http://schemas.openxmlformats.org/drawingml/2006/main" prst="roundRect">
            <a:avLst>
              <a:gd name="adj" fmla="val 3636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sp>
        <p:nvSpPr>
          <p:cNvPr id="7" name="LOCAL RESEARCH WORKSPACE">
            <a:extLst xmlns:a="http://schemas.openxmlformats.org/drawingml/2006/main">
              <a:ext uri="{FF2B5EF4-FFF2-40B4-BE49-F238E27FC236}">
                <a16:creationId xmlns:a16="http://schemas.microsoft.com/office/drawing/2014/main" id="{64F0EE23-53C5-45B1-BA02-33B1CC70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90750"/>
            <a:ext cx="1166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defPPr>
            <a:lvl1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1pPr>
            <a:lvl2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2pPr>
            <a:lvl3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3pPr>
            <a:lvl4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4pPr>
            <a:lvl5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5pPr>
            <a:lvl6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6pPr>
            <a:lvl7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7pPr>
            <a:lvl8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8pPr>
            <a:lvl9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A5BBCA"/>
                </a:solidFill>
                <a:latin typeface="Consolas"/>
                <a:ea typeface="Consolas"/>
                <a:cs typeface="Consolas"/>
              </a:rPr>
              <a:t>LOCAL RESEARCH WORKSPACE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F3FBD-4294-4629-BE30-9CFC9FDA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1762125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28266-EC0C-40C7-BFDB-C1DC17FCBB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6682563e24156"/>
          <a:stretch xmlns:a="http://schemas.openxmlformats.org/drawingml/2006/main"/>
        </p:blipFill>
        <p:spPr>
          <a:xfrm xmlns:a="http://schemas.openxmlformats.org/drawingml/2006/main">
            <a:off x="762000" y="32861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0" name="User">
            <a:extLst xmlns:a="http://schemas.openxmlformats.org/drawingml/2006/main">
              <a:ext uri="{FF2B5EF4-FFF2-40B4-BE49-F238E27FC236}">
                <a16:creationId xmlns:a16="http://schemas.microsoft.com/office/drawing/2014/main" id="{1BE7B6B1-56D4-4151-8203-238952FB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67075"/>
            <a:ext cx="942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User</a:t>
            </a:r>
          </a:p>
        </p:txBody>
      </p:sp>
      <p:sp>
        <p:nvSpPr>
          <p:cNvPr id="11" name="Research review&#10;Acquire + save">
            <a:extLst xmlns:a="http://schemas.openxmlformats.org/drawingml/2006/main">
              <a:ext uri="{FF2B5EF4-FFF2-40B4-BE49-F238E27FC236}">
                <a16:creationId xmlns:a16="http://schemas.microsoft.com/office/drawing/2014/main" id="{2827DD37-0909-4EBB-8317-EACADFC5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4192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Research review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Acquire + save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B0630-9A97-4CDE-BE2C-AAB31C99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257175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F5466-27E7-4083-8E5F-714DA5C213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cf15c149b4116"/>
          <a:stretch xmlns:a="http://schemas.openxmlformats.org/drawingml/2006/main"/>
        </p:blipFill>
        <p:spPr>
          <a:xfrm xmlns:a="http://schemas.openxmlformats.org/drawingml/2006/main">
            <a:off x="3028950" y="32861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4" name="React workspace">
            <a:extLst xmlns:a="http://schemas.openxmlformats.org/drawingml/2006/main">
              <a:ext uri="{FF2B5EF4-FFF2-40B4-BE49-F238E27FC236}">
                <a16:creationId xmlns:a16="http://schemas.microsoft.com/office/drawing/2014/main" id="{31EAF754-90BA-4A86-8048-787B86F4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67075"/>
            <a:ext cx="1752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React workspace</a:t>
            </a:r>
          </a:p>
        </p:txBody>
      </p:sp>
      <p:sp>
        <p:nvSpPr>
          <p:cNvPr id="15" name="TypeScript + Vite&#10;Browser :5173">
            <a:extLst xmlns:a="http://schemas.openxmlformats.org/drawingml/2006/main">
              <a:ext uri="{FF2B5EF4-FFF2-40B4-BE49-F238E27FC236}">
                <a16:creationId xmlns:a16="http://schemas.microsoft.com/office/drawing/2014/main" id="{50005290-09EA-4E45-9BF1-E7681A05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67150"/>
            <a:ext cx="22288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TypeScript + Vite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Browser :5173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49030-9125-442C-AE91-7371C843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95625"/>
            <a:ext cx="2809875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1DD8BA-1C44-42F8-B8BD-B5CCCC1FA1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a82fe487a4345"/>
          <a:stretch xmlns:a="http://schemas.openxmlformats.org/drawingml/2006/main"/>
        </p:blipFill>
        <p:spPr>
          <a:xfrm xmlns:a="http://schemas.openxmlformats.org/drawingml/2006/main">
            <a:off x="6696075" y="32861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8" name="FastAPI service">
            <a:extLst xmlns:a="http://schemas.openxmlformats.org/drawingml/2006/main">
              <a:ext uri="{FF2B5EF4-FFF2-40B4-BE49-F238E27FC236}">
                <a16:creationId xmlns:a16="http://schemas.microsoft.com/office/drawing/2014/main" id="{0FA35809-7CEA-4449-A9F5-49BFF887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267075"/>
            <a:ext cx="1990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FastAPI service</a:t>
            </a:r>
          </a:p>
        </p:txBody>
      </p:sp>
      <p:sp>
        <p:nvSpPr>
          <p:cNvPr id="19" name="Python + NumPy&#10;HTTP JSON :8000">
            <a:extLst xmlns:a="http://schemas.openxmlformats.org/drawingml/2006/main">
              <a:ext uri="{FF2B5EF4-FFF2-40B4-BE49-F238E27FC236}">
                <a16:creationId xmlns:a16="http://schemas.microsoft.com/office/drawing/2014/main" id="{43AED577-B01F-4E35-996F-25C09908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867150"/>
            <a:ext cx="24669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Python + NumPy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HTTP JSON :8000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FE818D-9306-495D-BEF7-DA504558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24125"/>
            <a:ext cx="3857625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BDFE81-D913-4364-BC83-E9C1DF30B1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f051d13ac4887"/>
          <a:stretch xmlns:a="http://schemas.openxmlformats.org/drawingml/2006/main"/>
        </p:blipFill>
        <p:spPr>
          <a:xfrm xmlns:a="http://schemas.openxmlformats.org/drawingml/2006/main">
            <a:off x="10553700" y="271462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2" name="Twin + planner">
            <a:extLst xmlns:a="http://schemas.openxmlformats.org/drawingml/2006/main">
              <a:ext uri="{FF2B5EF4-FFF2-40B4-BE49-F238E27FC236}">
                <a16:creationId xmlns:a16="http://schemas.microsoft.com/office/drawing/2014/main" id="{D0B9C416-EF30-440E-B795-EB0D6DCA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695575"/>
            <a:ext cx="30384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Twin + planner</a:t>
            </a:r>
          </a:p>
        </p:txBody>
      </p:sp>
      <p:sp>
        <p:nvSpPr>
          <p:cNvPr id="23" name="History, state, hypotheses&#10;Information + action loss">
            <a:extLst xmlns:a="http://schemas.openxmlformats.org/drawingml/2006/main">
              <a:ext uri="{FF2B5EF4-FFF2-40B4-BE49-F238E27FC236}">
                <a16:creationId xmlns:a16="http://schemas.microsoft.com/office/drawing/2014/main" id="{65D77035-5C9F-4843-9F26-3CC7E24C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95650"/>
            <a:ext cx="35147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History, state, hypotheses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Information + action loss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845CE9-3CF0-4C4D-B7B1-7BEF29AA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91050"/>
            <a:ext cx="3857625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8EF5E0-E9ED-4EFB-9FF5-78494408BB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20a9e49824c45"/>
          <a:stretch xmlns:a="http://schemas.openxmlformats.org/drawingml/2006/main"/>
        </p:blipFill>
        <p:spPr>
          <a:xfrm xmlns:a="http://schemas.openxmlformats.org/drawingml/2006/main">
            <a:off x="10553700" y="47815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6" name="SQLite evidence store">
            <a:extLst xmlns:a="http://schemas.openxmlformats.org/drawingml/2006/main">
              <a:ext uri="{FF2B5EF4-FFF2-40B4-BE49-F238E27FC236}">
                <a16:creationId xmlns:a16="http://schemas.microsoft.com/office/drawing/2014/main" id="{0F3EDF3B-685D-4D44-82FF-4B488685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762500"/>
            <a:ext cx="30384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SQLite evidence store</a:t>
            </a:r>
          </a:p>
        </p:txBody>
      </p:sp>
      <p:sp>
        <p:nvSpPr>
          <p:cNvPr id="27" name="Requests, readings, corrections&#10;Saved experiment revisions">
            <a:extLst xmlns:a="http://schemas.openxmlformats.org/drawingml/2006/main">
              <a:ext uri="{FF2B5EF4-FFF2-40B4-BE49-F238E27FC236}">
                <a16:creationId xmlns:a16="http://schemas.microsoft.com/office/drawing/2014/main" id="{8D5052A2-AEC1-47C4-9F99-5F8FEB39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62575"/>
            <a:ext cx="35147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Requests, readings, corrections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Saved experiment revisions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A74E4E-4286-4924-9EB0-1EE17806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95675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defPPr>
            <a:lvl1pPr>
              <a:defRPr sz="135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1pPr>
            <a:lvl2pPr>
              <a:defRPr sz="135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2pPr>
            <a:lvl3pPr>
              <a:defRPr sz="135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3pPr>
            <a:lvl4pPr>
              <a:defRPr sz="135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4pPr>
            <a:lvl5pPr>
              <a:defRPr sz="135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5pPr>
            <a:lvl6pPr>
              <a:defRPr sz="135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6pPr>
            <a:lvl7pPr>
              <a:defRPr sz="135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7pPr>
            <a:lvl8pPr>
              <a:defRPr sz="135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8pPr>
            <a:lvl9pPr>
              <a:defRPr sz="135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1" name="HTTP&#10;JSON">
            <a:extLst xmlns:a="http://schemas.openxmlformats.org/drawingml/2006/main">
              <a:ext uri="{FF2B5EF4-FFF2-40B4-BE49-F238E27FC236}">
                <a16:creationId xmlns:a16="http://schemas.microsoft.com/office/drawing/2014/main" id="{17015439-4ACB-4AEF-A309-A2293290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85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65C9F1"/>
                </a:solidFill>
                <a:latin typeface="Consolas"/>
                <a:ea typeface="Consolas"/>
                <a:cs typeface="Consolas"/>
              </a:rPr>
              <a:t>HTTP</a:t>
            </a:r>
          </a:p>
          <a:p xmlns:a="http://schemas.openxmlformats.org/drawingml/2006/main">
            <a:pPr>
              <a:defRPr sz="142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65C9F1"/>
                </a:solidFill>
                <a:latin typeface="Consolas"/>
                <a:ea typeface="Consolas"/>
                <a:cs typeface="Consolas"/>
              </a:rPr>
              <a:t>JSON</a:t>
            </a:r>
          </a:p>
        </p:txBody>
      </p:sp>
      <p:sp>
        <p:nvSpPr>
          <p:cNvPr id="34" name="Function calls">
            <a:extLst xmlns:a="http://schemas.openxmlformats.org/drawingml/2006/main">
              <a:ext uri="{FF2B5EF4-FFF2-40B4-BE49-F238E27FC236}">
                <a16:creationId xmlns:a16="http://schemas.microsoft.com/office/drawing/2014/main" id="{9FD0FA02-4C01-482F-9F04-26BAFDD8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37172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defPPr>
            <a:lvl1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1pPr>
            <a:lvl2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2pPr>
            <a:lvl3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3pPr>
            <a:lvl4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4pPr>
            <a:lvl5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5pPr>
            <a:lvl6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6pPr>
            <a:lvl7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7pPr>
            <a:lvl8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8pPr>
            <a:lvl9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B1A1FF"/>
                </a:solidFill>
                <a:latin typeface="Consolas"/>
                <a:ea typeface="Consolas"/>
                <a:cs typeface="Consolas"/>
              </a:rPr>
              <a:t>Function calls</a:t>
            </a:r>
          </a:p>
        </p:txBody>
      </p:sp>
      <p:sp>
        <p:nvSpPr>
          <p:cNvPr id="35" name="Transactions">
            <a:extLst xmlns:a="http://schemas.openxmlformats.org/drawingml/2006/main">
              <a:ext uri="{FF2B5EF4-FFF2-40B4-BE49-F238E27FC236}">
                <a16:creationId xmlns:a16="http://schemas.microsoft.com/office/drawing/2014/main" id="{7FFEEC74-7233-43BD-9A59-2BDF7ED9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6673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defPPr>
            <a:lvl1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1pPr>
            <a:lvl2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2pPr>
            <a:lvl3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3pPr>
            <a:lvl4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4pPr>
            <a:lvl5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5pPr>
            <a:lvl6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6pPr>
            <a:lvl7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7pPr>
            <a:lvl8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8pPr>
            <a:lvl9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FFA383"/>
                </a:solidFill>
                <a:latin typeface="Consolas"/>
                <a:ea typeface="Consolas"/>
                <a:cs typeface="Consolas"/>
              </a:rPr>
              <a:t>Transactions</a:t>
            </a:r>
          </a:p>
        </p:txBody>
      </p:sp>
      <p:sp>
        <p:nvSpPr>
          <p:cNvPr id="36" name="Synthetic inputs">
            <a:extLst xmlns:a="http://schemas.openxmlformats.org/drawingml/2006/main">
              <a:ext uri="{FF2B5EF4-FFF2-40B4-BE49-F238E27FC236}">
                <a16:creationId xmlns:a16="http://schemas.microsoft.com/office/drawing/2014/main" id="{061B25ED-2743-4AE5-BA77-F906C9E8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768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63DBC0"/>
                </a:solidFill>
                <a:latin typeface="Segoe UI"/>
                <a:ea typeface="Segoe UI"/>
                <a:cs typeface="Segoe UI"/>
              </a:rPr>
              <a:t>Synthetic inputs</a:t>
            </a:r>
          </a:p>
        </p:txBody>
      </p:sp>
      <p:sp>
        <p:nvSpPr>
          <p:cNvPr id="37" name="Authored BP/device replay&#10;Six preceding sessions&#10;Explicit ac">
            <a:extLst xmlns:a="http://schemas.openxmlformats.org/drawingml/2006/main">
              <a:ext uri="{FF2B5EF4-FFF2-40B4-BE49-F238E27FC236}">
                <a16:creationId xmlns:a16="http://schemas.microsoft.com/office/drawing/2014/main" id="{C10B3AF7-5F28-49CC-988A-C00D0C41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676900"/>
            <a:ext cx="2857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Authored BP/device replay</a:t>
            </a:r>
          </a:p>
          <a:p xmlns:a="http://schemas.openxmlformats.org/drawingml/2006/main">
            <a: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Six preceding sessions</a:t>
            </a:r>
          </a:p>
          <a:p xmlns:a="http://schemas.openxmlformats.org/drawingml/2006/main">
            <a: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Explicit acquisition fixtures</a:t>
            </a:r>
          </a:p>
        </p:txBody>
      </p:sp>
      <p:sp>
        <p:nvSpPr>
          <p:cNvPr id="38" name="Published artifacts">
            <a:extLst xmlns:a="http://schemas.openxmlformats.org/drawingml/2006/main">
              <a:ext uri="{FF2B5EF4-FFF2-40B4-BE49-F238E27FC236}">
                <a16:creationId xmlns:a16="http://schemas.microsoft.com/office/drawing/2014/main" id="{3F8C9635-9CE8-4B51-86DF-7F2AE071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959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65C9F1"/>
                </a:solidFill>
                <a:latin typeface="Segoe UI"/>
                <a:ea typeface="Segoe UI"/>
                <a:cs typeface="Segoe UI"/>
              </a:rPr>
              <a:t>Published artifacts</a:t>
            </a:r>
          </a:p>
        </p:txBody>
      </p:sp>
      <p:sp>
        <p:nvSpPr>
          <p:cNvPr id="39" name="Aggregate JSON, PDF/PPTX&#10;Fictional FHIR collection&#10;Versioned">
            <a:extLst xmlns:a="http://schemas.openxmlformats.org/drawingml/2006/main">
              <a:ext uri="{FF2B5EF4-FFF2-40B4-BE49-F238E27FC236}">
                <a16:creationId xmlns:a16="http://schemas.microsoft.com/office/drawing/2014/main" id="{A94CCCF9-59F2-4453-A31A-840B9266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676900"/>
            <a:ext cx="340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Aggregate JSON, PDF/PPTX</a:t>
            </a:r>
          </a:p>
          <a:p xmlns:a="http://schemas.openxmlformats.org/drawingml/2006/main">
            <a: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Fictional FHIR collection</a:t>
            </a:r>
          </a:p>
          <a:p xmlns:a="http://schemas.openxmlformats.org/drawingml/2006/main">
            <a: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Versioned source + model card</a:t>
            </a:r>
          </a:p>
        </p:txBody>
      </p:sp>
      <p:sp>
        <p:nvSpPr>
          <p:cNvPr id="40" name="Observed HEMOBP modeling runs offline and supplies evaluatio">
            <a:extLst xmlns:a="http://schemas.openxmlformats.org/drawingml/2006/main">
              <a:ext uri="{FF2B5EF4-FFF2-40B4-BE49-F238E27FC236}">
                <a16:creationId xmlns:a16="http://schemas.microsoft.com/office/drawing/2014/main" id="{4ED821B8-FAA1-471C-9FB7-973D6D1B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19975"/>
            <a:ext cx="13954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Observed HEMOBP modeling runs offline and supplies evaluation reports, not the synthetic twin state.</a:t>
            </a:r>
          </a:p>
        </p:txBody>
      </p:sp>
    </p:spTree>
    <p:extLst>
      <p:ext uri="{BB962C8B-B14F-4D97-AF65-F5344CB8AC3E}">
        <p14:creationId xmlns:p14="http://schemas.microsoft.com/office/powerpoint/2010/main" val="20428140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3963BE-6CFC-4EE0-A6D3-3F31B17C65D1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591675" y="3714750"/>
            <a:ext cx="12668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3DBC0"/>
            </a:solidFill>
            <a:prstDash val="solid"/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AE28CB-5A63-4F88-8AC7-CCDAF07A3E3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429125" y="371475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3DBC0"/>
            </a:solidFill>
            <a:prstDash val="solid"/>
            <a:tailEnd type="triangle" w="med" len="med"/>
          </a:ln>
        </p:spPr>
      </p:cxnSp>
      <p:sp>
        <p:nvSpPr>
          <p:cNvPr id="24" name="The prior comes from preceding sessions">
            <a:extLst xmlns:a="http://schemas.openxmlformats.org/drawingml/2006/main">
              <a:ext uri="{FF2B5EF4-FFF2-40B4-BE49-F238E27FC236}">
                <a16:creationId xmlns:a16="http://schemas.microsoft.com/office/drawing/2014/main" id="{5CA36A7F-5337-4980-8E9D-702C958C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The prior comes from preceding sessions</a:t>
            </a:r>
          </a:p>
        </p:txBody>
      </p:sp>
      <p:sp>
        <p:nvSpPr>
          <p:cNvPr id="2" name="Six completed synthetic sessions inform refill estimation be">
            <a:extLst xmlns:a="http://schemas.openxmlformats.org/drawingml/2006/main">
              <a:ext uri="{FF2B5EF4-FFF2-40B4-BE49-F238E27FC236}">
                <a16:creationId xmlns:a16="http://schemas.microsoft.com/office/drawing/2014/main" id="{CBF5BE07-ACE9-450A-B467-C68969D1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Six completed synthetic sessions inform refill estimation before the current replay.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E02F9-EC93-4C60-BCF5-03534645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431AD62C-E5ED-4A3C-8A37-3948E2CD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DD899DB7-85DD-4360-A75F-7DF92127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DF5F9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B98A9-E2D3-4E84-95F2-5F1A023C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38100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57AE10-18E3-4726-9105-979B9052EE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9ad59970e4f73"/>
          <a:stretch xmlns:a="http://schemas.openxmlformats.org/drawingml/2006/main"/>
        </p:blipFill>
        <p:spPr>
          <a:xfrm xmlns:a="http://schemas.openxmlformats.org/drawingml/2006/main">
            <a:off x="790575" y="30480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8" name="Session trajectories">
            <a:extLst xmlns:a="http://schemas.openxmlformats.org/drawingml/2006/main">
              <a:ext uri="{FF2B5EF4-FFF2-40B4-BE49-F238E27FC236}">
                <a16:creationId xmlns:a16="http://schemas.microsoft.com/office/drawing/2014/main" id="{4E24C8A4-017A-48A4-AEE9-94BC40C4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28950"/>
            <a:ext cx="2990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Session trajectories</a:t>
            </a:r>
          </a:p>
        </p:txBody>
      </p:sp>
      <p:sp>
        <p:nvSpPr>
          <p:cNvPr id="9" name="Raw BP + machine settings&#10;Completed before current start">
            <a:extLst xmlns:a="http://schemas.openxmlformats.org/drawingml/2006/main">
              <a:ext uri="{FF2B5EF4-FFF2-40B4-BE49-F238E27FC236}">
                <a16:creationId xmlns:a16="http://schemas.microsoft.com/office/drawing/2014/main" id="{7FD3D446-E922-45E3-91DF-89375072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29025"/>
            <a:ext cx="346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Raw BP + machine settings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Completed before current 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E68D6-9726-4587-8A16-0B7A395E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857500"/>
            <a:ext cx="3905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2C0B3-8ED7-44E2-9801-7E9F8EFF6A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07b0dda6848eb"/>
          <a:stretch xmlns:a="http://schemas.openxmlformats.org/drawingml/2006/main"/>
        </p:blipFill>
        <p:spPr>
          <a:xfrm xmlns:a="http://schemas.openxmlformats.org/drawingml/2006/main">
            <a:off x="5857875" y="30480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2" name="Likelihood fit">
            <a:extLst xmlns:a="http://schemas.openxmlformats.org/drawingml/2006/main">
              <a:ext uri="{FF2B5EF4-FFF2-40B4-BE49-F238E27FC236}">
                <a16:creationId xmlns:a16="http://schemas.microsoft.com/office/drawing/2014/main" id="{421D20C0-FA45-4A8C-8591-CCA98A44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028950"/>
            <a:ext cx="308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Likelihood fit</a:t>
            </a:r>
          </a:p>
        </p:txBody>
      </p:sp>
      <p:sp>
        <p:nvSpPr>
          <p:cNvPr id="13" name="Refill / compensation grid&#10;Uncertainty floor + shrinkage">
            <a:extLst xmlns:a="http://schemas.openxmlformats.org/drawingml/2006/main">
              <a:ext uri="{FF2B5EF4-FFF2-40B4-BE49-F238E27FC236}">
                <a16:creationId xmlns:a16="http://schemas.microsoft.com/office/drawing/2014/main" id="{3093A1DE-06A5-4325-B845-68EF785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629025"/>
            <a:ext cx="35623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Refill / compensation grid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Uncertainty floor + shrinkage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1D12C-BACC-47C4-B133-698DFB4E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857500"/>
            <a:ext cx="37528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5DB71-05C0-4D1A-A145-7E359B2AD2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2a479732d4b3b"/>
          <a:stretch xmlns:a="http://schemas.openxmlformats.org/drawingml/2006/main"/>
        </p:blipFill>
        <p:spPr>
          <a:xfrm xmlns:a="http://schemas.openxmlformats.org/drawingml/2006/main">
            <a:off x="11029950" y="30480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6" name="Patient prior">
            <a:extLst xmlns:a="http://schemas.openxmlformats.org/drawingml/2006/main">
              <a:ext uri="{FF2B5EF4-FFF2-40B4-BE49-F238E27FC236}">
                <a16:creationId xmlns:a16="http://schemas.microsoft.com/office/drawing/2014/main" id="{30B03324-6EA8-44D4-88AD-B1F2D05C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3028950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Patient prior</a:t>
            </a:r>
          </a:p>
        </p:txBody>
      </p:sp>
      <p:sp>
        <p:nvSpPr>
          <p:cNvPr id="17" name="Estimate + uncertainty&#10;Source digest and fit lineage">
            <a:extLst xmlns:a="http://schemas.openxmlformats.org/drawingml/2006/main">
              <a:ext uri="{FF2B5EF4-FFF2-40B4-BE49-F238E27FC236}">
                <a16:creationId xmlns:a16="http://schemas.microsoft.com/office/drawing/2014/main" id="{AB4ED7BB-5326-4DD7-9630-F6BC2C9F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29025"/>
            <a:ext cx="3409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Estimate + uncertainty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Source digest and fit lineage</a:t>
            </a:r>
          </a:p>
        </p:txBody>
      </p:sp>
      <p:sp>
        <p:nvSpPr>
          <p:cNvPr id="20" name="What the interface exposes">
            <a:extLst xmlns:a="http://schemas.openxmlformats.org/drawingml/2006/main">
              <a:ext uri="{FF2B5EF4-FFF2-40B4-BE49-F238E27FC236}">
                <a16:creationId xmlns:a16="http://schemas.microsoft.com/office/drawing/2014/main" id="{141354EB-3009-45C0-9B05-7325A74E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38775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What the interface exposes</a:t>
            </a:r>
          </a:p>
        </p:txBody>
      </p:sp>
      <p:sp>
        <p:nvSpPr>
          <p:cNvPr id="21" name="Per-session fits, the fitted prior and the forward-session a">
            <a:extLst xmlns:a="http://schemas.openxmlformats.org/drawingml/2006/main">
              <a:ext uri="{FF2B5EF4-FFF2-40B4-BE49-F238E27FC236}">
                <a16:creationId xmlns:a16="http://schemas.microsoft.com/office/drawing/2014/main" id="{EB574EB5-5AAB-4796-9064-107F45E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1055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Per-session fits, the fitted prior and the forward-session ablation make the learner inspectable.</a:t>
            </a:r>
          </a:p>
        </p:txBody>
      </p:sp>
      <p:sp>
        <p:nvSpPr>
          <p:cNvPr id="22" name="6">
            <a:extLst xmlns:a="http://schemas.openxmlformats.org/drawingml/2006/main">
              <a:ext uri="{FF2B5EF4-FFF2-40B4-BE49-F238E27FC236}">
                <a16:creationId xmlns:a16="http://schemas.microsoft.com/office/drawing/2014/main" id="{99274269-3460-444B-8C72-1A59C511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42925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9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defPPr>
            <a:lvl1pPr>
              <a:defRPr sz="69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1pPr>
            <a:lvl2pPr>
              <a:defRPr sz="69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2pPr>
            <a:lvl3pPr>
              <a:defRPr sz="69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3pPr>
            <a:lvl4pPr>
              <a:defRPr sz="69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4pPr>
            <a:lvl5pPr>
              <a:defRPr sz="69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5pPr>
            <a:lvl6pPr>
              <a:defRPr sz="69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6pPr>
            <a:lvl7pPr>
              <a:defRPr sz="69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7pPr>
            <a:lvl8pPr>
              <a:defRPr sz="69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8pPr>
            <a:lvl9pPr>
              <a:defRPr sz="69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69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pPr>
            <a:r>
              <a:rPr sz="6900" b="1">
                <a:solidFill>
                  <a:srgbClr val="63DBC0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23" name="preceding completed sessions">
            <a:extLst xmlns:a="http://schemas.openxmlformats.org/drawingml/2006/main">
              <a:ext uri="{FF2B5EF4-FFF2-40B4-BE49-F238E27FC236}">
                <a16:creationId xmlns:a16="http://schemas.microsoft.com/office/drawing/2014/main" id="{BC28DCCC-4C80-4BD2-927D-75A6FBAF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323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preceding completed sessions</a:t>
            </a:r>
          </a:p>
        </p:txBody>
      </p:sp>
    </p:spTree>
    <p:extLst>
      <p:ext uri="{BB962C8B-B14F-4D97-AF65-F5344CB8AC3E}">
        <p14:creationId xmlns:p14="http://schemas.microsoft.com/office/powerpoint/2010/main" val="9852214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2FB9E0-BBBE-4395-A032-0F05CB595912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7620000" y="4476750"/>
            <a:ext cx="0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B1A1FF"/>
            </a:solidFill>
            <a:prstDash val="solid"/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E3A3B-2139-462B-885A-F26445E8A84E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477375" y="366712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5C9F1"/>
            </a:solidFill>
            <a:prstDash val="solid"/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957E3-4AF0-4E69-8CAB-654BE5A8481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333875" y="3667125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3DBC0"/>
            </a:solidFill>
            <a:prstDash val="solid"/>
            <a:tailEnd type="triangle" w="med" len="med"/>
          </a:ln>
        </p:spPr>
      </p:cxnSp>
      <p:sp>
        <p:nvSpPr>
          <p:cNvPr id="29" name="The physiological model">
            <a:extLst xmlns:a="http://schemas.openxmlformats.org/drawingml/2006/main">
              <a:ext uri="{FF2B5EF4-FFF2-40B4-BE49-F238E27FC236}">
                <a16:creationId xmlns:a16="http://schemas.microsoft.com/office/drawing/2014/main" id="{0C63E1A5-2539-47A6-984D-18390003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The physiological model</a:t>
            </a:r>
          </a:p>
        </p:txBody>
      </p:sp>
      <p:sp>
        <p:nvSpPr>
          <p:cNvPr id="2" name="Estimated compartments connect removal, refill and family-sp">
            <a:extLst xmlns:a="http://schemas.openxmlformats.org/drawingml/2006/main">
              <a:ext uri="{FF2B5EF4-FFF2-40B4-BE49-F238E27FC236}">
                <a16:creationId xmlns:a16="http://schemas.microsoft.com/office/drawing/2014/main" id="{68444252-E4C1-4616-9DB0-407F9D13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Estimated compartments connect removal, refill and family-specific pressure response.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F04DB-9699-46E5-BDBF-F80C33E4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35826BF1-1A92-417D-B755-FEAE05B3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A497070A-786D-4B65-9D9C-CCF1662C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DF5F9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550AA-CC81-44B1-AC59-9629E9DC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3714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D70AF-46A0-4408-BBFC-8B58A56DDF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f83ff4d0a4f6e"/>
          <a:stretch xmlns:a="http://schemas.openxmlformats.org/drawingml/2006/main"/>
        </p:blipFill>
        <p:spPr>
          <a:xfrm xmlns:a="http://schemas.openxmlformats.org/drawingml/2006/main">
            <a:off x="790575" y="30480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8" name="Tissue fluid">
            <a:extLst xmlns:a="http://schemas.openxmlformats.org/drawingml/2006/main">
              <a:ext uri="{FF2B5EF4-FFF2-40B4-BE49-F238E27FC236}">
                <a16:creationId xmlns:a16="http://schemas.microsoft.com/office/drawing/2014/main" id="{39BB2F40-CBCA-4C0E-8C89-5823518E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02895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Tissue fluid</a:t>
            </a:r>
          </a:p>
        </p:txBody>
      </p:sp>
      <p:sp>
        <p:nvSpPr>
          <p:cNvPr id="9" name="Estimated compartment">
            <a:extLst xmlns:a="http://schemas.openxmlformats.org/drawingml/2006/main">
              <a:ext uri="{FF2B5EF4-FFF2-40B4-BE49-F238E27FC236}">
                <a16:creationId xmlns:a16="http://schemas.microsoft.com/office/drawing/2014/main" id="{26D0B022-911E-4EE8-B686-DA2A6912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29025"/>
            <a:ext cx="3371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Estimated compartment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52C27-09E5-46BB-8356-E8E3F22A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57500"/>
            <a:ext cx="3714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ACE9A-0259-4B7A-A04A-F68743B7E9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84b5d99cd4a7d"/>
          <a:stretch xmlns:a="http://schemas.openxmlformats.org/drawingml/2006/main"/>
        </p:blipFill>
        <p:spPr>
          <a:xfrm xmlns:a="http://schemas.openxmlformats.org/drawingml/2006/main">
            <a:off x="5934075" y="30480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2" name="Circulating volume">
            <a:extLst xmlns:a="http://schemas.openxmlformats.org/drawingml/2006/main">
              <a:ext uri="{FF2B5EF4-FFF2-40B4-BE49-F238E27FC236}">
                <a16:creationId xmlns:a16="http://schemas.microsoft.com/office/drawing/2014/main" id="{3EF1584B-C914-43BA-9B07-7826FFB3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2895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Circulating volume</a:t>
            </a:r>
          </a:p>
        </p:txBody>
      </p:sp>
      <p:sp>
        <p:nvSpPr>
          <p:cNvPr id="13" name="Estimated compartment">
            <a:extLst xmlns:a="http://schemas.openxmlformats.org/drawingml/2006/main">
              <a:ext uri="{FF2B5EF4-FFF2-40B4-BE49-F238E27FC236}">
                <a16:creationId xmlns:a16="http://schemas.microsoft.com/office/drawing/2014/main" id="{CCD5F588-2C25-4951-907B-5C8FAE47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29025"/>
            <a:ext cx="3371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Estimated compartment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285F4-A4C4-4C49-B836-18FB37B5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857500"/>
            <a:ext cx="3714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6A5AEB-CE85-4C1D-AAE5-0FA945BD8B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cb636a191483a"/>
          <a:stretch xmlns:a="http://schemas.openxmlformats.org/drawingml/2006/main"/>
        </p:blipFill>
        <p:spPr>
          <a:xfrm xmlns:a="http://schemas.openxmlformats.org/drawingml/2006/main">
            <a:off x="11077575" y="30480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6" name="Fluid removal">
            <a:extLst xmlns:a="http://schemas.openxmlformats.org/drawingml/2006/main">
              <a:ext uri="{FF2B5EF4-FFF2-40B4-BE49-F238E27FC236}">
                <a16:creationId xmlns:a16="http://schemas.microsoft.com/office/drawing/2014/main" id="{6FA45C0D-9DD6-4C89-851F-9766837D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302895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Fluid removal</a:t>
            </a:r>
          </a:p>
        </p:txBody>
      </p:sp>
      <p:sp>
        <p:nvSpPr>
          <p:cNvPr id="17" name="Observed machine setting">
            <a:extLst xmlns:a="http://schemas.openxmlformats.org/drawingml/2006/main">
              <a:ext uri="{FF2B5EF4-FFF2-40B4-BE49-F238E27FC236}">
                <a16:creationId xmlns:a16="http://schemas.microsoft.com/office/drawing/2014/main" id="{010AA7C4-FC52-447A-ACCB-9A2C4624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629025"/>
            <a:ext cx="3371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Observed machine setting</a:t>
            </a:r>
          </a:p>
        </p:txBody>
      </p:sp>
      <p:sp>
        <p:nvSpPr>
          <p:cNvPr id="20" name="Refill">
            <a:extLst xmlns:a="http://schemas.openxmlformats.org/drawingml/2006/main">
              <a:ext uri="{FF2B5EF4-FFF2-40B4-BE49-F238E27FC236}">
                <a16:creationId xmlns:a16="http://schemas.microsoft.com/office/drawing/2014/main" id="{DCAF0BF2-0482-49DE-9D91-F0710271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00375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3DBC0"/>
                </a:solidFill>
                <a:latin typeface="Segoe UI"/>
                <a:ea typeface="Segoe UI"/>
                <a:cs typeface="Segoe UI"/>
              </a:rPr>
              <a:t>Refill</a:t>
            </a:r>
          </a:p>
        </p:txBody>
      </p:sp>
      <p:sp>
        <p:nvSpPr>
          <p:cNvPr id="21" name="Removal">
            <a:extLst xmlns:a="http://schemas.openxmlformats.org/drawingml/2006/main">
              <a:ext uri="{FF2B5EF4-FFF2-40B4-BE49-F238E27FC236}">
                <a16:creationId xmlns:a16="http://schemas.microsoft.com/office/drawing/2014/main" id="{CFDC858F-C577-4585-ABB8-D7098B29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0003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65C9F1"/>
                </a:solidFill>
                <a:latin typeface="Segoe UI"/>
                <a:ea typeface="Segoe UI"/>
                <a:cs typeface="Segoe UI"/>
              </a:rPr>
              <a:t>Removal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EEBD4-0F21-48B2-99C9-AA6CF24C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753100"/>
            <a:ext cx="371475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0D3327-41DB-47C5-9E4D-9655A1FA43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030302a044460"/>
          <a:stretch xmlns:a="http://schemas.openxmlformats.org/drawingml/2006/main"/>
        </p:blipFill>
        <p:spPr>
          <a:xfrm xmlns:a="http://schemas.openxmlformats.org/drawingml/2006/main">
            <a:off x="5934075" y="5943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4" name="Pressure response">
            <a:extLst xmlns:a="http://schemas.openxmlformats.org/drawingml/2006/main">
              <a:ext uri="{FF2B5EF4-FFF2-40B4-BE49-F238E27FC236}">
                <a16:creationId xmlns:a16="http://schemas.microsoft.com/office/drawing/2014/main" id="{F4E43946-0E21-48F6-AB83-D8B5B37E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924550"/>
            <a:ext cx="2895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Pressure response</a:t>
            </a:r>
          </a:p>
        </p:txBody>
      </p:sp>
      <p:sp>
        <p:nvSpPr>
          <p:cNvPr id="25" name="Volume sensitivity + compensation&#10;Four authored response fam">
            <a:extLst xmlns:a="http://schemas.openxmlformats.org/drawingml/2006/main">
              <a:ext uri="{FF2B5EF4-FFF2-40B4-BE49-F238E27FC236}">
                <a16:creationId xmlns:a16="http://schemas.microsoft.com/office/drawing/2014/main" id="{21FDD008-E342-4146-BC6F-E1D9D090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524625"/>
            <a:ext cx="33718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Volume sensitivity + compensation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Four authored response families</a:t>
            </a:r>
          </a:p>
        </p:txBody>
      </p:sp>
      <p:sp>
        <p:nvSpPr>
          <p:cNvPr id="27" name="Current BP readings&#10;constrain the hidden state.">
            <a:extLst xmlns:a="http://schemas.openxmlformats.org/drawingml/2006/main">
              <a:ext uri="{FF2B5EF4-FFF2-40B4-BE49-F238E27FC236}">
                <a16:creationId xmlns:a16="http://schemas.microsoft.com/office/drawing/2014/main" id="{99DEA15B-F402-453F-986B-A45E84AE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483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Current BP readings</a:t>
            </a:r>
          </a:p>
          <a:p xmlns:a="http://schemas.openxmlformats.org/drawingml/2006/main">
            <a: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constrain the hidden state.</a:t>
            </a:r>
          </a:p>
        </p:txBody>
      </p:sp>
      <p:sp>
        <p:nvSpPr>
          <p:cNvPr id="28" name="A model state estimate&#10;can remain ambiguous.">
            <a:extLst xmlns:a="http://schemas.openxmlformats.org/drawingml/2006/main">
              <a:ext uri="{FF2B5EF4-FFF2-40B4-BE49-F238E27FC236}">
                <a16:creationId xmlns:a16="http://schemas.microsoft.com/office/drawing/2014/main" id="{F5E4AA55-525B-4850-B691-4162E1FA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848350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A model state estimate</a:t>
            </a:r>
          </a:p>
          <a:p xmlns:a="http://schemas.openxmlformats.org/drawingml/2006/main">
            <a:pPr>
              <a:defRPr sz="23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3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can remain ambiguous.</a:t>
            </a:r>
          </a:p>
        </p:txBody>
      </p:sp>
    </p:spTree>
    <p:extLst>
      <p:ext uri="{BB962C8B-B14F-4D97-AF65-F5344CB8AC3E}">
        <p14:creationId xmlns:p14="http://schemas.microsoft.com/office/powerpoint/2010/main" val="1868512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Four families fit the available past">
            <a:extLst xmlns:a="http://schemas.openxmlformats.org/drawingml/2006/main">
              <a:ext uri="{FF2B5EF4-FFF2-40B4-BE49-F238E27FC236}">
                <a16:creationId xmlns:a16="http://schemas.microsoft.com/office/drawing/2014/main" id="{B36799E5-FAC8-496C-9953-C457323E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Four families fit the available past</a:t>
            </a:r>
          </a:p>
        </p:txBody>
      </p:sp>
      <p:sp>
        <p:nvSpPr>
          <p:cNvPr id="2" name="Similar fit does not imply the same projected response.">
            <a:extLst xmlns:a="http://schemas.openxmlformats.org/drawingml/2006/main">
              <a:ext uri="{FF2B5EF4-FFF2-40B4-BE49-F238E27FC236}">
                <a16:creationId xmlns:a16="http://schemas.microsoft.com/office/drawing/2014/main" id="{F42BF8DA-41B1-42A2-BF48-73824F95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Similar fit does not imply the same projected response.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E6B5A-58FB-4178-A79A-784A4F01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753A762C-CB04-4E48-971D-0001C39D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4239FAED-6853-4D21-972B-DB602686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DF5F9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F5DE6-4CB3-46FD-BA8C-97E2DC5E63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2281ff5b74848"/>
          <a:stretch xmlns:a="http://schemas.openxmlformats.org/drawingml/2006/main"/>
        </p:blipFill>
        <p:spPr>
          <a:xfrm xmlns:a="http://schemas.openxmlformats.org/drawingml/2006/main">
            <a:off x="619125" y="2476500"/>
            <a:ext cx="619125" cy="619125"/>
          </a:xfrm>
          <a:prstGeom xmlns:a="http://schemas.openxmlformats.org/drawingml/2006/main" prst="rect">
            <a:avLst/>
          </a:prstGeom>
        </p:spPr>
      </p:pic>
      <p:sp>
        <p:nvSpPr>
          <p:cNvPr id="7" name="Volume / refill">
            <a:extLst xmlns:a="http://schemas.openxmlformats.org/drawingml/2006/main">
              <a:ext uri="{FF2B5EF4-FFF2-40B4-BE49-F238E27FC236}">
                <a16:creationId xmlns:a16="http://schemas.microsoft.com/office/drawing/2014/main" id="{E9121C6F-E710-4F34-91C4-182F30B2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623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63DBC0"/>
                </a:solidFill>
                <a:latin typeface="Segoe UI"/>
                <a:ea typeface="Segoe UI"/>
                <a:cs typeface="Segoe UI"/>
              </a:rPr>
              <a:t>Volume / refill</a:t>
            </a:r>
          </a:p>
        </p:txBody>
      </p:sp>
      <p:sp>
        <p:nvSpPr>
          <p:cNvPr id="8" name="24.9%">
            <a:extLst xmlns:a="http://schemas.openxmlformats.org/drawingml/2006/main">
              <a:ext uri="{FF2B5EF4-FFF2-40B4-BE49-F238E27FC236}">
                <a16:creationId xmlns:a16="http://schemas.microsoft.com/office/drawing/2014/main" id="{AFBF44DE-EF48-49DF-8ADC-A4B89FF4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4875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24.9%</a:t>
            </a:r>
          </a:p>
        </p:txBody>
      </p:sp>
      <p:sp>
        <p:nvSpPr>
          <p:cNvPr id="9" name="relative model support">
            <a:extLst xmlns:a="http://schemas.openxmlformats.org/drawingml/2006/main">
              <a:ext uri="{FF2B5EF4-FFF2-40B4-BE49-F238E27FC236}">
                <a16:creationId xmlns:a16="http://schemas.microsoft.com/office/drawing/2014/main" id="{038EED7E-8F90-41F1-A0EB-EB0250F5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244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relative model 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E67FC-8F31-43B3-A47A-F01C6A85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00725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11" name="1.87 mmHg">
            <a:extLst xmlns:a="http://schemas.openxmlformats.org/drawingml/2006/main">
              <a:ext uri="{FF2B5EF4-FFF2-40B4-BE49-F238E27FC236}">
                <a16:creationId xmlns:a16="http://schemas.microsoft.com/office/drawing/2014/main" id="{09403C9C-0E09-4E52-A45A-7EA8F7C2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960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1.87 mmHg</a:t>
            </a:r>
          </a:p>
        </p:txBody>
      </p:sp>
      <p:sp>
        <p:nvSpPr>
          <p:cNvPr id="12" name="past-fit RMSE">
            <a:extLst xmlns:a="http://schemas.openxmlformats.org/drawingml/2006/main">
              <a:ext uri="{FF2B5EF4-FFF2-40B4-BE49-F238E27FC236}">
                <a16:creationId xmlns:a16="http://schemas.microsoft.com/office/drawing/2014/main" id="{D9949735-7094-4A54-9798-3AD618AF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770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past-fit RMSE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016D7-C30F-47F0-B0BB-6BB7FA2C60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851e9d4d0454a"/>
          <a:stretch xmlns:a="http://schemas.openxmlformats.org/drawingml/2006/main"/>
        </p:blipFill>
        <p:spPr>
          <a:xfrm xmlns:a="http://schemas.openxmlformats.org/drawingml/2006/main">
            <a:off x="4200525" y="2476500"/>
            <a:ext cx="619125" cy="619125"/>
          </a:xfrm>
          <a:prstGeom xmlns:a="http://schemas.openxmlformats.org/drawingml/2006/main" prst="rect">
            <a:avLst/>
          </a:prstGeom>
        </p:spPr>
      </p:pic>
      <p:sp>
        <p:nvSpPr>
          <p:cNvPr id="14" name="Vascular response">
            <a:extLst xmlns:a="http://schemas.openxmlformats.org/drawingml/2006/main">
              <a:ext uri="{FF2B5EF4-FFF2-40B4-BE49-F238E27FC236}">
                <a16:creationId xmlns:a16="http://schemas.microsoft.com/office/drawing/2014/main" id="{0A9C061E-0A33-4467-A118-D625D5EC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3623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FFA383"/>
                </a:solidFill>
                <a:latin typeface="Segoe UI"/>
                <a:ea typeface="Segoe UI"/>
                <a:cs typeface="Segoe UI"/>
              </a:rPr>
              <a:t>Vascular response</a:t>
            </a:r>
          </a:p>
        </p:txBody>
      </p:sp>
      <p:sp>
        <p:nvSpPr>
          <p:cNvPr id="15" name="25.0%">
            <a:extLst xmlns:a="http://schemas.openxmlformats.org/drawingml/2006/main">
              <a:ext uri="{FF2B5EF4-FFF2-40B4-BE49-F238E27FC236}">
                <a16:creationId xmlns:a16="http://schemas.microsoft.com/office/drawing/2014/main" id="{BC3151F5-02E2-49A3-9A1E-E96160D3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40957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4875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25.0%</a:t>
            </a:r>
          </a:p>
        </p:txBody>
      </p:sp>
      <p:sp>
        <p:nvSpPr>
          <p:cNvPr id="16" name="relative model support">
            <a:extLst xmlns:a="http://schemas.openxmlformats.org/drawingml/2006/main">
              <a:ext uri="{FF2B5EF4-FFF2-40B4-BE49-F238E27FC236}">
                <a16:creationId xmlns:a16="http://schemas.microsoft.com/office/drawing/2014/main" id="{2C2B7E89-E56A-4233-8B22-F5BED186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1244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relative model support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B74C2D-1F3F-462E-A52D-C3D545F0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5800725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18" name="1.86 mmHg">
            <a:extLst xmlns:a="http://schemas.openxmlformats.org/drawingml/2006/main">
              <a:ext uri="{FF2B5EF4-FFF2-40B4-BE49-F238E27FC236}">
                <a16:creationId xmlns:a16="http://schemas.microsoft.com/office/drawing/2014/main" id="{70D784BA-4ABC-41B4-B477-DB425FAA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60960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1.86 mmHg</a:t>
            </a:r>
          </a:p>
        </p:txBody>
      </p:sp>
      <p:sp>
        <p:nvSpPr>
          <p:cNvPr id="19" name="past-fit RMSE">
            <a:extLst xmlns:a="http://schemas.openxmlformats.org/drawingml/2006/main">
              <a:ext uri="{FF2B5EF4-FFF2-40B4-BE49-F238E27FC236}">
                <a16:creationId xmlns:a16="http://schemas.microsoft.com/office/drawing/2014/main" id="{E520E0DF-33EB-4119-9ECB-D81FEEF9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66770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past-fit RMSE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58FCAB-8FE9-49E1-AFB1-2A4832BA56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23dc6496a4924"/>
          <a:stretch xmlns:a="http://schemas.openxmlformats.org/drawingml/2006/main"/>
        </p:blipFill>
        <p:spPr>
          <a:xfrm xmlns:a="http://schemas.openxmlformats.org/drawingml/2006/main">
            <a:off x="7781925" y="2476500"/>
            <a:ext cx="619125" cy="619125"/>
          </a:xfrm>
          <a:prstGeom xmlns:a="http://schemas.openxmlformats.org/drawingml/2006/main" prst="rect">
            <a:avLst/>
          </a:prstGeom>
        </p:spPr>
      </p:pic>
      <p:sp>
        <p:nvSpPr>
          <p:cNvPr id="21" name="Cardiac response">
            <a:extLst xmlns:a="http://schemas.openxmlformats.org/drawingml/2006/main">
              <a:ext uri="{FF2B5EF4-FFF2-40B4-BE49-F238E27FC236}">
                <a16:creationId xmlns:a16="http://schemas.microsoft.com/office/drawing/2014/main" id="{9D6A8610-2044-484A-9F6D-DAD71974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3623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B1A1FF"/>
                </a:solidFill>
                <a:latin typeface="Segoe UI"/>
                <a:ea typeface="Segoe UI"/>
                <a:cs typeface="Segoe UI"/>
              </a:rPr>
              <a:t>Cardiac response</a:t>
            </a:r>
          </a:p>
        </p:txBody>
      </p:sp>
      <p:sp>
        <p:nvSpPr>
          <p:cNvPr id="22" name="25.0%">
            <a:extLst xmlns:a="http://schemas.openxmlformats.org/drawingml/2006/main">
              <a:ext uri="{FF2B5EF4-FFF2-40B4-BE49-F238E27FC236}">
                <a16:creationId xmlns:a16="http://schemas.microsoft.com/office/drawing/2014/main" id="{2F0CB725-8468-452D-9A21-469472D1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0957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4875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25.0%</a:t>
            </a:r>
          </a:p>
        </p:txBody>
      </p:sp>
      <p:sp>
        <p:nvSpPr>
          <p:cNvPr id="23" name="relative model support">
            <a:extLst xmlns:a="http://schemas.openxmlformats.org/drawingml/2006/main">
              <a:ext uri="{FF2B5EF4-FFF2-40B4-BE49-F238E27FC236}">
                <a16:creationId xmlns:a16="http://schemas.microsoft.com/office/drawing/2014/main" id="{CAA5DD88-A738-4877-8782-85E1369F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1244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relative model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33308A-B5CA-4AC8-A94F-19C8CF03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800725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25" name="1.83 mmHg">
            <a:extLst xmlns:a="http://schemas.openxmlformats.org/drawingml/2006/main">
              <a:ext uri="{FF2B5EF4-FFF2-40B4-BE49-F238E27FC236}">
                <a16:creationId xmlns:a16="http://schemas.microsoft.com/office/drawing/2014/main" id="{B757808E-C35E-43B7-973A-9A331668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60960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1.83 mmHg</a:t>
            </a:r>
          </a:p>
        </p:txBody>
      </p:sp>
      <p:sp>
        <p:nvSpPr>
          <p:cNvPr id="26" name="past-fit RMSE">
            <a:extLst xmlns:a="http://schemas.openxmlformats.org/drawingml/2006/main">
              <a:ext uri="{FF2B5EF4-FFF2-40B4-BE49-F238E27FC236}">
                <a16:creationId xmlns:a16="http://schemas.microsoft.com/office/drawing/2014/main" id="{DCA7B28C-FC4F-4049-8EA9-9E4F3C6D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66770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past-fit RMSE</a:t>
            </a:r>
          </a:p>
        </p:txBody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A6979F-B960-4B9C-B67A-70E5A84691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cdc8ac2fe4736"/>
          <a:stretch xmlns:a="http://schemas.openxmlformats.org/drawingml/2006/main"/>
        </p:blipFill>
        <p:spPr>
          <a:xfrm xmlns:a="http://schemas.openxmlformats.org/drawingml/2006/main">
            <a:off x="11363325" y="2476500"/>
            <a:ext cx="619125" cy="619125"/>
          </a:xfrm>
          <a:prstGeom xmlns:a="http://schemas.openxmlformats.org/drawingml/2006/main" prst="rect">
            <a:avLst/>
          </a:prstGeom>
        </p:spPr>
      </p:pic>
      <p:sp>
        <p:nvSpPr>
          <p:cNvPr id="28" name="Mixed response">
            <a:extLst xmlns:a="http://schemas.openxmlformats.org/drawingml/2006/main">
              <a:ext uri="{FF2B5EF4-FFF2-40B4-BE49-F238E27FC236}">
                <a16:creationId xmlns:a16="http://schemas.microsoft.com/office/drawing/2014/main" id="{32C09FA3-1C63-4B85-BD70-B3601983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336232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65C9F1"/>
                </a:solidFill>
                <a:latin typeface="Segoe UI"/>
                <a:ea typeface="Segoe UI"/>
                <a:cs typeface="Segoe UI"/>
              </a:rPr>
              <a:t>Mixed response</a:t>
            </a:r>
          </a:p>
        </p:txBody>
      </p:sp>
      <p:sp>
        <p:nvSpPr>
          <p:cNvPr id="29" name="25.1%">
            <a:extLst xmlns:a="http://schemas.openxmlformats.org/drawingml/2006/main">
              <a:ext uri="{FF2B5EF4-FFF2-40B4-BE49-F238E27FC236}">
                <a16:creationId xmlns:a16="http://schemas.microsoft.com/office/drawing/2014/main" id="{7C84061E-E74B-4D04-9945-C3ECA7CD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4095750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87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4875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25.1%</a:t>
            </a:r>
          </a:p>
        </p:txBody>
      </p:sp>
      <p:sp>
        <p:nvSpPr>
          <p:cNvPr id="30" name="relative model support">
            <a:extLst xmlns:a="http://schemas.openxmlformats.org/drawingml/2006/main">
              <a:ext uri="{FF2B5EF4-FFF2-40B4-BE49-F238E27FC236}">
                <a16:creationId xmlns:a16="http://schemas.microsoft.com/office/drawing/2014/main" id="{7CD5D747-910B-42DA-BA43-81D1B602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1244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relative model support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F30689-9A91-4DD5-A992-EC2A30DB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800725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32" name="1.80 mmHg">
            <a:extLst xmlns:a="http://schemas.openxmlformats.org/drawingml/2006/main">
              <a:ext uri="{FF2B5EF4-FFF2-40B4-BE49-F238E27FC236}">
                <a16:creationId xmlns:a16="http://schemas.microsoft.com/office/drawing/2014/main" id="{C7B9C946-5DA5-4916-B316-74B0695D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09600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1.80 mmHg</a:t>
            </a:r>
          </a:p>
        </p:txBody>
      </p:sp>
      <p:sp>
        <p:nvSpPr>
          <p:cNvPr id="33" name="past-fit RMSE">
            <a:extLst xmlns:a="http://schemas.openxmlformats.org/drawingml/2006/main">
              <a:ext uri="{FF2B5EF4-FFF2-40B4-BE49-F238E27FC236}">
                <a16:creationId xmlns:a16="http://schemas.microsoft.com/office/drawing/2014/main" id="{024EA57D-6334-49B2-8DDE-3EE78F1B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667702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past-fit RMSE</a:t>
            </a:r>
          </a:p>
        </p:txBody>
      </p:sp>
    </p:spTree>
    <p:extLst>
      <p:ext uri="{BB962C8B-B14F-4D97-AF65-F5344CB8AC3E}">
        <p14:creationId xmlns:p14="http://schemas.microsoft.com/office/powerpoint/2010/main" val="9175907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ardiac output narrows the disagreement">
            <a:extLst xmlns:a="http://schemas.openxmlformats.org/drawingml/2006/main">
              <a:ext uri="{FF2B5EF4-FFF2-40B4-BE49-F238E27FC236}">
                <a16:creationId xmlns:a16="http://schemas.microsoft.com/office/drawing/2014/main" id="{C8E2B429-09BE-492F-81D6-30D30DA0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Cardiac output narrows the disagreement</a:t>
            </a:r>
          </a:p>
        </p:txBody>
      </p:sp>
      <p:sp>
        <p:nvSpPr>
          <p:cNvPr id="2" name="An acquired low-output result still fits both volume depleti">
            <a:extLst xmlns:a="http://schemas.openxmlformats.org/drawingml/2006/main">
              <a:ext uri="{FF2B5EF4-FFF2-40B4-BE49-F238E27FC236}">
                <a16:creationId xmlns:a16="http://schemas.microsoft.com/office/drawing/2014/main" id="{A1F5831B-4FE2-410B-8098-4511F18E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An acquired low-output result still fits both volume depletion and limited cardiac response.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FB355-F9DD-4C35-A457-B71A490F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5A780D46-6E97-433F-B92D-51A130B8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08">
            <a:extLst xmlns:a="http://schemas.openxmlformats.org/drawingml/2006/main">
              <a:ext uri="{FF2B5EF4-FFF2-40B4-BE49-F238E27FC236}">
                <a16:creationId xmlns:a16="http://schemas.microsoft.com/office/drawing/2014/main" id="{D242B1A8-00BB-4F14-B502-67F18103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DF5F9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  <p:sp>
        <p:nvSpPr>
          <p:cNvPr id="6" name="3.74">
            <a:extLst xmlns:a="http://schemas.openxmlformats.org/drawingml/2006/main">
              <a:ext uri="{FF2B5EF4-FFF2-40B4-BE49-F238E27FC236}">
                <a16:creationId xmlns:a16="http://schemas.microsoft.com/office/drawing/2014/main" id="{5974EDF5-722A-4952-BD87-04014792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14625"/>
            <a:ext cx="3476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8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defPPr>
            <a:lvl1pPr>
              <a:defRPr sz="68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1pPr>
            <a:lvl2pPr>
              <a:defRPr sz="68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2pPr>
            <a:lvl3pPr>
              <a:defRPr sz="68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3pPr>
            <a:lvl4pPr>
              <a:defRPr sz="68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4pPr>
            <a:lvl5pPr>
              <a:defRPr sz="68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5pPr>
            <a:lvl6pPr>
              <a:defRPr sz="68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6pPr>
            <a:lvl7pPr>
              <a:defRPr sz="68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7pPr>
            <a:lvl8pPr>
              <a:defRPr sz="68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8pPr>
            <a:lvl9pPr>
              <a:defRPr sz="68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68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pPr>
            <a:r>
              <a:rPr sz="6825" b="1">
                <a:solidFill>
                  <a:srgbClr val="65C9F1"/>
                </a:solidFill>
                <a:latin typeface="Segoe UI"/>
                <a:ea typeface="Segoe UI"/>
                <a:cs typeface="Segoe UI"/>
              </a:rPr>
              <a:t>3.74</a:t>
            </a:r>
          </a:p>
        </p:txBody>
      </p:sp>
      <p:sp>
        <p:nvSpPr>
          <p:cNvPr id="7" name="L/min acquired cardiac output">
            <a:extLst xmlns:a="http://schemas.openxmlformats.org/drawingml/2006/main">
              <a:ext uri="{FF2B5EF4-FFF2-40B4-BE49-F238E27FC236}">
                <a16:creationId xmlns:a16="http://schemas.microsoft.com/office/drawing/2014/main" id="{B71800B5-2D2B-438E-BDE6-61B5C957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3476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L/min acquired cardiac output</a:t>
            </a:r>
          </a:p>
        </p:txBody>
      </p:sp>
      <p:sp>
        <p:nvSpPr>
          <p:cNvPr id="8" name="Cardiac 51.7%&#10;Volume 46.2%">
            <a:extLst xmlns:a="http://schemas.openxmlformats.org/drawingml/2006/main">
              <a:ext uri="{FF2B5EF4-FFF2-40B4-BE49-F238E27FC236}">
                <a16:creationId xmlns:a16="http://schemas.microsoft.com/office/drawing/2014/main" id="{0AD3A07D-8549-4710-87A0-5C9D56B2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38750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9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9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9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9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9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9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9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9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9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9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Cardiac 51.7%</a:t>
            </a:r>
          </a:p>
          <a:p xmlns:a="http://schemas.openxmlformats.org/drawingml/2006/main">
            <a:pPr>
              <a:defRPr sz="29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Volume 46.2%</a:t>
            </a:r>
          </a:p>
        </p:txBody>
      </p:sp>
      <p:sp>
        <p:nvSpPr>
          <p:cNvPr id="9" name="Current model support">
            <a:extLst xmlns:a="http://schemas.openxmlformats.org/drawingml/2006/main">
              <a:ext uri="{FF2B5EF4-FFF2-40B4-BE49-F238E27FC236}">
                <a16:creationId xmlns:a16="http://schemas.microsoft.com/office/drawing/2014/main" id="{2EFB45E2-EBA6-4EE8-B43F-B6F4CD8B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7913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Current model support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555DA3-4D6C-44A7-AA38-C92BFDFA7D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4ae145fb94bf1"/>
          <a:stretch xmlns:a="http://schemas.openxmlformats.org/drawingml/2006/main"/>
        </p:blipFill>
        <p:spPr>
          <a:xfrm xmlns:a="http://schemas.openxmlformats.org/drawingml/2006/main">
            <a:off x="4783667" y="2238375"/>
            <a:ext cx="9482667" cy="5334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9873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1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ow the acquired evidence changes support">
            <a:extLst xmlns:a="http://schemas.openxmlformats.org/drawingml/2006/main">
              <a:ext uri="{FF2B5EF4-FFF2-40B4-BE49-F238E27FC236}">
                <a16:creationId xmlns:a16="http://schemas.microsoft.com/office/drawing/2014/main" id="{7BCE15D0-302B-406D-84E8-90599F93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02B3B"/>
                </a:solidFill>
                <a:latin typeface="Segoe UI"/>
                <a:ea typeface="Segoe UI"/>
                <a:cs typeface="Segoe UI"/>
              </a:rPr>
              <a:t>How the acquired evidence changes support</a:t>
            </a:r>
          </a:p>
        </p:txBody>
      </p:sp>
      <p:sp>
        <p:nvSpPr>
          <p:cNvPr id="2" name="The planner recomputes the full bank after each result. Resi">
            <a:extLst xmlns:a="http://schemas.openxmlformats.org/drawingml/2006/main">
              <a:ext uri="{FF2B5EF4-FFF2-40B4-BE49-F238E27FC236}">
                <a16:creationId xmlns:a16="http://schemas.microsoft.com/office/drawing/2014/main" id="{68B7F409-818F-470E-893D-77355386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16F7D"/>
                </a:solidFill>
                <a:latin typeface="Segoe UI"/>
                <a:ea typeface="Segoe UI"/>
                <a:cs typeface="Segoe UI"/>
              </a:rPr>
              <a:t>The planner recomputes the full bank after each result. Residual ambiguity remains visible.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6AFB5-6509-4A25-A984-72B9D645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8DA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FB6CF374-994D-4E16-B484-1E45CB1F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B7884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09">
            <a:extLst xmlns:a="http://schemas.openxmlformats.org/drawingml/2006/main">
              <a:ext uri="{FF2B5EF4-FFF2-40B4-BE49-F238E27FC236}">
                <a16:creationId xmlns:a16="http://schemas.microsoft.com/office/drawing/2014/main" id="{010C480D-F4D6-4248-9744-5A6B85A8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02B3B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830AADF0-1DD6-483A-96B7-A6251978E799}"/>
              </a:ext>
            </a:extLst>
          </p:cNvPr>
          <p:cNvGraphicFramePr/>
          <p:nvPr/>
        </p:nvGraphicFramePr>
        <p:xfrm>
          <a:off xmlns:a="http://schemas.openxmlformats.org/drawingml/2006/main" x="762000" y="2476500"/>
          <a:ext xmlns:a="http://schemas.openxmlformats.org/drawingml/2006/main" cx="13716000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e319e8dab3458a"/>
          </a:graphicData>
        </a:graphic>
      </p:graphicFrame>
      <p:sp>
        <p:nvSpPr>
          <p:cNvPr id="7" name="Support is conditional on the authored model bank. It is not">
            <a:extLst xmlns:a="http://schemas.openxmlformats.org/drawingml/2006/main">
              <a:ext uri="{FF2B5EF4-FFF2-40B4-BE49-F238E27FC236}">
                <a16:creationId xmlns:a16="http://schemas.microsoft.com/office/drawing/2014/main" id="{F84EADE0-3F0D-4DBD-BE2C-91CA39F9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362825"/>
            <a:ext cx="13620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16F7D"/>
                </a:solidFill>
                <a:latin typeface="Segoe UI"/>
                <a:ea typeface="Segoe UI"/>
                <a:cs typeface="Segoe UI"/>
              </a:rPr>
              <a:t>Support is conditional on the authored model bank. It is not a probability of clinical diagnosis.</a:t>
            </a:r>
          </a:p>
        </p:txBody>
      </p:sp>
    </p:spTree>
    <p:extLst>
      <p:ext uri="{BB962C8B-B14F-4D97-AF65-F5344CB8AC3E}">
        <p14:creationId xmlns:p14="http://schemas.microsoft.com/office/powerpoint/2010/main" val="2663279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Why the next measurement is relative blood volume">
            <a:extLst xmlns:a="http://schemas.openxmlformats.org/drawingml/2006/main">
              <a:ext uri="{FF2B5EF4-FFF2-40B4-BE49-F238E27FC236}">
                <a16:creationId xmlns:a16="http://schemas.microsoft.com/office/drawing/2014/main" id="{CF912589-77FA-4A49-8532-C993D896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Why the next measurement is relative blood volume</a:t>
            </a:r>
          </a:p>
        </p:txBody>
      </p:sp>
      <p:sp>
        <p:nvSpPr>
          <p:cNvPr id="2" name="The remaining families predict different noisy RBV distribut">
            <a:extLst xmlns:a="http://schemas.openxmlformats.org/drawingml/2006/main">
              <a:ext uri="{FF2B5EF4-FFF2-40B4-BE49-F238E27FC236}">
                <a16:creationId xmlns:a16="http://schemas.microsoft.com/office/drawing/2014/main" id="{DA3D85D4-8FD2-41F1-8AE8-C347B62C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The remaining families predict different noisy RBV distributions. Their ranges still overlap.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8C5B0-6A90-4FF6-BCCD-F1A1ACF8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C63FC308-D816-46CC-9ED0-26AD0AA9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A1D39396-41CF-4F2E-9D25-7D00686E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DF5F9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6" name="Volume / refill">
            <a:extLst xmlns:a="http://schemas.openxmlformats.org/drawingml/2006/main">
              <a:ext uri="{FF2B5EF4-FFF2-40B4-BE49-F238E27FC236}">
                <a16:creationId xmlns:a16="http://schemas.microsoft.com/office/drawing/2014/main" id="{767B3648-EF45-4A3B-AD9D-9A5D5A76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63DBC0"/>
                </a:solidFill>
                <a:latin typeface="Segoe UI"/>
                <a:ea typeface="Segoe UI"/>
                <a:cs typeface="Segoe UI"/>
              </a:rPr>
              <a:t>Volume / refill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D7B136-784F-414C-8DF9-486C1391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2297" y="3114675"/>
            <a:ext cx="429220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3DBC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C41BF-F3F4-4F6D-86A2-01E14B11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278" y="2886075"/>
            <a:ext cx="952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3DBC0"/>
          </a:solidFill>
          <a:ln xmlns:a="http://schemas.openxmlformats.org/drawingml/2006/main" w="15240">
            <a:solidFill>
              <a:srgbClr val="63DBC0"/>
            </a:solidFill>
            <a:prstDash val="solid"/>
          </a:ln>
        </p:spPr>
      </p:sp>
      <p:sp>
        <p:nvSpPr>
          <p:cNvPr id="9" name="10th–90th: 81.25–86.40%">
            <a:extLst xmlns:a="http://schemas.openxmlformats.org/drawingml/2006/main">
              <a:ext uri="{FF2B5EF4-FFF2-40B4-BE49-F238E27FC236}">
                <a16:creationId xmlns:a16="http://schemas.microsoft.com/office/drawing/2014/main" id="{48107A25-8EA8-45BE-A0FC-96B07C40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337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defPPr>
            <a:lvl1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1pPr>
            <a:lvl2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2pPr>
            <a:lvl3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3pPr>
            <a:lvl4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4pPr>
            <a:lvl5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5pPr>
            <a:lvl6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6pPr>
            <a:lvl7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7pPr>
            <a:lvl8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8pPr>
            <a:lvl9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5BBCA"/>
                </a:solidFill>
                <a:latin typeface="Consolas"/>
                <a:ea typeface="Consolas"/>
                <a:cs typeface="Consolas"/>
              </a:rPr>
              <a:t>10th–90th: 81.25–86.40%</a:t>
            </a:r>
          </a:p>
        </p:txBody>
      </p:sp>
      <p:sp>
        <p:nvSpPr>
          <p:cNvPr id="10" name="Median 83.87%">
            <a:extLst xmlns:a="http://schemas.openxmlformats.org/drawingml/2006/main">
              <a:ext uri="{FF2B5EF4-FFF2-40B4-BE49-F238E27FC236}">
                <a16:creationId xmlns:a16="http://schemas.microsoft.com/office/drawing/2014/main" id="{A4631108-99C5-4BA1-98C8-72CAB709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33775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63DBC0"/>
                </a:solidFill>
                <a:latin typeface="Segoe UI"/>
                <a:ea typeface="Segoe UI"/>
                <a:cs typeface="Segoe UI"/>
              </a:rPr>
              <a:t>Median 83.87%</a:t>
            </a:r>
          </a:p>
        </p:txBody>
      </p:sp>
      <p:sp>
        <p:nvSpPr>
          <p:cNvPr id="11" name="Cardiac response">
            <a:extLst xmlns:a="http://schemas.openxmlformats.org/drawingml/2006/main">
              <a:ext uri="{FF2B5EF4-FFF2-40B4-BE49-F238E27FC236}">
                <a16:creationId xmlns:a16="http://schemas.microsoft.com/office/drawing/2014/main" id="{A8BBAEF4-BAE5-4223-A0D4-F93A8C0F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529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B1A1FF"/>
                </a:solidFill>
                <a:latin typeface="Segoe UI"/>
                <a:ea typeface="Segoe UI"/>
                <a:cs typeface="Segoe UI"/>
              </a:rPr>
              <a:t>Cardiac response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06D9C-BCC7-4DFA-A296-72673E52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81550"/>
            <a:ext cx="51089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1A1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C334ED-2E99-4126-9BC3-12A74418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022" y="4552950"/>
            <a:ext cx="95250" cy="45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B1A1FF"/>
          </a:solidFill>
          <a:ln xmlns:a="http://schemas.openxmlformats.org/drawingml/2006/main" w="15240">
            <a:solidFill>
              <a:srgbClr val="B1A1FF"/>
            </a:solidFill>
            <a:prstDash val="solid"/>
          </a:ln>
        </p:spPr>
      </p:sp>
      <p:sp>
        <p:nvSpPr>
          <p:cNvPr id="14" name="10th–90th: 84.40–90.53%">
            <a:extLst xmlns:a="http://schemas.openxmlformats.org/drawingml/2006/main">
              <a:ext uri="{FF2B5EF4-FFF2-40B4-BE49-F238E27FC236}">
                <a16:creationId xmlns:a16="http://schemas.microsoft.com/office/drawing/2014/main" id="{89D2C24D-7341-4C73-8437-19126FD1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006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defPPr>
            <a:lvl1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1pPr>
            <a:lvl2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2pPr>
            <a:lvl3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3pPr>
            <a:lvl4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4pPr>
            <a:lvl5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5pPr>
            <a:lvl6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6pPr>
            <a:lvl7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7pPr>
            <a:lvl8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8pPr>
            <a:lvl9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A5BBCA"/>
                </a:solidFill>
                <a:latin typeface="Consolas"/>
                <a:ea typeface="Consolas"/>
                <a:cs typeface="Consolas"/>
              </a:rPr>
              <a:t>10th–90th: 84.40–90.53%</a:t>
            </a:r>
          </a:p>
        </p:txBody>
      </p:sp>
      <p:sp>
        <p:nvSpPr>
          <p:cNvPr id="15" name="Median 87.81%">
            <a:extLst xmlns:a="http://schemas.openxmlformats.org/drawingml/2006/main">
              <a:ext uri="{FF2B5EF4-FFF2-40B4-BE49-F238E27FC236}">
                <a16:creationId xmlns:a16="http://schemas.microsoft.com/office/drawing/2014/main" id="{993475E5-7F6B-4418-A8D6-B3DFA774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0065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B1A1FF"/>
                </a:solidFill>
                <a:latin typeface="Segoe UI"/>
                <a:ea typeface="Segoe UI"/>
                <a:cs typeface="Segoe UI"/>
              </a:rPr>
              <a:t>Median 87.81%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38B1D-0C9C-4FAB-A270-CD7883DD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6270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17" name="80">
            <a:extLst xmlns:a="http://schemas.openxmlformats.org/drawingml/2006/main">
              <a:ext uri="{FF2B5EF4-FFF2-40B4-BE49-F238E27FC236}">
                <a16:creationId xmlns:a16="http://schemas.microsoft.com/office/drawing/2014/main" id="{DD3793F2-B9DD-4CE1-9556-61505DBB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5436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defPPr>
            <a:lvl1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1pPr>
            <a:lvl2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2pPr>
            <a:lvl3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3pPr>
            <a:lvl4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4pPr>
            <a:lvl5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5pPr>
            <a:lvl6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6pPr>
            <a:lvl7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7pPr>
            <a:lvl8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8pPr>
            <a:lvl9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A5BBCA"/>
                </a:solidFill>
                <a:latin typeface="Consolas"/>
                <a:ea typeface="Consolas"/>
                <a:cs typeface="Consolas"/>
              </a:rPr>
              <a:t>80</a:t>
            </a:r>
          </a:p>
        </p:txBody>
      </p:sp>
      <p:sp>
        <p:nvSpPr>
          <p:cNvPr id="18" name="82">
            <a:extLst xmlns:a="http://schemas.openxmlformats.org/drawingml/2006/main">
              <a:ext uri="{FF2B5EF4-FFF2-40B4-BE49-F238E27FC236}">
                <a16:creationId xmlns:a16="http://schemas.microsoft.com/office/drawing/2014/main" id="{50794702-58F2-419F-95E8-368D5679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65436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defPPr>
            <a:lvl1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1pPr>
            <a:lvl2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2pPr>
            <a:lvl3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3pPr>
            <a:lvl4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4pPr>
            <a:lvl5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5pPr>
            <a:lvl6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6pPr>
            <a:lvl7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7pPr>
            <a:lvl8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8pPr>
            <a:lvl9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A5BBCA"/>
                </a:solidFill>
                <a:latin typeface="Consolas"/>
                <a:ea typeface="Consolas"/>
                <a:cs typeface="Consolas"/>
              </a:rPr>
              <a:t>82</a:t>
            </a:r>
          </a:p>
        </p:txBody>
      </p:sp>
      <p:sp>
        <p:nvSpPr>
          <p:cNvPr id="19" name="84">
            <a:extLst xmlns:a="http://schemas.openxmlformats.org/drawingml/2006/main">
              <a:ext uri="{FF2B5EF4-FFF2-40B4-BE49-F238E27FC236}">
                <a16:creationId xmlns:a16="http://schemas.microsoft.com/office/drawing/2014/main" id="{1C7D3917-963B-44D4-9477-66E29BEF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65436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defPPr>
            <a:lvl1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1pPr>
            <a:lvl2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2pPr>
            <a:lvl3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3pPr>
            <a:lvl4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4pPr>
            <a:lvl5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5pPr>
            <a:lvl6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6pPr>
            <a:lvl7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7pPr>
            <a:lvl8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8pPr>
            <a:lvl9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A5BBCA"/>
                </a:solidFill>
                <a:latin typeface="Consolas"/>
                <a:ea typeface="Consolas"/>
                <a:cs typeface="Consolas"/>
              </a:rPr>
              <a:t>84</a:t>
            </a:r>
          </a:p>
        </p:txBody>
      </p:sp>
      <p:sp>
        <p:nvSpPr>
          <p:cNvPr id="20" name="86">
            <a:extLst xmlns:a="http://schemas.openxmlformats.org/drawingml/2006/main">
              <a:ext uri="{FF2B5EF4-FFF2-40B4-BE49-F238E27FC236}">
                <a16:creationId xmlns:a16="http://schemas.microsoft.com/office/drawing/2014/main" id="{575A1A33-3FD0-4DF4-AE95-7ACBF48A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65436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defPPr>
            <a:lvl1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1pPr>
            <a:lvl2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2pPr>
            <a:lvl3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3pPr>
            <a:lvl4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4pPr>
            <a:lvl5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5pPr>
            <a:lvl6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6pPr>
            <a:lvl7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7pPr>
            <a:lvl8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8pPr>
            <a:lvl9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A5BBCA"/>
                </a:solidFill>
                <a:latin typeface="Consolas"/>
                <a:ea typeface="Consolas"/>
                <a:cs typeface="Consolas"/>
              </a:rPr>
              <a:t>86</a:t>
            </a:r>
          </a:p>
        </p:txBody>
      </p:sp>
      <p:sp>
        <p:nvSpPr>
          <p:cNvPr id="21" name="88">
            <a:extLst xmlns:a="http://schemas.openxmlformats.org/drawingml/2006/main">
              <a:ext uri="{FF2B5EF4-FFF2-40B4-BE49-F238E27FC236}">
                <a16:creationId xmlns:a16="http://schemas.microsoft.com/office/drawing/2014/main" id="{18888037-0E2D-416F-82A8-04B5F8A3D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436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defPPr>
            <a:lvl1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1pPr>
            <a:lvl2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2pPr>
            <a:lvl3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3pPr>
            <a:lvl4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4pPr>
            <a:lvl5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5pPr>
            <a:lvl6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6pPr>
            <a:lvl7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7pPr>
            <a:lvl8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8pPr>
            <a:lvl9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A5BBCA"/>
                </a:solidFill>
                <a:latin typeface="Consolas"/>
                <a:ea typeface="Consolas"/>
                <a:cs typeface="Consolas"/>
              </a:rPr>
              <a:t>88</a:t>
            </a:r>
          </a:p>
        </p:txBody>
      </p:sp>
      <p:sp>
        <p:nvSpPr>
          <p:cNvPr id="22" name="90">
            <a:extLst xmlns:a="http://schemas.openxmlformats.org/drawingml/2006/main">
              <a:ext uri="{FF2B5EF4-FFF2-40B4-BE49-F238E27FC236}">
                <a16:creationId xmlns:a16="http://schemas.microsoft.com/office/drawing/2014/main" id="{964E6F5F-B681-4770-8902-DA34FD11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0575" y="65436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defPPr>
            <a:lvl1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1pPr>
            <a:lvl2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2pPr>
            <a:lvl3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3pPr>
            <a:lvl4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4pPr>
            <a:lvl5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5pPr>
            <a:lvl6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6pPr>
            <a:lvl7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7pPr>
            <a:lvl8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8pPr>
            <a:lvl9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A5BBCA"/>
                </a:solidFill>
                <a:latin typeface="Consolas"/>
                <a:ea typeface="Consolas"/>
                <a:cs typeface="Consolas"/>
              </a:rPr>
              <a:t>90</a:t>
            </a:r>
          </a:p>
        </p:txBody>
      </p:sp>
      <p:sp>
        <p:nvSpPr>
          <p:cNvPr id="23" name="92">
            <a:extLst xmlns:a="http://schemas.openxmlformats.org/drawingml/2006/main">
              <a:ext uri="{FF2B5EF4-FFF2-40B4-BE49-F238E27FC236}">
                <a16:creationId xmlns:a16="http://schemas.microsoft.com/office/drawing/2014/main" id="{3F59EE54-2E6C-421F-B891-AE5E1D50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6543675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defPPr>
            <a:lvl1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1pPr>
            <a:lvl2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2pPr>
            <a:lvl3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3pPr>
            <a:lvl4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4pPr>
            <a:lvl5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5pPr>
            <a:lvl6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6pPr>
            <a:lvl7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7pPr>
            <a:lvl8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8pPr>
            <a:lvl9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A5BBCA"/>
                </a:solidFill>
                <a:latin typeface="Consolas"/>
                <a:ea typeface="Consolas"/>
                <a:cs typeface="Consolas"/>
              </a:rPr>
              <a:t>92</a:t>
            </a:r>
          </a:p>
        </p:txBody>
      </p:sp>
      <p:sp>
        <p:nvSpPr>
          <p:cNvPr id="24" name="% of starting blood volume">
            <a:extLst xmlns:a="http://schemas.openxmlformats.org/drawingml/2006/main">
              <a:ext uri="{FF2B5EF4-FFF2-40B4-BE49-F238E27FC236}">
                <a16:creationId xmlns:a16="http://schemas.microsoft.com/office/drawing/2014/main" id="{85CD45F4-C283-4215-AB5B-6E0E07FB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029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% of starting blood volume</a:t>
            </a:r>
          </a:p>
        </p:txBody>
      </p:sp>
      <p:sp>
        <p:nvSpPr>
          <p:cNvPr id="25" name="0.39378 bits">
            <a:extLst xmlns:a="http://schemas.openxmlformats.org/drawingml/2006/main">
              <a:ext uri="{FF2B5EF4-FFF2-40B4-BE49-F238E27FC236}">
                <a16:creationId xmlns:a16="http://schemas.microsoft.com/office/drawing/2014/main" id="{378AC32C-CA01-4A3D-8A55-077A46FC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defPPr>
            <a:lvl1pPr>
              <a:defRPr sz="32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1pPr>
            <a:lvl2pPr>
              <a:defRPr sz="32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2pPr>
            <a:lvl3pPr>
              <a:defRPr sz="32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3pPr>
            <a:lvl4pPr>
              <a:defRPr sz="32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4pPr>
            <a:lvl5pPr>
              <a:defRPr sz="32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5pPr>
            <a:lvl6pPr>
              <a:defRPr sz="32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6pPr>
            <a:lvl7pPr>
              <a:defRPr sz="32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7pPr>
            <a:lvl8pPr>
              <a:defRPr sz="32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8pPr>
            <a:lvl9pPr>
              <a:defRPr sz="32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pPr>
            <a:r>
              <a:rPr sz="3225" b="1">
                <a:solidFill>
                  <a:srgbClr val="65C9F1"/>
                </a:solidFill>
                <a:latin typeface="Segoe UI"/>
                <a:ea typeface="Segoe UI"/>
                <a:cs typeface="Segoe UI"/>
              </a:rPr>
              <a:t>0.39378 bits</a:t>
            </a:r>
          </a:p>
        </p:txBody>
      </p:sp>
      <p:sp>
        <p:nvSpPr>
          <p:cNvPr id="26" name="expected pair information">
            <a:extLst xmlns:a="http://schemas.openxmlformats.org/drawingml/2006/main">
              <a:ext uri="{FF2B5EF4-FFF2-40B4-BE49-F238E27FC236}">
                <a16:creationId xmlns:a16="http://schemas.microsoft.com/office/drawing/2014/main" id="{7BEC3347-14B2-4D36-B66F-E805A364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11517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expected pair information</a:t>
            </a:r>
          </a:p>
        </p:txBody>
      </p:sp>
    </p:spTree>
    <p:extLst>
      <p:ext uri="{BB962C8B-B14F-4D97-AF65-F5344CB8AC3E}">
        <p14:creationId xmlns:p14="http://schemas.microsoft.com/office/powerpoint/2010/main" val="857737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he device returns 85.0%">
            <a:extLst xmlns:a="http://schemas.openxmlformats.org/drawingml/2006/main">
              <a:ext uri="{FF2B5EF4-FFF2-40B4-BE49-F238E27FC236}">
                <a16:creationId xmlns:a16="http://schemas.microsoft.com/office/drawing/2014/main" id="{5617FCBE-06C7-4D78-A5CD-C28A05BF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The device returns 85.0%</a:t>
            </a:r>
          </a:p>
        </p:txBody>
      </p:sp>
      <p:sp>
        <p:nvSpPr>
          <p:cNvPr id="2" name="The acquired RBV shifts the balance toward volume / refill w">
            <a:extLst xmlns:a="http://schemas.openxmlformats.org/drawingml/2006/main">
              <a:ext uri="{FF2B5EF4-FFF2-40B4-BE49-F238E27FC236}">
                <a16:creationId xmlns:a16="http://schemas.microsoft.com/office/drawing/2014/main" id="{A1A8F01C-DC33-4DDD-AC39-AE7C09EB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The acquired RBV shifts the balance toward volume / refill without eliminating cardiac support.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576D8-B9BF-4CC4-8802-3FA41E6D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BC926215-0122-42EF-9FB8-0DEC7D71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11">
            <a:extLst xmlns:a="http://schemas.openxmlformats.org/drawingml/2006/main">
              <a:ext uri="{FF2B5EF4-FFF2-40B4-BE49-F238E27FC236}">
                <a16:creationId xmlns:a16="http://schemas.microsoft.com/office/drawing/2014/main" id="{DDE8113B-B08B-4B96-A02D-7BD06B5D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DF5F9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C140D-22B0-4C5C-A41B-6173725690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a10184da14185"/>
          <a:stretch xmlns:a="http://schemas.openxmlformats.org/drawingml/2006/main"/>
        </p:blipFill>
        <p:spPr>
          <a:xfrm xmlns:a="http://schemas.openxmlformats.org/drawingml/2006/main">
            <a:off x="883708" y="2238375"/>
            <a:ext cx="9567333" cy="5381625"/>
          </a:xfrm>
          <a:prstGeom xmlns:a="http://schemas.openxmlformats.org/drawingml/2006/main" prst="rect">
            <a:avLst/>
          </a:prstGeom>
        </p:spPr>
      </p:pic>
      <p:sp>
        <p:nvSpPr>
          <p:cNvPr id="7" name="66.9%">
            <a:extLst xmlns:a="http://schemas.openxmlformats.org/drawingml/2006/main">
              <a:ext uri="{FF2B5EF4-FFF2-40B4-BE49-F238E27FC236}">
                <a16:creationId xmlns:a16="http://schemas.microsoft.com/office/drawing/2014/main" id="{A5198DB7-5712-46DD-86C7-1138BB08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48602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defPPr>
            <a:lvl1pPr>
              <a:defRPr sz="57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1pPr>
            <a:lvl2pPr>
              <a:defRPr sz="57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2pPr>
            <a:lvl3pPr>
              <a:defRPr sz="57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3pPr>
            <a:lvl4pPr>
              <a:defRPr sz="57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4pPr>
            <a:lvl5pPr>
              <a:defRPr sz="57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5pPr>
            <a:lvl6pPr>
              <a:defRPr sz="57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6pPr>
            <a:lvl7pPr>
              <a:defRPr sz="57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7pPr>
            <a:lvl8pPr>
              <a:defRPr sz="57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8pPr>
            <a:lvl9pPr>
              <a:defRPr sz="57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63DBC0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63DBC0"/>
                </a:solidFill>
                <a:latin typeface="Segoe UI"/>
                <a:ea typeface="Segoe UI"/>
                <a:cs typeface="Segoe UI"/>
              </a:rPr>
              <a:t>66.9%</a:t>
            </a:r>
          </a:p>
        </p:txBody>
      </p:sp>
      <p:sp>
        <p:nvSpPr>
          <p:cNvPr id="8" name="volume / refill support">
            <a:extLst xmlns:a="http://schemas.openxmlformats.org/drawingml/2006/main">
              <a:ext uri="{FF2B5EF4-FFF2-40B4-BE49-F238E27FC236}">
                <a16:creationId xmlns:a16="http://schemas.microsoft.com/office/drawing/2014/main" id="{2AEBA428-2708-45D3-B2C8-08B8E596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5337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volume / refill support</a:t>
            </a:r>
          </a:p>
        </p:txBody>
      </p:sp>
      <p:sp>
        <p:nvSpPr>
          <p:cNvPr id="9" name="31.8%">
            <a:extLst xmlns:a="http://schemas.openxmlformats.org/drawingml/2006/main">
              <a:ext uri="{FF2B5EF4-FFF2-40B4-BE49-F238E27FC236}">
                <a16:creationId xmlns:a16="http://schemas.microsoft.com/office/drawing/2014/main" id="{803AA08E-4A3F-4294-A395-4900FD6C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11492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defPPr>
            <a:lvl1pPr>
              <a:defRPr sz="57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1pPr>
            <a:lvl2pPr>
              <a:defRPr sz="57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2pPr>
            <a:lvl3pPr>
              <a:defRPr sz="57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3pPr>
            <a:lvl4pPr>
              <a:defRPr sz="57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4pPr>
            <a:lvl5pPr>
              <a:defRPr sz="57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5pPr>
            <a:lvl6pPr>
              <a:defRPr sz="57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6pPr>
            <a:lvl7pPr>
              <a:defRPr sz="57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7pPr>
            <a:lvl8pPr>
              <a:defRPr sz="57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8pPr>
            <a:lvl9pPr>
              <a:defRPr sz="57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B1A1FF"/>
                </a:solidFill>
                <a:latin typeface="Segoe UI"/>
                <a:ea typeface="Segoe UI"/>
                <a:cs typeface="Segoe UI"/>
              </a:rPr>
              <a:t>31.8%</a:t>
            </a:r>
          </a:p>
        </p:txBody>
      </p:sp>
      <p:sp>
        <p:nvSpPr>
          <p:cNvPr id="10" name="cardiac response support">
            <a:extLst xmlns:a="http://schemas.openxmlformats.org/drawingml/2006/main">
              <a:ext uri="{FF2B5EF4-FFF2-40B4-BE49-F238E27FC236}">
                <a16:creationId xmlns:a16="http://schemas.microsoft.com/office/drawing/2014/main" id="{3F568F02-3239-4D0E-AF01-767EC076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1626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cardiac response support</a:t>
            </a:r>
          </a:p>
        </p:txBody>
      </p:sp>
    </p:spTree>
    <p:extLst>
      <p:ext uri="{BB962C8B-B14F-4D97-AF65-F5344CB8AC3E}">
        <p14:creationId xmlns:p14="http://schemas.microsoft.com/office/powerpoint/2010/main" val="62981730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Information and action value answer different questions">
            <a:extLst xmlns:a="http://schemas.openxmlformats.org/drawingml/2006/main">
              <a:ext uri="{FF2B5EF4-FFF2-40B4-BE49-F238E27FC236}">
                <a16:creationId xmlns:a16="http://schemas.microsoft.com/office/drawing/2014/main" id="{64DFD6B2-73ED-4A2B-9E82-A6E7FF4D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Information and action value answer different questions</a:t>
            </a:r>
          </a:p>
        </p:txBody>
      </p:sp>
      <p:sp>
        <p:nvSpPr>
          <p:cNvPr id="2" name="Both use current beliefs, but only one includes the modeled ">
            <a:extLst xmlns:a="http://schemas.openxmlformats.org/drawingml/2006/main">
              <a:ext uri="{FF2B5EF4-FFF2-40B4-BE49-F238E27FC236}">
                <a16:creationId xmlns:a16="http://schemas.microsoft.com/office/drawing/2014/main" id="{53A1FB86-989F-4732-8725-1BFD2967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Both use current beliefs, but only one includes the modeled consequence of a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407B0-BC52-40A4-814D-DEFCAFC7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02F4780C-87A2-4643-8B74-12FE5081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C307CC81-B94F-495E-BBB5-B103DC49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DF5F9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8D103-5071-4CB8-BDBB-2670B3A572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041bf84204f98"/>
          <a:stretch xmlns:a="http://schemas.openxmlformats.org/drawingml/2006/main"/>
        </p:blipFill>
        <p:spPr>
          <a:xfrm xmlns:a="http://schemas.openxmlformats.org/drawingml/2006/main">
            <a:off x="619125" y="25717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7" name="Information">
            <a:extLst xmlns:a="http://schemas.openxmlformats.org/drawingml/2006/main">
              <a:ext uri="{FF2B5EF4-FFF2-40B4-BE49-F238E27FC236}">
                <a16:creationId xmlns:a16="http://schemas.microsoft.com/office/drawing/2014/main" id="{61D76142-FF35-45EA-A9A2-F6989C15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9567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52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defPPr>
            <a:lvl1pPr>
              <a:defRPr sz="352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1pPr>
            <a:lvl2pPr>
              <a:defRPr sz="352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2pPr>
            <a:lvl3pPr>
              <a:defRPr sz="352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3pPr>
            <a:lvl4pPr>
              <a:defRPr sz="352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4pPr>
            <a:lvl5pPr>
              <a:defRPr sz="352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5pPr>
            <a:lvl6pPr>
              <a:defRPr sz="352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6pPr>
            <a:lvl7pPr>
              <a:defRPr sz="352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7pPr>
            <a:lvl8pPr>
              <a:defRPr sz="352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8pPr>
            <a:lvl9pPr>
              <a:defRPr sz="352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pPr>
            <a:r>
              <a:rPr sz="3525" b="1">
                <a:solidFill>
                  <a:srgbClr val="B1A1FF"/>
                </a:solidFill>
                <a:latin typeface="Segoe UI"/>
                <a:ea typeface="Segoe UI"/>
                <a:cs typeface="Segoe UI"/>
              </a:rPr>
              <a:t>Information</a:t>
            </a:r>
          </a:p>
        </p:txBody>
      </p:sp>
      <p:sp>
        <p:nvSpPr>
          <p:cNvPr id="8" name="Expected uncertainty reduction">
            <a:extLst xmlns:a="http://schemas.openxmlformats.org/drawingml/2006/main">
              <a:ext uri="{FF2B5EF4-FFF2-40B4-BE49-F238E27FC236}">
                <a16:creationId xmlns:a16="http://schemas.microsoft.com/office/drawing/2014/main" id="{AD18DCB2-F447-444E-9587-149160C1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19600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Expected uncertainty reduction</a:t>
            </a:r>
          </a:p>
        </p:txBody>
      </p:sp>
      <p:sp>
        <p:nvSpPr>
          <p:cNvPr id="9" name="Which feasible observation could&#10;separate the remaining expl">
            <a:extLst xmlns:a="http://schemas.openxmlformats.org/drawingml/2006/main">
              <a:ext uri="{FF2B5EF4-FFF2-40B4-BE49-F238E27FC236}">
                <a16:creationId xmlns:a16="http://schemas.microsoft.com/office/drawing/2014/main" id="{82CF15E4-8FD7-4AF5-97D1-28F9724B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53050"/>
            <a:ext cx="628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Which feasible observation could</a:t>
            </a:r>
          </a:p>
          <a:p xmlns:a="http://schemas.openxmlformats.org/drawingml/2006/main">
            <a: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separate the remaining explanations?</a:t>
            </a:r>
          </a:p>
        </p:txBody>
      </p:sp>
      <p:sp>
        <p:nvSpPr>
          <p:cNvPr id="10" name="Units: bits">
            <a:extLst xmlns:a="http://schemas.openxmlformats.org/drawingml/2006/main">
              <a:ext uri="{FF2B5EF4-FFF2-40B4-BE49-F238E27FC236}">
                <a16:creationId xmlns:a16="http://schemas.microsoft.com/office/drawing/2014/main" id="{50A824B3-68CD-4FAA-B367-BFBD489B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943725"/>
            <a:ext cx="628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B1A1FF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B1A1FF"/>
                </a:solidFill>
                <a:latin typeface="Consolas"/>
                <a:ea typeface="Consolas"/>
                <a:cs typeface="Consolas"/>
              </a:rPr>
              <a:t>Units: bits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54039-0734-4882-94FF-0B87352C77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40f8d78053431d"/>
          <a:stretch xmlns:a="http://schemas.openxmlformats.org/drawingml/2006/main"/>
        </p:blipFill>
        <p:spPr>
          <a:xfrm xmlns:a="http://schemas.openxmlformats.org/drawingml/2006/main">
            <a:off x="8239125" y="25717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2" name="Action value">
            <a:extLst xmlns:a="http://schemas.openxmlformats.org/drawingml/2006/main">
              <a:ext uri="{FF2B5EF4-FFF2-40B4-BE49-F238E27FC236}">
                <a16:creationId xmlns:a16="http://schemas.microsoft.com/office/drawing/2014/main" id="{DDF13D3A-AE82-4997-9EAC-47278CC3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95675"/>
            <a:ext cx="633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5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defPPr>
            <a:lvl1pPr>
              <a:defRPr sz="35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1pPr>
            <a:lvl2pPr>
              <a:defRPr sz="35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2pPr>
            <a:lvl3pPr>
              <a:defRPr sz="35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3pPr>
            <a:lvl4pPr>
              <a:defRPr sz="35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4pPr>
            <a:lvl5pPr>
              <a:defRPr sz="35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5pPr>
            <a:lvl6pPr>
              <a:defRPr sz="35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6pPr>
            <a:lvl7pPr>
              <a:defRPr sz="35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7pPr>
            <a:lvl8pPr>
              <a:defRPr sz="35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8pPr>
            <a:lvl9pPr>
              <a:defRPr sz="35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pPr>
            <a:r>
              <a:rPr sz="3525" b="1">
                <a:solidFill>
                  <a:srgbClr val="65C9F1"/>
                </a:solidFill>
                <a:latin typeface="Segoe UI"/>
                <a:ea typeface="Segoe UI"/>
                <a:cs typeface="Segoe UI"/>
              </a:rPr>
              <a:t>Action value</a:t>
            </a:r>
          </a:p>
        </p:txBody>
      </p:sp>
      <p:sp>
        <p:nvSpPr>
          <p:cNvPr id="13" name="Expected modeled loss reduction">
            <a:extLst xmlns:a="http://schemas.openxmlformats.org/drawingml/2006/main">
              <a:ext uri="{FF2B5EF4-FFF2-40B4-BE49-F238E27FC236}">
                <a16:creationId xmlns:a16="http://schemas.microsoft.com/office/drawing/2014/main" id="{7DE6A889-4309-4A1E-BDEB-375996CC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419600"/>
            <a:ext cx="6334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Expected modeled loss reduction</a:t>
            </a:r>
          </a:p>
        </p:txBody>
      </p:sp>
      <p:sp>
        <p:nvSpPr>
          <p:cNvPr id="14" name="Could the result improve the comparison&#10;after waiting, failu">
            <a:extLst xmlns:a="http://schemas.openxmlformats.org/drawingml/2006/main">
              <a:ext uri="{FF2B5EF4-FFF2-40B4-BE49-F238E27FC236}">
                <a16:creationId xmlns:a16="http://schemas.microsoft.com/office/drawing/2014/main" id="{F0750AD3-7AC7-4267-B592-3608597A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53050"/>
            <a:ext cx="6334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Could the result improve the comparison</a:t>
            </a:r>
          </a:p>
          <a:p xmlns:a="http://schemas.openxmlformats.org/drawingml/2006/main">
            <a:pPr>
              <a:defRPr sz="24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40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after waiting, failure and burden?</a:t>
            </a:r>
          </a:p>
        </p:txBody>
      </p:sp>
      <p:sp>
        <p:nvSpPr>
          <p:cNvPr id="15" name="Units: declared research loss">
            <a:extLst xmlns:a="http://schemas.openxmlformats.org/drawingml/2006/main">
              <a:ext uri="{FF2B5EF4-FFF2-40B4-BE49-F238E27FC236}">
                <a16:creationId xmlns:a16="http://schemas.microsoft.com/office/drawing/2014/main" id="{0BAD90AA-BF4A-4354-B0BD-26768BA6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943725"/>
            <a:ext cx="633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5C9F1"/>
                </a:solidFill>
                <a:latin typeface="Consolas"/>
                <a:ea typeface="Consolas"/>
                <a:cs typeface="Consolas"/>
              </a:rPr>
              <a:t>Units: declared research loss</a:t>
            </a:r>
          </a:p>
        </p:txBody>
      </p:sp>
    </p:spTree>
    <p:extLst>
      <p:ext uri="{BB962C8B-B14F-4D97-AF65-F5344CB8AC3E}">
        <p14:creationId xmlns:p14="http://schemas.microsoft.com/office/powerpoint/2010/main" val="15915509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very observation has a lineage">
            <a:extLst xmlns:a="http://schemas.openxmlformats.org/drawingml/2006/main">
              <a:ext uri="{FF2B5EF4-FFF2-40B4-BE49-F238E27FC236}">
                <a16:creationId xmlns:a16="http://schemas.microsoft.com/office/drawing/2014/main" id="{4B5EF453-D4B6-4117-9E8B-9BA6156D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Every observation has a lineage</a:t>
            </a:r>
          </a:p>
        </p:txBody>
      </p:sp>
      <p:sp>
        <p:nvSpPr>
          <p:cNvPr id="2" name="Failures, artifacts and corrections remain distinguishable f">
            <a:extLst xmlns:a="http://schemas.openxmlformats.org/drawingml/2006/main">
              <a:ext uri="{FF2B5EF4-FFF2-40B4-BE49-F238E27FC236}">
                <a16:creationId xmlns:a16="http://schemas.microsoft.com/office/drawing/2014/main" id="{CB91F14B-03FF-411D-BA8E-1FA99131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Failures, artifacts and corrections remain distinguishable from evidence used in inference.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847F9-CA38-4A20-A204-A955E15C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3D064999-6F70-4D7E-8A97-C1B86F37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36DE4555-A4AD-457F-8862-873C6E3F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DF5F9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D2426-5086-420F-9C51-93811959C0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018895a4d4dec"/>
          <a:stretch xmlns:a="http://schemas.openxmlformats.org/drawingml/2006/main"/>
        </p:blipFill>
        <p:spPr>
          <a:xfrm xmlns:a="http://schemas.openxmlformats.org/drawingml/2006/main">
            <a:off x="6191250" y="2463105"/>
            <a:ext cx="8429625" cy="4741664"/>
          </a:xfrm>
          <a:prstGeom xmlns:a="http://schemas.openxmlformats.org/drawingml/2006/main" prst="rect">
            <a:avLst/>
          </a:prstGeom>
        </p:spPr>
      </p:pic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D9039FB3-9B57-422D-82A5-984EADF7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FFA383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8" name="Observe">
            <a:extLst xmlns:a="http://schemas.openxmlformats.org/drawingml/2006/main">
              <a:ext uri="{FF2B5EF4-FFF2-40B4-BE49-F238E27FC236}">
                <a16:creationId xmlns:a16="http://schemas.microsoft.com/office/drawing/2014/main" id="{9F22E37E-5653-43C9-B948-DE33C0CC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622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Observe</a:t>
            </a:r>
          </a:p>
        </p:txBody>
      </p:sp>
      <p:sp>
        <p:nvSpPr>
          <p:cNvPr id="9" name="Record physiological time and quality.">
            <a:extLst xmlns:a="http://schemas.openxmlformats.org/drawingml/2006/main">
              <a:ext uri="{FF2B5EF4-FFF2-40B4-BE49-F238E27FC236}">
                <a16:creationId xmlns:a16="http://schemas.microsoft.com/office/drawing/2014/main" id="{18145D66-19FC-42C0-8F7F-39CE010D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76550"/>
            <a:ext cx="4286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Record physiological time and quality.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6E90D415-5881-4147-8F60-C954C0AF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052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FFA383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Release">
            <a:extLst xmlns:a="http://schemas.openxmlformats.org/drawingml/2006/main">
              <a:ext uri="{FF2B5EF4-FFF2-40B4-BE49-F238E27FC236}">
                <a16:creationId xmlns:a16="http://schemas.microsoft.com/office/drawing/2014/main" id="{D9390FE7-665C-4016-B958-12CB1755E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385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Release</a:t>
            </a:r>
          </a:p>
        </p:txBody>
      </p:sp>
      <p:sp>
        <p:nvSpPr>
          <p:cNvPr id="12" name="Make evidence available after delay.">
            <a:extLst xmlns:a="http://schemas.openxmlformats.org/drawingml/2006/main">
              <a:ext uri="{FF2B5EF4-FFF2-40B4-BE49-F238E27FC236}">
                <a16:creationId xmlns:a16="http://schemas.microsoft.com/office/drawing/2014/main" id="{80ADAB47-65AC-4D6B-8AA2-1C5A1A25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52900"/>
            <a:ext cx="4286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Make evidence available after delay.</a:t>
            </a:r>
          </a:p>
        </p:txBody>
      </p:sp>
      <p:sp>
        <p:nvSpPr>
          <p:cNvPr id="13" name="03">
            <a:extLst xmlns:a="http://schemas.openxmlformats.org/drawingml/2006/main">
              <a:ext uri="{FF2B5EF4-FFF2-40B4-BE49-F238E27FC236}">
                <a16:creationId xmlns:a16="http://schemas.microsoft.com/office/drawing/2014/main" id="{07271E11-25A6-43B7-A70F-7FE33D64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FFA383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4" name="Correct">
            <a:extLst xmlns:a="http://schemas.openxmlformats.org/drawingml/2006/main">
              <a:ext uri="{FF2B5EF4-FFF2-40B4-BE49-F238E27FC236}">
                <a16:creationId xmlns:a16="http://schemas.microsoft.com/office/drawing/2014/main" id="{61514426-6937-485B-AE2D-B3DFD96F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9149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Correct</a:t>
            </a:r>
          </a:p>
        </p:txBody>
      </p:sp>
      <p:sp>
        <p:nvSpPr>
          <p:cNvPr id="15" name="Append a reason and supersedes link.">
            <a:extLst xmlns:a="http://schemas.openxmlformats.org/drawingml/2006/main">
              <a:ext uri="{FF2B5EF4-FFF2-40B4-BE49-F238E27FC236}">
                <a16:creationId xmlns:a16="http://schemas.microsoft.com/office/drawing/2014/main" id="{9653EB48-D229-430F-8E79-0D8EFD30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429250"/>
            <a:ext cx="4286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Append a reason and supersedes link.</a:t>
            </a:r>
          </a:p>
        </p:txBody>
      </p:sp>
      <p:sp>
        <p:nvSpPr>
          <p:cNvPr id="16" name="04">
            <a:extLst xmlns:a="http://schemas.openxmlformats.org/drawingml/2006/main">
              <a:ext uri="{FF2B5EF4-FFF2-40B4-BE49-F238E27FC236}">
                <a16:creationId xmlns:a16="http://schemas.microsoft.com/office/drawing/2014/main" id="{92664EC5-0A95-4F07-8F9E-B6B5CBD4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57925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defPPr>
            <a:lvl1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1pPr>
            <a:lvl2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2pPr>
            <a:lvl3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3pPr>
            <a:lvl4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4pPr>
            <a:lvl5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5pPr>
            <a:lvl6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6pPr>
            <a:lvl7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7pPr>
            <a:lvl8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8pPr>
            <a:lvl9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FA38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FFA383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7" name="Save">
            <a:extLst xmlns:a="http://schemas.openxmlformats.org/drawingml/2006/main">
              <a:ext uri="{FF2B5EF4-FFF2-40B4-BE49-F238E27FC236}">
                <a16:creationId xmlns:a16="http://schemas.microsoft.com/office/drawing/2014/main" id="{084659DD-E0E0-4CC9-9902-CB0D2995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1912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Save</a:t>
            </a:r>
          </a:p>
        </p:txBody>
      </p:sp>
      <p:sp>
        <p:nvSpPr>
          <p:cNvPr id="18" name="Keep revision and evidence in a snapshot.">
            <a:extLst xmlns:a="http://schemas.openxmlformats.org/drawingml/2006/main">
              <a:ext uri="{FF2B5EF4-FFF2-40B4-BE49-F238E27FC236}">
                <a16:creationId xmlns:a16="http://schemas.microsoft.com/office/drawing/2014/main" id="{DA1D07A3-B99D-49BF-BCEC-34F2176F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705600"/>
            <a:ext cx="4286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Keep revision and evidence in a snapshot.</a:t>
            </a:r>
          </a:p>
        </p:txBody>
      </p:sp>
    </p:spTree>
    <p:extLst>
      <p:ext uri="{BB962C8B-B14F-4D97-AF65-F5344CB8AC3E}">
        <p14:creationId xmlns:p14="http://schemas.microsoft.com/office/powerpoint/2010/main" val="8067703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1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istory adds a small retrospective signal">
            <a:extLst xmlns:a="http://schemas.openxmlformats.org/drawingml/2006/main">
              <a:ext uri="{FF2B5EF4-FFF2-40B4-BE49-F238E27FC236}">
                <a16:creationId xmlns:a16="http://schemas.microsoft.com/office/drawing/2014/main" id="{167202A3-A4E8-4F96-A87E-E11A3F83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02B3B"/>
                </a:solidFill>
                <a:latin typeface="Segoe UI"/>
                <a:ea typeface="Segoe UI"/>
                <a:cs typeface="Segoe UI"/>
              </a:rPr>
              <a:t>History adds a small retrospective signal</a:t>
            </a:r>
          </a:p>
        </p:txBody>
      </p:sp>
      <p:sp>
        <p:nvSpPr>
          <p:cNvPr id="2" name="HEMOBP v3. 61,947 test windows from 176 patients, with no pa">
            <a:extLst xmlns:a="http://schemas.openxmlformats.org/drawingml/2006/main">
              <a:ext uri="{FF2B5EF4-FFF2-40B4-BE49-F238E27FC236}">
                <a16:creationId xmlns:a16="http://schemas.microsoft.com/office/drawing/2014/main" id="{984BD62E-BA57-40BB-9DAF-54A9DCA2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16F7D"/>
                </a:solidFill>
                <a:latin typeface="Segoe UI"/>
                <a:ea typeface="Segoe UI"/>
                <a:cs typeface="Segoe UI"/>
              </a:rPr>
              <a:t>HEMOBP v3. 61,947 test windows from 176 patients, with no patient overlap between splits.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8A9AE-AC3B-46EA-9FCC-C794B424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8DA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9E284A54-CCA1-46B4-9765-69820A69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B7884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137F7ADD-EC97-4B23-ABDE-27539039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02B3B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3F9FE72-B6F1-456C-97C3-19D3B86D0E5E}"/>
              </a:ext>
            </a:extLst>
          </p:cNvPr>
          <p:cNvGraphicFramePr/>
          <p:nvPr/>
        </p:nvGraphicFramePr>
        <p:xfrm>
          <a:off xmlns:a="http://schemas.openxmlformats.org/drawingml/2006/main" x="628650" y="2428875"/>
          <a:ext xmlns:a="http://schemas.openxmlformats.org/drawingml/2006/main" cx="10096500" cy="4714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58436bbcdf4d25"/>
          </a:graphicData>
        </a:graphic>
      </p:graphicFrame>
      <p:sp>
        <p:nvSpPr>
          <p:cNvPr id="7" name="−0.1665">
            <a:extLst xmlns:a="http://schemas.openxmlformats.org/drawingml/2006/main">
              <a:ext uri="{FF2B5EF4-FFF2-40B4-BE49-F238E27FC236}">
                <a16:creationId xmlns:a16="http://schemas.microsoft.com/office/drawing/2014/main" id="{59C6A397-F792-4614-8BEB-5629C173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7432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35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defPPr>
            <a:lvl1pPr>
              <a:defRPr sz="435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lvl1pPr>
            <a:lvl2pPr>
              <a:defRPr sz="435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lvl2pPr>
            <a:lvl3pPr>
              <a:defRPr sz="435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lvl3pPr>
            <a:lvl4pPr>
              <a:defRPr sz="435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lvl4pPr>
            <a:lvl5pPr>
              <a:defRPr sz="435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lvl5pPr>
            <a:lvl6pPr>
              <a:defRPr sz="435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lvl6pPr>
            <a:lvl7pPr>
              <a:defRPr sz="435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lvl7pPr>
            <a:lvl8pPr>
              <a:defRPr sz="435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lvl8pPr>
            <a:lvl9pPr>
              <a:defRPr sz="435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pPr>
            <a:r>
              <a:rPr sz="4350" b="1">
                <a:solidFill>
                  <a:srgbClr val="147D83"/>
                </a:solidFill>
                <a:latin typeface="Segoe UI"/>
                <a:ea typeface="Segoe UI"/>
                <a:cs typeface="Segoe UI"/>
              </a:rPr>
              <a:t>−0.1665</a:t>
            </a:r>
          </a:p>
        </p:txBody>
      </p:sp>
      <p:sp>
        <p:nvSpPr>
          <p:cNvPr id="8" name="mmHg paired history increment">
            <a:extLst xmlns:a="http://schemas.openxmlformats.org/drawingml/2006/main">
              <a:ext uri="{FF2B5EF4-FFF2-40B4-BE49-F238E27FC236}">
                <a16:creationId xmlns:a16="http://schemas.microsoft.com/office/drawing/2014/main" id="{6E1EE384-6B91-4931-AE99-0B3F5623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79095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16F7D"/>
                </a:solidFill>
                <a:latin typeface="Segoe UI"/>
                <a:ea typeface="Segoe UI"/>
                <a:cs typeface="Segoe UI"/>
              </a:rPr>
              <a:t>mmHg paired history increment</a:t>
            </a:r>
          </a:p>
        </p:txBody>
      </p:sp>
      <p:sp>
        <p:nvSpPr>
          <p:cNvPr id="9" name="95% patient-cluster interval&#10;[−0.2298, −0.1099]">
            <a:extLst xmlns:a="http://schemas.openxmlformats.org/drawingml/2006/main">
              <a:ext uri="{FF2B5EF4-FFF2-40B4-BE49-F238E27FC236}">
                <a16:creationId xmlns:a16="http://schemas.microsoft.com/office/drawing/2014/main" id="{B028F0F3-3D5B-48BC-A658-496FCEF5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219700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02B3B"/>
                </a:solidFill>
                <a:latin typeface="Segoe UI"/>
                <a:ea typeface="Segoe UI"/>
                <a:cs typeface="Segoe UI"/>
              </a:rPr>
              <a:t>95% patient-cluster interval</a:t>
            </a:r>
          </a:p>
          <a:p xmlns:a="http://schemas.openxmlformats.org/drawingml/2006/main">
            <a:pPr>
              <a:defRPr sz="1950" b="0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102B3B"/>
                </a:solidFill>
                <a:latin typeface="Segoe UI"/>
                <a:ea typeface="Segoe UI"/>
                <a:cs typeface="Segoe UI"/>
              </a:rPr>
              <a:t>[−0.2298, −0.1099]</a:t>
            </a:r>
          </a:p>
        </p:txBody>
      </p:sp>
      <p:sp>
        <p:nvSpPr>
          <p:cNvPr id="10" name="Clinical importance&#10;remains unestablished.">
            <a:extLst xmlns:a="http://schemas.openxmlformats.org/drawingml/2006/main">
              <a:ext uri="{FF2B5EF4-FFF2-40B4-BE49-F238E27FC236}">
                <a16:creationId xmlns:a16="http://schemas.microsoft.com/office/drawing/2014/main" id="{18244E07-1473-4600-A2C8-2E5CD55E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81037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16F7D"/>
                </a:solidFill>
                <a:latin typeface="Segoe UI"/>
                <a:ea typeface="Segoe UI"/>
                <a:cs typeface="Segoe UI"/>
              </a:rPr>
              <a:t>Clinical importance</a:t>
            </a:r>
          </a:p>
          <a:p xmlns:a="http://schemas.openxmlformats.org/drawingml/2006/main">
            <a: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16F7D"/>
                </a:solidFill>
                <a:latin typeface="Segoe UI"/>
                <a:ea typeface="Segoe UI"/>
                <a:cs typeface="Segoe UI"/>
              </a:rPr>
              <a:t>remains unestablished.</a:t>
            </a:r>
          </a:p>
        </p:txBody>
      </p:sp>
    </p:spTree>
    <p:extLst>
      <p:ext uri="{BB962C8B-B14F-4D97-AF65-F5344CB8AC3E}">
        <p14:creationId xmlns:p14="http://schemas.microsoft.com/office/powerpoint/2010/main" val="1126396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he evaluation still has material limits">
            <a:extLst xmlns:a="http://schemas.openxmlformats.org/drawingml/2006/main">
              <a:ext uri="{FF2B5EF4-FFF2-40B4-BE49-F238E27FC236}">
                <a16:creationId xmlns:a16="http://schemas.microsoft.com/office/drawing/2014/main" id="{9EB757B8-D331-4BB5-94AE-4751CBB8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The evaluation still has material limits</a:t>
            </a:r>
          </a:p>
        </p:txBody>
      </p:sp>
      <p:sp>
        <p:nvSpPr>
          <p:cNvPr id="2" name="A retrospective prediction result does not establish physiol">
            <a:extLst xmlns:a="http://schemas.openxmlformats.org/drawingml/2006/main">
              <a:ext uri="{FF2B5EF4-FFF2-40B4-BE49-F238E27FC236}">
                <a16:creationId xmlns:a16="http://schemas.microsoft.com/office/drawing/2014/main" id="{2D807752-6050-4CB9-9BA1-329CCC15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A retrospective prediction result does not establish physiological identification or clinical benefit.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F08E0E-3D33-4A45-83A8-ABAD9D29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7012DDDC-AF4F-4A79-B400-6B0C2AF4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15">
            <a:extLst xmlns:a="http://schemas.openxmlformats.org/drawingml/2006/main">
              <a:ext uri="{FF2B5EF4-FFF2-40B4-BE49-F238E27FC236}">
                <a16:creationId xmlns:a16="http://schemas.microsoft.com/office/drawing/2014/main" id="{6F05EF9E-CC87-458C-9574-4C3427DB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DF5F9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  <p:sp>
        <p:nvSpPr>
          <p:cNvPr id="6" name="61.25%">
            <a:extLst xmlns:a="http://schemas.openxmlformats.org/drawingml/2006/main">
              <a:ext uri="{FF2B5EF4-FFF2-40B4-BE49-F238E27FC236}">
                <a16:creationId xmlns:a16="http://schemas.microsoft.com/office/drawing/2014/main" id="{3BE58541-BB20-400E-A637-BB431032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550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defPPr>
            <a:lvl1pPr>
              <a:defRPr sz="5550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1pPr>
            <a:lvl2pPr>
              <a:defRPr sz="5550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2pPr>
            <a:lvl3pPr>
              <a:defRPr sz="5550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3pPr>
            <a:lvl4pPr>
              <a:defRPr sz="5550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4pPr>
            <a:lvl5pPr>
              <a:defRPr sz="5550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5pPr>
            <a:lvl6pPr>
              <a:defRPr sz="5550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6pPr>
            <a:lvl7pPr>
              <a:defRPr sz="5550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7pPr>
            <a:lvl8pPr>
              <a:defRPr sz="5550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8pPr>
            <a:lvl9pPr>
              <a:defRPr sz="5550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5550" b="1">
                <a:solidFill>
                  <a:srgbClr val="65C9F1"/>
                </a:solidFill>
                <a:latin typeface="Segoe UI"/>
                <a:ea typeface="Segoe UI"/>
                <a:cs typeface="Segoe UI"/>
              </a:defRPr>
            </a:pPr>
            <a:r>
              <a:rPr sz="5550" b="1">
                <a:solidFill>
                  <a:srgbClr val="65C9F1"/>
                </a:solidFill>
                <a:latin typeface="Segoe UI"/>
                <a:ea typeface="Segoe UI"/>
                <a:cs typeface="Segoe UI"/>
              </a:rPr>
              <a:t>61.25%</a:t>
            </a:r>
          </a:p>
        </p:txBody>
      </p:sp>
      <p:sp>
        <p:nvSpPr>
          <p:cNvPr id="7" name="event sensitivity">
            <a:extLst xmlns:a="http://schemas.openxmlformats.org/drawingml/2006/main">
              <a:ext uri="{FF2B5EF4-FFF2-40B4-BE49-F238E27FC236}">
                <a16:creationId xmlns:a16="http://schemas.microsoft.com/office/drawing/2014/main" id="{F89D55CF-7491-4189-B9AE-CC0E9140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76625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event sensitivity</a:t>
            </a:r>
          </a:p>
        </p:txBody>
      </p:sp>
      <p:sp>
        <p:nvSpPr>
          <p:cNvPr id="8" name="13.51%">
            <a:extLst xmlns:a="http://schemas.openxmlformats.org/drawingml/2006/main">
              <a:ext uri="{FF2B5EF4-FFF2-40B4-BE49-F238E27FC236}">
                <a16:creationId xmlns:a16="http://schemas.microsoft.com/office/drawing/2014/main" id="{D11B56C5-2192-49BC-92BC-D72BB2B8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428875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550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defPPr>
            <a:lvl1pPr>
              <a:defRPr sz="5550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lvl1pPr>
            <a:lvl2pPr>
              <a:defRPr sz="5550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lvl2pPr>
            <a:lvl3pPr>
              <a:defRPr sz="5550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lvl3pPr>
            <a:lvl4pPr>
              <a:defRPr sz="5550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lvl4pPr>
            <a:lvl5pPr>
              <a:defRPr sz="5550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lvl5pPr>
            <a:lvl6pPr>
              <a:defRPr sz="5550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lvl6pPr>
            <a:lvl7pPr>
              <a:defRPr sz="5550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lvl7pPr>
            <a:lvl8pPr>
              <a:defRPr sz="5550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lvl8pPr>
            <a:lvl9pPr>
              <a:defRPr sz="5550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5550" b="1">
                <a:solidFill>
                  <a:srgbClr val="FFA383"/>
                </a:solidFill>
                <a:latin typeface="Segoe UI"/>
                <a:ea typeface="Segoe UI"/>
                <a:cs typeface="Segoe UI"/>
              </a:defRPr>
            </a:pPr>
            <a:r>
              <a:rPr sz="5550" b="1">
                <a:solidFill>
                  <a:srgbClr val="FFA383"/>
                </a:solidFill>
                <a:latin typeface="Segoe UI"/>
                <a:ea typeface="Segoe UI"/>
                <a:cs typeface="Segoe UI"/>
              </a:rPr>
              <a:t>13.51%</a:t>
            </a:r>
          </a:p>
        </p:txBody>
      </p:sp>
      <p:sp>
        <p:nvSpPr>
          <p:cNvPr id="9" name="positive predictive value">
            <a:extLst xmlns:a="http://schemas.openxmlformats.org/drawingml/2006/main">
              <a:ext uri="{FF2B5EF4-FFF2-40B4-BE49-F238E27FC236}">
                <a16:creationId xmlns:a16="http://schemas.microsoft.com/office/drawing/2014/main" id="{9D642A4B-E697-48D0-9FFA-EE4AA13A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76625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positive predictive value</a:t>
            </a:r>
          </a:p>
        </p:txBody>
      </p:sp>
      <p:sp>
        <p:nvSpPr>
          <p:cNvPr id="10" name="86.74%">
            <a:extLst xmlns:a="http://schemas.openxmlformats.org/drawingml/2006/main">
              <a:ext uri="{FF2B5EF4-FFF2-40B4-BE49-F238E27FC236}">
                <a16:creationId xmlns:a16="http://schemas.microsoft.com/office/drawing/2014/main" id="{C525530F-EE27-40A4-9FED-B848F645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428875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55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defPPr>
            <a:lvl1pPr>
              <a:defRPr sz="555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1pPr>
            <a:lvl2pPr>
              <a:defRPr sz="555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2pPr>
            <a:lvl3pPr>
              <a:defRPr sz="555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3pPr>
            <a:lvl4pPr>
              <a:defRPr sz="555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4pPr>
            <a:lvl5pPr>
              <a:defRPr sz="555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5pPr>
            <a:lvl6pPr>
              <a:defRPr sz="555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6pPr>
            <a:lvl7pPr>
              <a:defRPr sz="555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7pPr>
            <a:lvl8pPr>
              <a:defRPr sz="555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8pPr>
            <a:lvl9pPr>
              <a:defRPr sz="555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5550" b="1">
                <a:solidFill>
                  <a:srgbClr val="B1A1FF"/>
                </a:solidFill>
                <a:latin typeface="Segoe UI"/>
                <a:ea typeface="Segoe UI"/>
                <a:cs typeface="Segoe UI"/>
              </a:defRPr>
            </a:pPr>
            <a:r>
              <a:rPr sz="5550" b="1">
                <a:solidFill>
                  <a:srgbClr val="B1A1FF"/>
                </a:solidFill>
                <a:latin typeface="Segoe UI"/>
                <a:ea typeface="Segoe UI"/>
                <a:cs typeface="Segoe UI"/>
              </a:rPr>
              <a:t>86.74%</a:t>
            </a:r>
          </a:p>
        </p:txBody>
      </p:sp>
      <p:sp>
        <p:nvSpPr>
          <p:cNvPr id="11" name="coverage of nominal 90% range">
            <a:extLst xmlns:a="http://schemas.openxmlformats.org/drawingml/2006/main">
              <a:ext uri="{FF2B5EF4-FFF2-40B4-BE49-F238E27FC236}">
                <a16:creationId xmlns:a16="http://schemas.microsoft.com/office/drawing/2014/main" id="{D091D04A-C35F-4658-BA0F-6A9FC1E5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476625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coverage of nominal 90% range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69AE7-B241-43B5-A8B3-55FB0CDE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10125"/>
            <a:ext cx="13973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13" name="Clock alignment">
            <a:extLst xmlns:a="http://schemas.openxmlformats.org/drawingml/2006/main">
              <a:ext uri="{FF2B5EF4-FFF2-40B4-BE49-F238E27FC236}">
                <a16:creationId xmlns:a16="http://schemas.microsoft.com/office/drawing/2014/main" id="{C72510F0-CFC9-4804-9AA7-FEB613FF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435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Clock alignment</a:t>
            </a:r>
          </a:p>
        </p:txBody>
      </p:sp>
      <p:sp>
        <p:nvSpPr>
          <p:cNvPr id="14" name="The empirical 8-hour shift needs&#10;independent confirmation.">
            <a:extLst xmlns:a="http://schemas.openxmlformats.org/drawingml/2006/main">
              <a:ext uri="{FF2B5EF4-FFF2-40B4-BE49-F238E27FC236}">
                <a16:creationId xmlns:a16="http://schemas.microsoft.com/office/drawing/2014/main" id="{82A29B9E-34E5-46DA-A250-B423BC83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86475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The empirical 8-hour shift needs</a:t>
            </a:r>
          </a:p>
          <a:p xmlns:a="http://schemas.openxmlformats.org/drawingml/2006/main">
            <a: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independent confirmation.</a:t>
            </a:r>
          </a:p>
        </p:txBody>
      </p:sp>
      <p:sp>
        <p:nvSpPr>
          <p:cNvPr id="15" name="Cohort exclusions">
            <a:extLst xmlns:a="http://schemas.openxmlformats.org/drawingml/2006/main">
              <a:ext uri="{FF2B5EF4-FFF2-40B4-BE49-F238E27FC236}">
                <a16:creationId xmlns:a16="http://schemas.microsoft.com/office/drawing/2014/main" id="{6FC815F3-AFEA-4C44-BA9F-25508BE1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4352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Cohort exclusions</a:t>
            </a:r>
          </a:p>
        </p:txBody>
      </p:sp>
      <p:sp>
        <p:nvSpPr>
          <p:cNvPr id="16" name="2,516,989 of 4,366,298 packets&#10;match the declared checks.">
            <a:extLst xmlns:a="http://schemas.openxmlformats.org/drawingml/2006/main">
              <a:ext uri="{FF2B5EF4-FFF2-40B4-BE49-F238E27FC236}">
                <a16:creationId xmlns:a16="http://schemas.microsoft.com/office/drawing/2014/main" id="{071DB228-E13A-4A31-9C73-36D83E01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86475"/>
            <a:ext cx="428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2,516,989 of 4,366,298 packets</a:t>
            </a:r>
          </a:p>
          <a:p xmlns:a="http://schemas.openxmlformats.org/drawingml/2006/main">
            <a: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match the declared checks.</a:t>
            </a:r>
          </a:p>
        </p:txBody>
      </p:sp>
      <p:sp>
        <p:nvSpPr>
          <p:cNvPr id="17" name="Endpoint scope">
            <a:extLst xmlns:a="http://schemas.openxmlformats.org/drawingml/2006/main">
              <a:ext uri="{FF2B5EF4-FFF2-40B4-BE49-F238E27FC236}">
                <a16:creationId xmlns:a16="http://schemas.microsoft.com/office/drawing/2014/main" id="{63378E67-EFEB-45BA-A8F9-76C7C342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4352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Endpoint scope</a:t>
            </a:r>
          </a:p>
        </p:txBody>
      </p:sp>
      <p:sp>
        <p:nvSpPr>
          <p:cNvPr id="18" name="Next measured BP differs from&#10;continuous hypotension.">
            <a:extLst xmlns:a="http://schemas.openxmlformats.org/drawingml/2006/main">
              <a:ext uri="{FF2B5EF4-FFF2-40B4-BE49-F238E27FC236}">
                <a16:creationId xmlns:a16="http://schemas.microsoft.com/office/drawing/2014/main" id="{5876469C-AECD-4950-A5C0-EB8B0B98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086475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Next measured BP differs from</a:t>
            </a:r>
          </a:p>
          <a:p xmlns:a="http://schemas.openxmlformats.org/drawingml/2006/main">
            <a: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continuous hypotension.</a:t>
            </a:r>
          </a:p>
        </p:txBody>
      </p:sp>
    </p:spTree>
    <p:extLst>
      <p:ext uri="{BB962C8B-B14F-4D97-AF65-F5344CB8AC3E}">
        <p14:creationId xmlns:p14="http://schemas.microsoft.com/office/powerpoint/2010/main" val="12416560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1F5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Decision value does not beat cuff overall">
            <a:extLst xmlns:a="http://schemas.openxmlformats.org/drawingml/2006/main">
              <a:ext uri="{FF2B5EF4-FFF2-40B4-BE49-F238E27FC236}">
                <a16:creationId xmlns:a16="http://schemas.microsoft.com/office/drawing/2014/main" id="{5B831FB7-6D20-4361-BB66-4A4C868C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102B3B"/>
                </a:solidFill>
                <a:latin typeface="Segoe UI"/>
                <a:ea typeface="Segoe UI"/>
                <a:cs typeface="Segoe UI"/>
              </a:rPr>
              <a:t>Decision value does not beat cuff overall</a:t>
            </a:r>
          </a:p>
        </p:txBody>
      </p:sp>
      <p:sp>
        <p:nvSpPr>
          <p:cNvPr id="2" name="Independent synthetic holdout: 192 cases, four policies and ">
            <a:extLst xmlns:a="http://schemas.openxmlformats.org/drawingml/2006/main">
              <a:ext uri="{FF2B5EF4-FFF2-40B4-BE49-F238E27FC236}">
                <a16:creationId xmlns:a16="http://schemas.microsoft.com/office/drawing/2014/main" id="{A13373EC-2A1D-44EB-B207-EAAF7D0D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16F7D"/>
                </a:solidFill>
                <a:latin typeface="Segoe UI"/>
                <a:ea typeface="Segoe UI"/>
                <a:cs typeface="Segoe UI"/>
              </a:rPr>
              <a:t>Independent synthetic holdout: 192 cases, four policies and one acquisition per policy.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EB56D5-5217-421E-9B95-80BD5800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BD8DA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A44F5FD7-B011-459C-9670-AB38BF8B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B7884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B7884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16">
            <a:extLst xmlns:a="http://schemas.openxmlformats.org/drawingml/2006/main">
              <a:ext uri="{FF2B5EF4-FFF2-40B4-BE49-F238E27FC236}">
                <a16:creationId xmlns:a16="http://schemas.microsoft.com/office/drawing/2014/main" id="{6CD54601-EE85-4A66-BBE6-04EE0927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02B3B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02B3B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1CF6360C-6A88-4978-BFF2-FD4689306EF6}"/>
              </a:ext>
            </a:extLst>
          </p:cNvPr>
          <p:cNvGraphicFramePr/>
          <p:nvPr/>
        </p:nvGraphicFramePr>
        <p:xfrm>
          <a:off xmlns:a="http://schemas.openxmlformats.org/drawingml/2006/main" x="628650" y="2447925"/>
          <a:ext xmlns:a="http://schemas.openxmlformats.org/drawingml/2006/main" cx="10096500" cy="4714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15f9fc344845cb"/>
          </a:graphicData>
        </a:graphic>
      </p:graphicFrame>
      <p:sp>
        <p:nvSpPr>
          <p:cNvPr id="7" name="0.22170">
            <a:extLst xmlns:a="http://schemas.openxmlformats.org/drawingml/2006/main">
              <a:ext uri="{FF2B5EF4-FFF2-40B4-BE49-F238E27FC236}">
                <a16:creationId xmlns:a16="http://schemas.microsoft.com/office/drawing/2014/main" id="{FB5F6442-6BDA-48DA-956B-0F2C9B2A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0"/>
            <a:ext cx="3476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defPPr>
            <a:lvl1pPr>
              <a:defRPr sz="480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lvl1pPr>
            <a:lvl2pPr>
              <a:defRPr sz="480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lvl2pPr>
            <a:lvl3pPr>
              <a:defRPr sz="480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lvl3pPr>
            <a:lvl4pPr>
              <a:defRPr sz="480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lvl4pPr>
            <a:lvl5pPr>
              <a:defRPr sz="480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lvl5pPr>
            <a:lvl6pPr>
              <a:defRPr sz="480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lvl6pPr>
            <a:lvl7pPr>
              <a:defRPr sz="480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lvl7pPr>
            <a:lvl8pPr>
              <a:defRPr sz="480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lvl8pPr>
            <a:lvl9pPr>
              <a:defRPr sz="480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147D83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147D83"/>
                </a:solidFill>
                <a:latin typeface="Segoe UI"/>
                <a:ea typeface="Segoe UI"/>
                <a:cs typeface="Segoe UI"/>
              </a:rPr>
              <a:t>0.22170</a:t>
            </a:r>
          </a:p>
        </p:txBody>
      </p:sp>
      <p:sp>
        <p:nvSpPr>
          <p:cNvPr id="8" name="fixed cuff">
            <a:extLst xmlns:a="http://schemas.openxmlformats.org/drawingml/2006/main">
              <a:ext uri="{FF2B5EF4-FFF2-40B4-BE49-F238E27FC236}">
                <a16:creationId xmlns:a16="http://schemas.microsoft.com/office/drawing/2014/main" id="{86F82587-D853-4E32-94A6-B4A2647D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9243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16F7D"/>
                </a:solidFill>
                <a:latin typeface="Segoe UI"/>
                <a:ea typeface="Segoe UI"/>
                <a:cs typeface="Segoe UI"/>
              </a:rPr>
              <a:t>fixed cuff</a:t>
            </a:r>
          </a:p>
        </p:txBody>
      </p:sp>
      <p:sp>
        <p:nvSpPr>
          <p:cNvPr id="9" name="0.24145">
            <a:extLst xmlns:a="http://schemas.openxmlformats.org/drawingml/2006/main">
              <a:ext uri="{FF2B5EF4-FFF2-40B4-BE49-F238E27FC236}">
                <a16:creationId xmlns:a16="http://schemas.microsoft.com/office/drawing/2014/main" id="{89D899D9-777C-421D-8436-FECE47AF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057775"/>
            <a:ext cx="3476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800" b="1">
                <a:solidFill>
                  <a:srgbClr val="B96D4D"/>
                </a:solidFill>
                <a:latin typeface="Segoe UI"/>
                <a:ea typeface="Segoe UI"/>
                <a:cs typeface="Segoe UI"/>
              </a:defRPr>
            </a:defPPr>
            <a:lvl1pPr>
              <a:defRPr sz="4800" b="1">
                <a:solidFill>
                  <a:srgbClr val="B96D4D"/>
                </a:solidFill>
                <a:latin typeface="Segoe UI"/>
                <a:ea typeface="Segoe UI"/>
                <a:cs typeface="Segoe UI"/>
              </a:defRPr>
            </a:lvl1pPr>
            <a:lvl2pPr>
              <a:defRPr sz="4800" b="1">
                <a:solidFill>
                  <a:srgbClr val="B96D4D"/>
                </a:solidFill>
                <a:latin typeface="Segoe UI"/>
                <a:ea typeface="Segoe UI"/>
                <a:cs typeface="Segoe UI"/>
              </a:defRPr>
            </a:lvl2pPr>
            <a:lvl3pPr>
              <a:defRPr sz="4800" b="1">
                <a:solidFill>
                  <a:srgbClr val="B96D4D"/>
                </a:solidFill>
                <a:latin typeface="Segoe UI"/>
                <a:ea typeface="Segoe UI"/>
                <a:cs typeface="Segoe UI"/>
              </a:defRPr>
            </a:lvl3pPr>
            <a:lvl4pPr>
              <a:defRPr sz="4800" b="1">
                <a:solidFill>
                  <a:srgbClr val="B96D4D"/>
                </a:solidFill>
                <a:latin typeface="Segoe UI"/>
                <a:ea typeface="Segoe UI"/>
                <a:cs typeface="Segoe UI"/>
              </a:defRPr>
            </a:lvl4pPr>
            <a:lvl5pPr>
              <a:defRPr sz="4800" b="1">
                <a:solidFill>
                  <a:srgbClr val="B96D4D"/>
                </a:solidFill>
                <a:latin typeface="Segoe UI"/>
                <a:ea typeface="Segoe UI"/>
                <a:cs typeface="Segoe UI"/>
              </a:defRPr>
            </a:lvl5pPr>
            <a:lvl6pPr>
              <a:defRPr sz="4800" b="1">
                <a:solidFill>
                  <a:srgbClr val="B96D4D"/>
                </a:solidFill>
                <a:latin typeface="Segoe UI"/>
                <a:ea typeface="Segoe UI"/>
                <a:cs typeface="Segoe UI"/>
              </a:defRPr>
            </a:lvl6pPr>
            <a:lvl7pPr>
              <a:defRPr sz="4800" b="1">
                <a:solidFill>
                  <a:srgbClr val="B96D4D"/>
                </a:solidFill>
                <a:latin typeface="Segoe UI"/>
                <a:ea typeface="Segoe UI"/>
                <a:cs typeface="Segoe UI"/>
              </a:defRPr>
            </a:lvl7pPr>
            <a:lvl8pPr>
              <a:defRPr sz="4800" b="1">
                <a:solidFill>
                  <a:srgbClr val="B96D4D"/>
                </a:solidFill>
                <a:latin typeface="Segoe UI"/>
                <a:ea typeface="Segoe UI"/>
                <a:cs typeface="Segoe UI"/>
              </a:defRPr>
            </a:lvl8pPr>
            <a:lvl9pPr>
              <a:defRPr sz="4800" b="1">
                <a:solidFill>
                  <a:srgbClr val="B96D4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B96D4D"/>
                </a:solidFill>
                <a:latin typeface="Segoe UI"/>
                <a:ea typeface="Segoe UI"/>
                <a:cs typeface="Segoe UI"/>
              </a:defRPr>
            </a:pPr>
            <a:r>
              <a:rPr sz="4800" b="1">
                <a:solidFill>
                  <a:srgbClr val="B96D4D"/>
                </a:solidFill>
                <a:latin typeface="Segoe UI"/>
                <a:ea typeface="Segoe UI"/>
                <a:cs typeface="Segoe UI"/>
              </a:rPr>
              <a:t>0.24145</a:t>
            </a:r>
          </a:p>
        </p:txBody>
      </p:sp>
      <p:sp>
        <p:nvSpPr>
          <p:cNvPr id="10" name="decision value">
            <a:extLst xmlns:a="http://schemas.openxmlformats.org/drawingml/2006/main">
              <a:ext uri="{FF2B5EF4-FFF2-40B4-BE49-F238E27FC236}">
                <a16:creationId xmlns:a16="http://schemas.microsoft.com/office/drawing/2014/main" id="{A80A28A1-58C5-4243-8D27-FDC61C5D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0293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16F7D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16F7D"/>
                </a:solidFill>
                <a:latin typeface="Segoe UI"/>
                <a:ea typeface="Segoe UI"/>
                <a:cs typeface="Segoe UI"/>
              </a:rPr>
              <a:t>decision value</a:t>
            </a:r>
          </a:p>
        </p:txBody>
      </p:sp>
      <p:sp>
        <p:nvSpPr>
          <p:cNvPr id="11" name="Lower is better.">
            <a:extLst xmlns:a="http://schemas.openxmlformats.org/drawingml/2006/main">
              <a:ext uri="{FF2B5EF4-FFF2-40B4-BE49-F238E27FC236}">
                <a16:creationId xmlns:a16="http://schemas.microsoft.com/office/drawing/2014/main" id="{D568A96B-C432-4311-A517-F9AD7D79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70294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B3B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02B3B"/>
                </a:solidFill>
                <a:latin typeface="Segoe UI"/>
                <a:ea typeface="Segoe UI"/>
                <a:cs typeface="Segoe UI"/>
              </a:rPr>
              <a:t>Lower is better.</a:t>
            </a:r>
          </a:p>
        </p:txBody>
      </p:sp>
    </p:spTree>
    <p:extLst>
      <p:ext uri="{BB962C8B-B14F-4D97-AF65-F5344CB8AC3E}">
        <p14:creationId xmlns:p14="http://schemas.microsoft.com/office/powerpoint/2010/main" val="16397297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Authority changes with evidence quality">
            <a:extLst xmlns:a="http://schemas.openxmlformats.org/drawingml/2006/main">
              <a:ext uri="{FF2B5EF4-FFF2-40B4-BE49-F238E27FC236}">
                <a16:creationId xmlns:a16="http://schemas.microsoft.com/office/drawing/2014/main" id="{7FDA58CD-F781-490A-8D45-3A38E4F9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Authority changes with evidence quality</a:t>
            </a:r>
          </a:p>
        </p:txBody>
      </p:sp>
      <p:sp>
        <p:nvSpPr>
          <p:cNvPr id="2" name="The service withholds scenario authority when the replay can">
            <a:extLst xmlns:a="http://schemas.openxmlformats.org/drawingml/2006/main">
              <a:ext uri="{FF2B5EF4-FFF2-40B4-BE49-F238E27FC236}">
                <a16:creationId xmlns:a16="http://schemas.microsoft.com/office/drawing/2014/main" id="{7EF455D3-9B61-4640-AFA5-F0FE674C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The service withholds scenario authority when the replay cannot support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CF6A6-50F7-4391-B770-D645858D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7AEA4DA1-993A-4A5D-A32A-4AEFF38B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17">
            <a:extLst xmlns:a="http://schemas.openxmlformats.org/drawingml/2006/main">
              <a:ext uri="{FF2B5EF4-FFF2-40B4-BE49-F238E27FC236}">
                <a16:creationId xmlns:a16="http://schemas.microsoft.com/office/drawing/2014/main" id="{55EC04D1-4105-4F8A-9CAF-E5E35938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DF5F9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C67D7-2345-4513-904C-8822D3CA1D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dc75df5df4158"/>
          <a:stretch xmlns:a="http://schemas.openxmlformats.org/drawingml/2006/main"/>
        </p:blipFill>
        <p:spPr>
          <a:xfrm xmlns:a="http://schemas.openxmlformats.org/drawingml/2006/main">
            <a:off x="619125" y="2524125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7" name="Current low BP">
            <a:extLst xmlns:a="http://schemas.openxmlformats.org/drawingml/2006/main">
              <a:ext uri="{FF2B5EF4-FFF2-40B4-BE49-F238E27FC236}">
                <a16:creationId xmlns:a16="http://schemas.microsoft.com/office/drawing/2014/main" id="{E88D0237-4707-4A94-8177-52F83C9E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51460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Current low BP</a:t>
            </a:r>
          </a:p>
        </p:txBody>
      </p:sp>
      <p:sp>
        <p:nvSpPr>
          <p:cNvPr id="8" name="Current event is already present.&#10;No advance-warning claim.">
            <a:extLst xmlns:a="http://schemas.openxmlformats.org/drawingml/2006/main">
              <a:ext uri="{FF2B5EF4-FFF2-40B4-BE49-F238E27FC236}">
                <a16:creationId xmlns:a16="http://schemas.microsoft.com/office/drawing/2014/main" id="{4F6DC2D7-32D9-4A89-8B8D-59C4F82D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48025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Current event is already present.</a:t>
            </a:r>
          </a:p>
          <a:p xmlns:a="http://schemas.openxmlformats.org/drawingml/2006/main">
            <a: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No advance-warning claim.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A3B81-6252-4C71-BBE9-C6893F60F7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6552696f34410"/>
          <a:stretch xmlns:a="http://schemas.openxmlformats.org/drawingml/2006/main"/>
        </p:blipFill>
        <p:spPr>
          <a:xfrm xmlns:a="http://schemas.openxmlformats.org/drawingml/2006/main">
            <a:off x="8143875" y="2524125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10" name="Stale or missing BP">
            <a:extLst xmlns:a="http://schemas.openxmlformats.org/drawingml/2006/main">
              <a:ext uri="{FF2B5EF4-FFF2-40B4-BE49-F238E27FC236}">
                <a16:creationId xmlns:a16="http://schemas.microsoft.com/office/drawing/2014/main" id="{CF3024EF-6671-426E-8C94-0CAC1787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51460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Stale or missing BP</a:t>
            </a:r>
          </a:p>
        </p:txBody>
      </p:sp>
      <p:sp>
        <p:nvSpPr>
          <p:cNvPr id="11" name="Refresh the available evidence&#10;before comparing scenarios.">
            <a:extLst xmlns:a="http://schemas.openxmlformats.org/drawingml/2006/main">
              <a:ext uri="{FF2B5EF4-FFF2-40B4-BE49-F238E27FC236}">
                <a16:creationId xmlns:a16="http://schemas.microsoft.com/office/drawing/2014/main" id="{360CED31-0BA1-429D-8147-21832922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248025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Refresh the available evidence</a:t>
            </a:r>
          </a:p>
          <a:p xmlns:a="http://schemas.openxmlformats.org/drawingml/2006/main">
            <a: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before comparing scenarios.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0D236-1108-41F1-ADE8-EC14C7CA4D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7a6119d5c47af"/>
          <a:stretch xmlns:a="http://schemas.openxmlformats.org/drawingml/2006/main"/>
        </p:blipFill>
        <p:spPr>
          <a:xfrm xmlns:a="http://schemas.openxmlformats.org/drawingml/2006/main">
            <a:off x="619125" y="5000625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13" name="Completed session">
            <a:extLst xmlns:a="http://schemas.openxmlformats.org/drawingml/2006/main">
              <a:ext uri="{FF2B5EF4-FFF2-40B4-BE49-F238E27FC236}">
                <a16:creationId xmlns:a16="http://schemas.microsoft.com/office/drawing/2014/main" id="{FD2CB5DE-601F-47E2-B74C-E2702140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99110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Completed session</a:t>
            </a:r>
          </a:p>
        </p:txBody>
      </p:sp>
      <p:sp>
        <p:nvSpPr>
          <p:cNvPr id="14" name="Do not compare new removal&#10;profiles after session completion">
            <a:extLst xmlns:a="http://schemas.openxmlformats.org/drawingml/2006/main">
              <a:ext uri="{FF2B5EF4-FFF2-40B4-BE49-F238E27FC236}">
                <a16:creationId xmlns:a16="http://schemas.microsoft.com/office/drawing/2014/main" id="{79501B9C-4AA6-43D8-8EA5-2F19CA81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724525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Do not compare new removal</a:t>
            </a:r>
          </a:p>
          <a:p xmlns:a="http://schemas.openxmlformats.org/drawingml/2006/main">
            <a: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profiles after session completion.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5DA24-3DA5-4B00-B2CF-7150825425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2542732a214095"/>
          <a:stretch xmlns:a="http://schemas.openxmlformats.org/drawingml/2006/main"/>
        </p:blipFill>
        <p:spPr>
          <a:xfrm xmlns:a="http://schemas.openxmlformats.org/drawingml/2006/main">
            <a:off x="8143875" y="5000625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16" name="Contradictory evidence">
            <a:extLst xmlns:a="http://schemas.openxmlformats.org/drawingml/2006/main">
              <a:ext uri="{FF2B5EF4-FFF2-40B4-BE49-F238E27FC236}">
                <a16:creationId xmlns:a16="http://schemas.microsoft.com/office/drawing/2014/main" id="{0349C027-EB3E-46B5-B44B-E0721CF7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991100"/>
            <a:ext cx="581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Contradictory evidence</a:t>
            </a:r>
          </a:p>
        </p:txBody>
      </p:sp>
      <p:sp>
        <p:nvSpPr>
          <p:cNvPr id="17" name="Show poor fit and residual&#10;uncertainty in the model bank.">
            <a:extLst xmlns:a="http://schemas.openxmlformats.org/drawingml/2006/main">
              <a:ext uri="{FF2B5EF4-FFF2-40B4-BE49-F238E27FC236}">
                <a16:creationId xmlns:a16="http://schemas.microsoft.com/office/drawing/2014/main" id="{BBCDB88D-A460-4981-ABA3-AB5261AB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724525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Show poor fit and residual</a:t>
            </a:r>
          </a:p>
          <a:p xmlns:a="http://schemas.openxmlformats.org/drawingml/2006/main">
            <a:pPr>
              <a:defRPr sz="210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10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uncertainty in the model bank.</a:t>
            </a:r>
          </a:p>
        </p:txBody>
      </p:sp>
    </p:spTree>
    <p:extLst>
      <p:ext uri="{BB962C8B-B14F-4D97-AF65-F5344CB8AC3E}">
        <p14:creationId xmlns:p14="http://schemas.microsoft.com/office/powerpoint/2010/main" val="14583493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C6C9F-3733-4867-82B9-01DBF3C0293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524375" y="3500438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63DBC0"/>
            </a:solidFill>
            <a:prstDash val="solid"/>
            <a:tailEnd type="triangle" w="med" len="med"/>
          </a:ln>
        </p:spPr>
      </p:cxnSp>
      <p:sp>
        <p:nvSpPr>
          <p:cNvPr id="25" name="Extensions expose the next integration boundary">
            <a:extLst xmlns:a="http://schemas.openxmlformats.org/drawingml/2006/main">
              <a:ext uri="{FF2B5EF4-FFF2-40B4-BE49-F238E27FC236}">
                <a16:creationId xmlns:a16="http://schemas.microsoft.com/office/drawing/2014/main" id="{9EB72561-AA15-4F6B-B1DB-039C2DA3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Extensions expose the next integration boundary</a:t>
            </a:r>
          </a:p>
        </p:txBody>
      </p:sp>
      <p:sp>
        <p:nvSpPr>
          <p:cNvPr id="2" name="Current exports and transport experiments remain inspectable">
            <a:extLst xmlns:a="http://schemas.openxmlformats.org/drawingml/2006/main">
              <a:ext uri="{FF2B5EF4-FFF2-40B4-BE49-F238E27FC236}">
                <a16:creationId xmlns:a16="http://schemas.microsoft.com/office/drawing/2014/main" id="{D19C3119-2E74-446C-8379-D8166692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Current exports and transport experiments remain inspectable research components.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7E500-AA8F-4644-9D40-309D3AD2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ACE3A078-4C35-4A25-B022-88F0479A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18">
            <a:extLst xmlns:a="http://schemas.openxmlformats.org/drawingml/2006/main">
              <a:ext uri="{FF2B5EF4-FFF2-40B4-BE49-F238E27FC236}">
                <a16:creationId xmlns:a16="http://schemas.microsoft.com/office/drawing/2014/main" id="{88C948E2-BFEE-4AA2-8E42-21349D80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DF5F9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C3E44-2730-4476-AB0C-E97F8A30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390525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B3551-69C0-4C2C-9BED-C36F3CB9C2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d6182eab64df9"/>
          <a:stretch xmlns:a="http://schemas.openxmlformats.org/drawingml/2006/main"/>
        </p:blipFill>
        <p:spPr>
          <a:xfrm xmlns:a="http://schemas.openxmlformats.org/drawingml/2006/main">
            <a:off x="790575" y="29527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8" name="Current compartments">
            <a:extLst xmlns:a="http://schemas.openxmlformats.org/drawingml/2006/main">
              <a:ext uri="{FF2B5EF4-FFF2-40B4-BE49-F238E27FC236}">
                <a16:creationId xmlns:a16="http://schemas.microsoft.com/office/drawing/2014/main" id="{8A3E65AF-E3E6-4D6A-9E87-A3CBA792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933700"/>
            <a:ext cx="3086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Current compartments</a:t>
            </a:r>
          </a:p>
        </p:txBody>
      </p:sp>
      <p:sp>
        <p:nvSpPr>
          <p:cNvPr id="9" name="Evidence-weighted volume state">
            <a:extLst xmlns:a="http://schemas.openxmlformats.org/drawingml/2006/main">
              <a:ext uri="{FF2B5EF4-FFF2-40B4-BE49-F238E27FC236}">
                <a16:creationId xmlns:a16="http://schemas.microsoft.com/office/drawing/2014/main" id="{30C15818-4B29-4820-80E5-C46509DF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33775"/>
            <a:ext cx="35623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Evidence-weighted volume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2C14E-E159-475D-8138-6016D930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62250"/>
            <a:ext cx="4000500" cy="1476375"/>
          </a:xfrm>
          <a:prstGeom xmlns:a="http://schemas.openxmlformats.org/drawingml/2006/main" prst="roundRect">
            <a:avLst>
              <a:gd name="adj" fmla="val 10323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CABF90-ED40-4D15-99C3-6FE55308B4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0ea521cecb40ae"/>
          <a:stretch xmlns:a="http://schemas.openxmlformats.org/drawingml/2006/main"/>
        </p:blipFill>
        <p:spPr>
          <a:xfrm xmlns:a="http://schemas.openxmlformats.org/drawingml/2006/main">
            <a:off x="5791200" y="29527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2" name="Longitudinal transport">
            <a:extLst xmlns:a="http://schemas.openxmlformats.org/drawingml/2006/main">
              <a:ext uri="{FF2B5EF4-FFF2-40B4-BE49-F238E27FC236}">
                <a16:creationId xmlns:a16="http://schemas.microsoft.com/office/drawing/2014/main" id="{744C45AA-CC88-4201-B898-5D62F4EC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33700"/>
            <a:ext cx="3181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Longitudinal transport</a:t>
            </a:r>
          </a:p>
        </p:txBody>
      </p:sp>
      <p:sp>
        <p:nvSpPr>
          <p:cNvPr id="13" name="Authored intake / output&#10;Mass-balance checks">
            <a:extLst xmlns:a="http://schemas.openxmlformats.org/drawingml/2006/main">
              <a:ext uri="{FF2B5EF4-FFF2-40B4-BE49-F238E27FC236}">
                <a16:creationId xmlns:a16="http://schemas.microsoft.com/office/drawing/2014/main" id="{2AC96F6F-B34B-4783-BE1B-A4BCB08D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33775"/>
            <a:ext cx="36576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Authored intake / output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Mass-balance checks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3DB7F0-128B-49F9-A9CC-3817C68F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86400"/>
            <a:ext cx="9001125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102336"/>
          </a:solidFill>
          <a:ln xmlns:a="http://schemas.openxmlformats.org/drawingml/2006/main" w="15240">
            <a:solidFill>
              <a:srgbClr val="304B60"/>
            </a:solidFill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4940E-D927-4912-8CB1-CF0034256B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874a9d40143de"/>
          <a:stretch xmlns:a="http://schemas.openxmlformats.org/drawingml/2006/main"/>
        </p:blipFill>
        <p:spPr>
          <a:xfrm xmlns:a="http://schemas.openxmlformats.org/drawingml/2006/main">
            <a:off x="790575" y="56769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17" name="Synthetic FHIR R4">
            <a:extLst xmlns:a="http://schemas.openxmlformats.org/drawingml/2006/main">
              <a:ext uri="{FF2B5EF4-FFF2-40B4-BE49-F238E27FC236}">
                <a16:creationId xmlns:a16="http://schemas.microsoft.com/office/drawing/2014/main" id="{158AE55C-05AF-489D-B1BB-59B6E02F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657850"/>
            <a:ext cx="8181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Synthetic FHIR R4</a:t>
            </a:r>
          </a:p>
        </p:txBody>
      </p:sp>
      <p:sp>
        <p:nvSpPr>
          <p:cNvPr id="18" name="Patient / Device / BP Observation&#10;Reference + unit checks">
            <a:extLst xmlns:a="http://schemas.openxmlformats.org/drawingml/2006/main">
              <a:ext uri="{FF2B5EF4-FFF2-40B4-BE49-F238E27FC236}">
                <a16:creationId xmlns:a16="http://schemas.microsoft.com/office/drawing/2014/main" id="{005FAE5C-5DC9-4CC9-8F2D-481D362E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57925"/>
            <a:ext cx="86582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Patient / Device / BP Observation</a:t>
            </a:r>
          </a:p>
          <a:p xmlns:a="http://schemas.openxmlformats.org/drawingml/2006/main">
            <a:pPr>
              <a:defRPr sz="14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Reference + unit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E6D800-7644-4999-91F0-3838916B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62200"/>
            <a:ext cx="3895725" cy="4686300"/>
          </a:xfrm>
          <a:prstGeom xmlns:a="http://schemas.openxmlformats.org/drawingml/2006/main" prst="roundRect">
            <a:avLst>
              <a:gd name="adj" fmla="val 4890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A5BBCA"/>
            </a:solidFill>
            <a:prstDash val="dash"/>
          </a:ln>
        </p:spPr>
      </p:sp>
      <p:sp>
        <p:nvSpPr>
          <p:cNvPr id="20" name="FUTURE EXTERNAL INTEGRATION">
            <a:extLst xmlns:a="http://schemas.openxmlformats.org/drawingml/2006/main">
              <a:ext uri="{FF2B5EF4-FFF2-40B4-BE49-F238E27FC236}">
                <a16:creationId xmlns:a16="http://schemas.microsoft.com/office/drawing/2014/main" id="{A13D9B21-BC01-4B11-8D43-2830578A2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476500"/>
            <a:ext cx="3562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defPPr>
            <a:lvl1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1pPr>
            <a:lvl2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2pPr>
            <a:lvl3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3pPr>
            <a:lvl4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4pPr>
            <a:lvl5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5pPr>
            <a:lvl6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6pPr>
            <a:lvl7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7pPr>
            <a:lvl8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8pPr>
            <a:lvl9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A5BBCA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A5BBCA"/>
                </a:solidFill>
                <a:latin typeface="Consolas"/>
                <a:ea typeface="Consolas"/>
                <a:cs typeface="Consolas"/>
              </a:rPr>
              <a:t>FUTURE EXTERNAL INTEGRATION</a:t>
            </a:r>
          </a:p>
        </p:txBody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9511AA-0DA9-4486-9EEF-723665E239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2540a701b47ec"/>
          <a:stretch xmlns:a="http://schemas.openxmlformats.org/drawingml/2006/main"/>
        </p:blipFill>
        <p:spPr>
          <a:xfrm xmlns:a="http://schemas.openxmlformats.org/drawingml/2006/main">
            <a:off x="12144375" y="2962275"/>
            <a:ext cx="857250" cy="857250"/>
          </a:xfrm>
          <a:prstGeom xmlns:a="http://schemas.openxmlformats.org/drawingml/2006/main" prst="rect">
            <a:avLst/>
          </a:prstGeom>
        </p:spPr>
      </p:pic>
      <p:sp>
        <p:nvSpPr>
          <p:cNvPr id="22" name="Clinical systems">
            <a:extLst xmlns:a="http://schemas.openxmlformats.org/drawingml/2006/main">
              <a:ext uri="{FF2B5EF4-FFF2-40B4-BE49-F238E27FC236}">
                <a16:creationId xmlns:a16="http://schemas.microsoft.com/office/drawing/2014/main" id="{102EF762-CE5E-41AB-9DF7-726BF3EB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43053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Clinical systems</a:t>
            </a:r>
          </a:p>
        </p:txBody>
      </p:sp>
      <p:sp>
        <p:nvSpPr>
          <p:cNvPr id="23" name="Live EHR access, governance&#10;and ABDM conformance&#10;require ind">
            <a:extLst xmlns:a="http://schemas.openxmlformats.org/drawingml/2006/main">
              <a:ext uri="{FF2B5EF4-FFF2-40B4-BE49-F238E27FC236}">
                <a16:creationId xmlns:a16="http://schemas.microsoft.com/office/drawing/2014/main" id="{7AC9C7B8-4E0A-421C-9806-3A243F7C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267325"/>
            <a:ext cx="3333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Live EHR access, governance</a:t>
            </a:r>
          </a:p>
          <a:p xmlns:a="http://schemas.openxmlformats.org/drawingml/2006/main">
            <a:pPr>
              <a:defRPr sz="19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and ABDM conformance</a:t>
            </a:r>
          </a:p>
          <a:p xmlns:a="http://schemas.openxmlformats.org/drawingml/2006/main">
            <a:pPr>
              <a:defRPr sz="1950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require independent work.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C94DFA-EFFA-4AEF-B124-1B2344120C5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667875" y="6210300"/>
            <a:ext cx="10191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A5BBCA"/>
            </a:solidFill>
            <a:prstDash val="dash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693407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he next evidence gates">
            <a:extLst xmlns:a="http://schemas.openxmlformats.org/drawingml/2006/main">
              <a:ext uri="{FF2B5EF4-FFF2-40B4-BE49-F238E27FC236}">
                <a16:creationId xmlns:a16="http://schemas.microsoft.com/office/drawing/2014/main" id="{32EC0F98-F3ED-42D5-B1E6-8A0CC8A7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The next evidence gates</a:t>
            </a:r>
          </a:p>
        </p:txBody>
      </p:sp>
      <p:sp>
        <p:nvSpPr>
          <p:cNvPr id="2" name="The strongest next work tests the assumptions that limit int">
            <a:extLst xmlns:a="http://schemas.openxmlformats.org/drawingml/2006/main">
              <a:ext uri="{FF2B5EF4-FFF2-40B4-BE49-F238E27FC236}">
                <a16:creationId xmlns:a16="http://schemas.microsoft.com/office/drawing/2014/main" id="{3D5F0DAA-D905-4F9C-8F7E-A732B20C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The strongest next work tests the assumptions that limit interpretation.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5AF88-AC98-46E1-BC3C-AE8ED5E4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29940E71-42B7-4937-8D89-52FCEF04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19">
            <a:extLst xmlns:a="http://schemas.openxmlformats.org/drawingml/2006/main">
              <a:ext uri="{FF2B5EF4-FFF2-40B4-BE49-F238E27FC236}">
                <a16:creationId xmlns:a16="http://schemas.microsoft.com/office/drawing/2014/main" id="{4CB4ADDD-7D17-4529-BBFA-D9CA5828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DF5F9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4B4501C4-062F-4F14-BE20-94526219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defPPr>
            <a:lvl1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1pPr>
            <a:lvl2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2pPr>
            <a:lvl3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3pPr>
            <a:lvl4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4pPr>
            <a:lvl5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5pPr>
            <a:lvl6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6pPr>
            <a:lvl7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7pPr>
            <a:lvl8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8pPr>
            <a:lvl9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pPr>
            <a:r>
              <a:rPr sz="5400" b="1">
                <a:solidFill>
                  <a:srgbClr val="63DBC0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98462-EFA9-4844-9A10-5B9679C0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8" name="Source timing">
            <a:extLst xmlns:a="http://schemas.openxmlformats.org/drawingml/2006/main">
              <a:ext uri="{FF2B5EF4-FFF2-40B4-BE49-F238E27FC236}">
                <a16:creationId xmlns:a16="http://schemas.microsoft.com/office/drawing/2014/main" id="{C51FB2E8-6839-463C-A93A-E04D32B2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5431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Source timing</a:t>
            </a:r>
          </a:p>
        </p:txBody>
      </p:sp>
      <p:sp>
        <p:nvSpPr>
          <p:cNvPr id="9" name="Confirm HEMOBP clocks&#10;and reproduce the cohort.">
            <a:extLst xmlns:a="http://schemas.openxmlformats.org/drawingml/2006/main">
              <a:ext uri="{FF2B5EF4-FFF2-40B4-BE49-F238E27FC236}">
                <a16:creationId xmlns:a16="http://schemas.microsoft.com/office/drawing/2014/main" id="{170E13FA-129D-4057-8904-461E8FF7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2543175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Confirm HEMOBP clocks</a:t>
            </a:r>
          </a:p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and reproduce the cohort.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CDFB6E19-5650-4C82-B26D-9486ED09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289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defPPr>
            <a:lvl1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1pPr>
            <a:lvl2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2pPr>
            <a:lvl3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3pPr>
            <a:lvl4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4pPr>
            <a:lvl5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5pPr>
            <a:lvl6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6pPr>
            <a:lvl7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7pPr>
            <a:lvl8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8pPr>
            <a:lvl9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pPr>
            <a:r>
              <a:rPr sz="5400" b="1">
                <a:solidFill>
                  <a:srgbClr val="63DBC0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8868F-F948-4B94-98D5-DD9C7C6B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24300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12" name="Human interpretation">
            <a:extLst xmlns:a="http://schemas.openxmlformats.org/drawingml/2006/main">
              <a:ext uri="{FF2B5EF4-FFF2-40B4-BE49-F238E27FC236}">
                <a16:creationId xmlns:a16="http://schemas.microsoft.com/office/drawing/2014/main" id="{632E7ADB-6A72-4604-BAF8-1FC8BBE8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00550"/>
            <a:ext cx="25431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Human interpretation</a:t>
            </a:r>
          </a:p>
        </p:txBody>
      </p:sp>
      <p:sp>
        <p:nvSpPr>
          <p:cNvPr id="13" name="Test whether reviewers&#10;understand ambiguity.">
            <a:extLst xmlns:a="http://schemas.openxmlformats.org/drawingml/2006/main">
              <a:ext uri="{FF2B5EF4-FFF2-40B4-BE49-F238E27FC236}">
                <a16:creationId xmlns:a16="http://schemas.microsoft.com/office/drawing/2014/main" id="{CD66AD62-4937-4101-8FCE-5A3BDFC2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600700"/>
            <a:ext cx="2543175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Test whether reviewers</a:t>
            </a:r>
          </a:p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understand ambiguity.</a:t>
            </a:r>
          </a:p>
        </p:txBody>
      </p:sp>
      <p:sp>
        <p:nvSpPr>
          <p:cNvPr id="14" name="03">
            <a:extLst xmlns:a="http://schemas.openxmlformats.org/drawingml/2006/main">
              <a:ext uri="{FF2B5EF4-FFF2-40B4-BE49-F238E27FC236}">
                <a16:creationId xmlns:a16="http://schemas.microsoft.com/office/drawing/2014/main" id="{8CCE5240-9DED-4850-9607-76EA9D81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289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defPPr>
            <a:lvl1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1pPr>
            <a:lvl2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2pPr>
            <a:lvl3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3pPr>
            <a:lvl4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4pPr>
            <a:lvl5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5pPr>
            <a:lvl6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6pPr>
            <a:lvl7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7pPr>
            <a:lvl8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8pPr>
            <a:lvl9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pPr>
            <a:r>
              <a:rPr sz="5400" b="1">
                <a:solidFill>
                  <a:srgbClr val="65C9F1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7AA884-6A77-4F37-A3CF-4677BFD2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24300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16" name="Matched physiology">
            <a:extLst xmlns:a="http://schemas.openxmlformats.org/drawingml/2006/main">
              <a:ext uri="{FF2B5EF4-FFF2-40B4-BE49-F238E27FC236}">
                <a16:creationId xmlns:a16="http://schemas.microsoft.com/office/drawing/2014/main" id="{9CA99F26-B27D-45B6-96AD-CF270693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00550"/>
            <a:ext cx="25431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Matched physiology</a:t>
            </a:r>
          </a:p>
        </p:txBody>
      </p:sp>
      <p:sp>
        <p:nvSpPr>
          <p:cNvPr id="17" name="Calibrate the model against&#10;paired clinical measurements.">
            <a:extLst xmlns:a="http://schemas.openxmlformats.org/drawingml/2006/main">
              <a:ext uri="{FF2B5EF4-FFF2-40B4-BE49-F238E27FC236}">
                <a16:creationId xmlns:a16="http://schemas.microsoft.com/office/drawing/2014/main" id="{1096C469-CB10-4268-A3D0-D0AB9536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00700"/>
            <a:ext cx="2543175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Calibrate the model against</a:t>
            </a:r>
          </a:p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paired clinical measurements.</a:t>
            </a:r>
          </a:p>
        </p:txBody>
      </p:sp>
      <p:sp>
        <p:nvSpPr>
          <p:cNvPr id="18" name="04">
            <a:extLst xmlns:a="http://schemas.openxmlformats.org/drawingml/2006/main">
              <a:ext uri="{FF2B5EF4-FFF2-40B4-BE49-F238E27FC236}">
                <a16:creationId xmlns:a16="http://schemas.microsoft.com/office/drawing/2014/main" id="{04DF7C1D-038B-47FC-994A-733B73B1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289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defPPr>
            <a:lvl1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1pPr>
            <a:lvl2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2pPr>
            <a:lvl3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3pPr>
            <a:lvl4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4pPr>
            <a:lvl5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5pPr>
            <a:lvl6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6pPr>
            <a:lvl7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7pPr>
            <a:lvl8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8pPr>
            <a:lvl9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pPr>
            <a:r>
              <a:rPr sz="5400" b="1">
                <a:solidFill>
                  <a:srgbClr val="65C9F1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A49CFD-F86A-456B-B35F-425C7C88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24300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20" name="Independent policies">
            <a:extLst xmlns:a="http://schemas.openxmlformats.org/drawingml/2006/main">
              <a:ext uri="{FF2B5EF4-FFF2-40B4-BE49-F238E27FC236}">
                <a16:creationId xmlns:a16="http://schemas.microsoft.com/office/drawing/2014/main" id="{4A8E5FA3-20B6-4374-B77E-15B98A75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00550"/>
            <a:ext cx="25431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Independent policies</a:t>
            </a:r>
          </a:p>
        </p:txBody>
      </p:sp>
      <p:sp>
        <p:nvSpPr>
          <p:cNvPr id="21" name="Predeclare multi-acquisition&#10;budgets and correlated noise.">
            <a:extLst xmlns:a="http://schemas.openxmlformats.org/drawingml/2006/main">
              <a:ext uri="{FF2B5EF4-FFF2-40B4-BE49-F238E27FC236}">
                <a16:creationId xmlns:a16="http://schemas.microsoft.com/office/drawing/2014/main" id="{E30F3460-C1B4-4A35-8F08-DB7AE76D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600700"/>
            <a:ext cx="2543175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Predeclare multi-acquisition</a:t>
            </a:r>
          </a:p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budgets and correlated noise.</a:t>
            </a:r>
          </a:p>
        </p:txBody>
      </p:sp>
      <p:sp>
        <p:nvSpPr>
          <p:cNvPr id="22" name="05">
            <a:extLst xmlns:a="http://schemas.openxmlformats.org/drawingml/2006/main">
              <a:ext uri="{FF2B5EF4-FFF2-40B4-BE49-F238E27FC236}">
                <a16:creationId xmlns:a16="http://schemas.microsoft.com/office/drawing/2014/main" id="{8DF5425A-0790-4368-8A28-E1A5BB0B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6289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defPPr>
            <a:lvl1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1pPr>
            <a:lvl2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2pPr>
            <a:lvl3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3pPr>
            <a:lvl4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4pPr>
            <a:lvl5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5pPr>
            <a:lvl6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6pPr>
            <a:lvl7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7pPr>
            <a:lvl8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8pPr>
            <a:lvl9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pPr>
            <a:r>
              <a:rPr sz="5400" b="1">
                <a:solidFill>
                  <a:srgbClr val="65C9F1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97CEB2-BD58-4CE9-907F-E38949E4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3924300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24" name="External silent study">
            <a:extLst xmlns:a="http://schemas.openxmlformats.org/drawingml/2006/main">
              <a:ext uri="{FF2B5EF4-FFF2-40B4-BE49-F238E27FC236}">
                <a16:creationId xmlns:a16="http://schemas.microsoft.com/office/drawing/2014/main" id="{F1E6DB0A-39CF-4C07-9593-4E220309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400550"/>
            <a:ext cx="25431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External silent study</a:t>
            </a:r>
          </a:p>
        </p:txBody>
      </p:sp>
      <p:sp>
        <p:nvSpPr>
          <p:cNvPr id="25" name="Measure calibration and&#10;workflow burden externally.">
            <a:extLst xmlns:a="http://schemas.openxmlformats.org/drawingml/2006/main">
              <a:ext uri="{FF2B5EF4-FFF2-40B4-BE49-F238E27FC236}">
                <a16:creationId xmlns:a16="http://schemas.microsoft.com/office/drawing/2014/main" id="{4A782F55-9D39-4B7C-9FC0-73F65F2F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5600700"/>
            <a:ext cx="2543175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Measure calibration and</a:t>
            </a:r>
          </a:p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workflow burden externally.</a:t>
            </a:r>
          </a:p>
        </p:txBody>
      </p:sp>
    </p:spTree>
    <p:extLst>
      <p:ext uri="{BB962C8B-B14F-4D97-AF65-F5344CB8AC3E}">
        <p14:creationId xmlns:p14="http://schemas.microsoft.com/office/powerpoint/2010/main" val="12729989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915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 clearer next evidence question">
            <a:extLst xmlns:a="http://schemas.openxmlformats.org/drawingml/2006/main">
              <a:ext uri="{FF2B5EF4-FFF2-40B4-BE49-F238E27FC236}">
                <a16:creationId xmlns:a16="http://schemas.microsoft.com/office/drawing/2014/main" id="{24ECC16A-1C94-4ED8-B522-4DE2E739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4001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39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A clearer next evidence question</a:t>
            </a:r>
          </a:p>
        </p:txBody>
      </p:sp>
      <p:sp>
        <p:nvSpPr>
          <p:cNvPr id="2" name="RENALIS makes the model disagreement, the next observation a">
            <a:extLst xmlns:a="http://schemas.openxmlformats.org/drawingml/2006/main">
              <a:ext uri="{FF2B5EF4-FFF2-40B4-BE49-F238E27FC236}">
                <a16:creationId xmlns:a16="http://schemas.microsoft.com/office/drawing/2014/main" id="{318D32D6-1B21-4CAE-86EC-D82A6998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3954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makes the model disagreement, the next observation and the remaining uncertainty visible.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D8B01-3979-4F2E-A285-5661A00E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96225"/>
            <a:ext cx="1402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04B60"/>
            </a:solidFill>
          </a:ln>
        </p:spPr>
      </p:sp>
      <p:sp>
        <p:nvSpPr>
          <p:cNvPr id="4" name="RENALIS  /  Team Sigmoid  /  Research prototype">
            <a:extLst xmlns:a="http://schemas.openxmlformats.org/drawingml/2006/main">
              <a:ext uri="{FF2B5EF4-FFF2-40B4-BE49-F238E27FC236}">
                <a16:creationId xmlns:a16="http://schemas.microsoft.com/office/drawing/2014/main" id="{329AB04E-A222-4ACC-A27E-73D93379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86725"/>
            <a:ext cx="1238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RENALIS  /  Team Sigmoid  /  Research prototype</a:t>
            </a:r>
          </a:p>
        </p:txBody>
      </p:sp>
      <p:sp>
        <p:nvSpPr>
          <p:cNvPr id="5" name="20">
            <a:extLst xmlns:a="http://schemas.openxmlformats.org/drawingml/2006/main">
              <a:ext uri="{FF2B5EF4-FFF2-40B4-BE49-F238E27FC236}">
                <a16:creationId xmlns:a16="http://schemas.microsoft.com/office/drawing/2014/main" id="{6B1E2E34-42C1-466F-B311-8E0DFC80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0676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EDF5F9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EDF5F9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sp>
        <p:nvSpPr>
          <p:cNvPr id="6" name="See the actual&#10;20-minute demonstration">
            <a:extLst xmlns:a="http://schemas.openxmlformats.org/drawingml/2006/main">
              <a:ext uri="{FF2B5EF4-FFF2-40B4-BE49-F238E27FC236}">
                <a16:creationId xmlns:a16="http://schemas.microsoft.com/office/drawing/2014/main" id="{C00E93D3-336E-4BA2-A38E-5F93C490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8382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45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45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45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45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45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45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45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45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45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See the actual</a:t>
            </a:r>
          </a:p>
          <a:p xmlns:a="http://schemas.openxmlformats.org/drawingml/2006/main">
            <a:pPr>
              <a:defRPr sz="4500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20-minute demonstration</a:t>
            </a:r>
          </a:p>
        </p:txBody>
      </p:sp>
      <p:sp>
        <p:nvSpPr>
          <p:cNvPr id="7" name="youtu.be/ZcWNYMtM1tI">
            <a:extLst xmlns:a="http://schemas.openxmlformats.org/drawingml/2006/main">
              <a:ext uri="{FF2B5EF4-FFF2-40B4-BE49-F238E27FC236}">
                <a16:creationId xmlns:a16="http://schemas.microsoft.com/office/drawing/2014/main" id="{F332FA94-87D0-466E-A0D3-72C2E119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95825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defPPr>
            <a:lvl1pPr>
              <a:defRPr sz="27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1pPr>
            <a:lvl2pPr>
              <a:defRPr sz="27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2pPr>
            <a:lvl3pPr>
              <a:defRPr sz="27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3pPr>
            <a:lvl4pPr>
              <a:defRPr sz="27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4pPr>
            <a:lvl5pPr>
              <a:defRPr sz="27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5pPr>
            <a:lvl6pPr>
              <a:defRPr sz="27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6pPr>
            <a:lvl7pPr>
              <a:defRPr sz="27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7pPr>
            <a:lvl8pPr>
              <a:defRPr sz="27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8pPr>
            <a:lvl9pPr>
              <a:defRPr sz="27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63DBC0"/>
                </a:solidFill>
                <a:latin typeface="Consolas"/>
                <a:ea typeface="Consolas"/>
                <a:cs typeface="Consolas"/>
              </a:defRPr>
            </a:pPr>
            <a:r>
              <a:rPr sz="2700" b="0">
                <a:solidFill>
                  <a:srgbClr val="63DBC0"/>
                </a:solidFill>
                <a:latin typeface="Consolas"/>
                <a:ea typeface="Consolas"/>
                <a:cs typeface="Consolas"/>
              </a:rPr>
              <a:t>youtu.be/ZcWNYMtM1tI</a:t>
            </a:r>
          </a:p>
        </p:txBody>
      </p:sp>
      <p:sp>
        <p:nvSpPr>
          <p:cNvPr id="8" name="github.com/RAK2315/RENALIS">
            <a:extLst xmlns:a="http://schemas.openxmlformats.org/drawingml/2006/main">
              <a:ext uri="{FF2B5EF4-FFF2-40B4-BE49-F238E27FC236}">
                <a16:creationId xmlns:a16="http://schemas.microsoft.com/office/drawing/2014/main" id="{452B859F-74C9-48B4-95AD-2597B07F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676900"/>
            <a:ext cx="1019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70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defPPr>
            <a:lvl1pPr>
              <a:defRPr sz="270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1pPr>
            <a:lvl2pPr>
              <a:defRPr sz="270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2pPr>
            <a:lvl3pPr>
              <a:defRPr sz="270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3pPr>
            <a:lvl4pPr>
              <a:defRPr sz="270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4pPr>
            <a:lvl5pPr>
              <a:defRPr sz="270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5pPr>
            <a:lvl6pPr>
              <a:defRPr sz="270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6pPr>
            <a:lvl7pPr>
              <a:defRPr sz="270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7pPr>
            <a:lvl8pPr>
              <a:defRPr sz="270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8pPr>
            <a:lvl9pPr>
              <a:defRPr sz="270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65C9F1"/>
                </a:solidFill>
                <a:latin typeface="Consolas"/>
                <a:ea typeface="Consolas"/>
                <a:cs typeface="Consolas"/>
              </a:defRPr>
            </a:pPr>
            <a:r>
              <a:rPr sz="2700" b="0">
                <a:solidFill>
                  <a:srgbClr val="65C9F1"/>
                </a:solidFill>
                <a:latin typeface="Consolas"/>
                <a:ea typeface="Consolas"/>
                <a:cs typeface="Consolas"/>
              </a:rPr>
              <a:t>github.com/RAK2315/RENALIS</a:t>
            </a:r>
          </a:p>
        </p:txBody>
      </p:sp>
      <p:sp>
        <p:nvSpPr>
          <p:cNvPr id="9" name="Team Sigmoid">
            <a:extLst xmlns:a="http://schemas.openxmlformats.org/drawingml/2006/main">
              <a:ext uri="{FF2B5EF4-FFF2-40B4-BE49-F238E27FC236}">
                <a16:creationId xmlns:a16="http://schemas.microsoft.com/office/drawing/2014/main" id="{8CDBAD6F-2DD6-4DBD-9024-DAE2E877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695575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625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Team Sigmoid</a:t>
            </a:r>
          </a:p>
        </p:txBody>
      </p:sp>
      <p:sp>
        <p:nvSpPr>
          <p:cNvPr id="10" name="Rehaan&#10;JSS University, Noida">
            <a:extLst xmlns:a="http://schemas.openxmlformats.org/drawingml/2006/main">
              <a:ext uri="{FF2B5EF4-FFF2-40B4-BE49-F238E27FC236}">
                <a16:creationId xmlns:a16="http://schemas.microsoft.com/office/drawing/2014/main" id="{17E6779A-DC4C-4E93-9790-0318F8B3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524250"/>
            <a:ext cx="381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Rehaan</a:t>
            </a:r>
          </a:p>
          <a:p xmlns:a="http://schemas.openxmlformats.org/drawingml/2006/main">
            <a:pPr>
              <a:defRPr sz="20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JSS University, Noida</a:t>
            </a:r>
          </a:p>
        </p:txBody>
      </p:sp>
      <p:sp>
        <p:nvSpPr>
          <p:cNvPr id="11" name="Evidence and methods">
            <a:extLst xmlns:a="http://schemas.openxmlformats.org/drawingml/2006/main">
              <a:ext uri="{FF2B5EF4-FFF2-40B4-BE49-F238E27FC236}">
                <a16:creationId xmlns:a16="http://schemas.microsoft.com/office/drawing/2014/main" id="{ACFD4A5E-D854-4C45-98F0-D83CD85A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276850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EDF5F9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EDF5F9"/>
                </a:solidFill>
                <a:latin typeface="Segoe UI"/>
                <a:ea typeface="Segoe UI"/>
                <a:cs typeface="Segoe UI"/>
              </a:rPr>
              <a:t>Evidence and methods</a:t>
            </a:r>
          </a:p>
        </p:txBody>
      </p:sp>
      <p:sp>
        <p:nvSpPr>
          <p:cNvPr id="12" name="Model card + source modules&#10;Observed and policy reports&#10;Rese">
            <a:extLst xmlns:a="http://schemas.openxmlformats.org/drawingml/2006/main">
              <a:ext uri="{FF2B5EF4-FFF2-40B4-BE49-F238E27FC236}">
                <a16:creationId xmlns:a16="http://schemas.microsoft.com/office/drawing/2014/main" id="{2B550ED0-B030-4469-A4BE-D5EFCB67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905500"/>
            <a:ext cx="3810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defPPr>
            <a:lvl1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1pPr>
            <a:lvl2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2pPr>
            <a:lvl3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3pPr>
            <a:lvl4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4pPr>
            <a:lvl5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5pPr>
            <a:lvl6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6pPr>
            <a:lvl7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7pPr>
            <a:lvl8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8pPr>
            <a:lvl9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Model card + source modules</a:t>
            </a:r>
          </a:p>
          <a:p xmlns:a="http://schemas.openxmlformats.org/drawingml/2006/main">
            <a: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Observed and policy reports</a:t>
            </a:r>
          </a:p>
          <a:p xmlns:a="http://schemas.openxmlformats.org/drawingml/2006/main">
            <a:pPr>
              <a:defRPr sz="1725" b="0">
                <a:solidFill>
                  <a:srgbClr val="A5BBC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A5BBCA"/>
                </a:solidFill>
                <a:latin typeface="Segoe UI"/>
                <a:ea typeface="Segoe UI"/>
                <a:cs typeface="Segoe UI"/>
              </a:rPr>
              <a:t>Research dossier + study protocol</a:t>
            </a:r>
          </a:p>
        </p:txBody>
      </p:sp>
    </p:spTree>
    <p:extLst>
      <p:ext uri="{BB962C8B-B14F-4D97-AF65-F5344CB8AC3E}">
        <p14:creationId xmlns:p14="http://schemas.microsoft.com/office/powerpoint/2010/main" val="8813821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2026-10-20T05:51:58.2410000Z</dcterms:created>
  <dcterms:modified xsi:type="dcterms:W3CDTF">2026-10-20T05:51:58.2410000Z</dcterms:modified>
</coreProperties>
</file>