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2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c99dff3e0b48fe" /><Relationship Type="http://schemas.openxmlformats.org/officeDocument/2006/relationships/extended-properties" Target="/docProps/app.xml" Id="Re2d6b7c3105a4ee9" /><Relationship Type="http://schemas.openxmlformats.org/officeDocument/2006/relationships/officeDocument" Target="/ppt/presentation.xml" Id="Rd689c2f066f14f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9e65884b36435d"/>
  </p:sldMasterIdLst>
  <p:notesMasterIdLst>
    <p:notesMasterId xmlns:r="http://schemas.openxmlformats.org/officeDocument/2006/relationships" r:id="R65248f36a1564da7"/>
  </p:notesMasterIdLst>
  <p:sldIdLst>
    <p:sldId xmlns:r="http://schemas.openxmlformats.org/officeDocument/2006/relationships" id="256" r:id="R61bc4368ade94b84"/>
    <p:sldId xmlns:r="http://schemas.openxmlformats.org/officeDocument/2006/relationships" id="257" r:id="R9d030eea969342aa"/>
    <p:sldId xmlns:r="http://schemas.openxmlformats.org/officeDocument/2006/relationships" id="258" r:id="R87f8c009d70c4ffc"/>
    <p:sldId xmlns:r="http://schemas.openxmlformats.org/officeDocument/2006/relationships" id="259" r:id="Rc535430f31ae4860"/>
    <p:sldId xmlns:r="http://schemas.openxmlformats.org/officeDocument/2006/relationships" id="260" r:id="Rfc55f235a87f4c81"/>
    <p:sldId xmlns:r="http://schemas.openxmlformats.org/officeDocument/2006/relationships" id="261" r:id="R117b65bb15eb4948"/>
    <p:sldId xmlns:r="http://schemas.openxmlformats.org/officeDocument/2006/relationships" id="262" r:id="R335d6417fee449c2"/>
    <p:sldId xmlns:r="http://schemas.openxmlformats.org/officeDocument/2006/relationships" id="263" r:id="Rc29d8d3c8cf04fbc"/>
    <p:sldId xmlns:r="http://schemas.openxmlformats.org/officeDocument/2006/relationships" id="264" r:id="R25786ae343654247"/>
    <p:sldId xmlns:r="http://schemas.openxmlformats.org/officeDocument/2006/relationships" id="265" r:id="R7890d6d305204e8f"/>
    <p:sldId xmlns:r="http://schemas.openxmlformats.org/officeDocument/2006/relationships" id="266" r:id="Rb2952c4c05534900"/>
    <p:sldId xmlns:r="http://schemas.openxmlformats.org/officeDocument/2006/relationships" id="267" r:id="R784d8cf718724e76"/>
    <p:sldId xmlns:r="http://schemas.openxmlformats.org/officeDocument/2006/relationships" id="268" r:id="R144277d0704d4abc"/>
    <p:sldId xmlns:r="http://schemas.openxmlformats.org/officeDocument/2006/relationships" id="269" r:id="R55722ef95c5b472f"/>
    <p:sldId xmlns:r="http://schemas.openxmlformats.org/officeDocument/2006/relationships" id="270" r:id="R650c13ce81d44e11"/>
    <p:sldId xmlns:r="http://schemas.openxmlformats.org/officeDocument/2006/relationships" id="271" r:id="R3d467a6e78244ff0"/>
    <p:sldId xmlns:r="http://schemas.openxmlformats.org/officeDocument/2006/relationships" id="272" r:id="R1be909dfdf82440f"/>
    <p:sldId xmlns:r="http://schemas.openxmlformats.org/officeDocument/2006/relationships" id="273" r:id="Re937b2cff9244963"/>
    <p:sldId xmlns:r="http://schemas.openxmlformats.org/officeDocument/2006/relationships" id="274" r:id="R4eeaaedf814d41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e9e3a87c094ea5" /><Relationship Type="http://schemas.openxmlformats.org/officeDocument/2006/relationships/slideMaster" Target="/ppt/slideMasters/slideMaster1.xml" Id="R829e65884b36435d" /><Relationship Type="http://schemas.openxmlformats.org/officeDocument/2006/relationships/notesMaster" Target="/ppt/notesMasters/notesMaster1.xml" Id="R65248f36a1564da7" /><Relationship Type="http://schemas.openxmlformats.org/officeDocument/2006/relationships/presProps" Target="/ppt/presProps.xml" Id="R24b5f3e3f9cf4028" /><Relationship Type="http://schemas.openxmlformats.org/officeDocument/2006/relationships/tableStyles" Target="/ppt/tableStyles.xml" Id="R9c3b0c8d50474992" /><Relationship Type="http://schemas.openxmlformats.org/officeDocument/2006/relationships/slide" Target="/ppt/slides/slide1.xml" Id="R61bc4368ade94b84" /><Relationship Type="http://schemas.openxmlformats.org/officeDocument/2006/relationships/slide" Target="/ppt/slides/slide2.xml" Id="R9d030eea969342aa" /><Relationship Type="http://schemas.openxmlformats.org/officeDocument/2006/relationships/slide" Target="/ppt/slides/slide3.xml" Id="R87f8c009d70c4ffc" /><Relationship Type="http://schemas.openxmlformats.org/officeDocument/2006/relationships/slide" Target="/ppt/slides/slide4.xml" Id="Rc535430f31ae4860" /><Relationship Type="http://schemas.openxmlformats.org/officeDocument/2006/relationships/slide" Target="/ppt/slides/slide5.xml" Id="Rfc55f235a87f4c81" /><Relationship Type="http://schemas.openxmlformats.org/officeDocument/2006/relationships/slide" Target="/ppt/slides/slide6.xml" Id="R117b65bb15eb4948" /><Relationship Type="http://schemas.openxmlformats.org/officeDocument/2006/relationships/slide" Target="/ppt/slides/slide7.xml" Id="R335d6417fee449c2" /><Relationship Type="http://schemas.openxmlformats.org/officeDocument/2006/relationships/slide" Target="/ppt/slides/slide8.xml" Id="Rc29d8d3c8cf04fbc" /><Relationship Type="http://schemas.openxmlformats.org/officeDocument/2006/relationships/slide" Target="/ppt/slides/slide9.xml" Id="R25786ae343654247" /><Relationship Type="http://schemas.openxmlformats.org/officeDocument/2006/relationships/slide" Target="/ppt/slides/slide10.xml" Id="R7890d6d305204e8f" /><Relationship Type="http://schemas.openxmlformats.org/officeDocument/2006/relationships/slide" Target="/ppt/slides/slide11.xml" Id="Rb2952c4c05534900" /><Relationship Type="http://schemas.openxmlformats.org/officeDocument/2006/relationships/slide" Target="/ppt/slides/slide12.xml" Id="R784d8cf718724e76" /><Relationship Type="http://schemas.openxmlformats.org/officeDocument/2006/relationships/slide" Target="/ppt/slides/slide13.xml" Id="R144277d0704d4abc" /><Relationship Type="http://schemas.openxmlformats.org/officeDocument/2006/relationships/slide" Target="/ppt/slides/slide14.xml" Id="R55722ef95c5b472f" /><Relationship Type="http://schemas.openxmlformats.org/officeDocument/2006/relationships/slide" Target="/ppt/slides/slide15.xml" Id="R650c13ce81d44e11" /><Relationship Type="http://schemas.openxmlformats.org/officeDocument/2006/relationships/slide" Target="/ppt/slides/slide16.xml" Id="R3d467a6e78244ff0" /><Relationship Type="http://schemas.openxmlformats.org/officeDocument/2006/relationships/slide" Target="/ppt/slides/slide17.xml" Id="R1be909dfdf82440f" /><Relationship Type="http://schemas.openxmlformats.org/officeDocument/2006/relationships/slide" Target="/ppt/slides/slide18.xml" Id="Re937b2cff9244963" /><Relationship Type="http://schemas.openxmlformats.org/officeDocument/2006/relationships/slide" Target="/ppt/slides/slide19.xml" Id="R4eeaaedf814d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2febd645cf4b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16cdf14c714023" /><Relationship Type="http://schemas.openxmlformats.org/officeDocument/2006/relationships/notesMaster" Target="/ppt/notesMasters/notesMaster1.xml" Id="Rf98ed3bb4fa146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164d97555748b4" /><Relationship Type="http://schemas.openxmlformats.org/officeDocument/2006/relationships/notesMaster" Target="/ppt/notesMasters/notesMaster1.xml" Id="Rfa2874110e2f49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e8499f5b043c1" /><Relationship Type="http://schemas.openxmlformats.org/officeDocument/2006/relationships/notesMaster" Target="/ppt/notesMasters/notesMaster1.xml" Id="Rcbe3bc7f86f040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eb16d81ba54df0" /><Relationship Type="http://schemas.openxmlformats.org/officeDocument/2006/relationships/notesMaster" Target="/ppt/notesMasters/notesMaster1.xml" Id="R9a1474593ea64f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fb96419ae84486" /><Relationship Type="http://schemas.openxmlformats.org/officeDocument/2006/relationships/notesMaster" Target="/ppt/notesMasters/notesMaster1.xml" Id="Rcde81b664d3c40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6580164fa4de8" /><Relationship Type="http://schemas.openxmlformats.org/officeDocument/2006/relationships/notesMaster" Target="/ppt/notesMasters/notesMaster1.xml" Id="R4f0cc0724a9541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dbd08df680446f" /><Relationship Type="http://schemas.openxmlformats.org/officeDocument/2006/relationships/notesMaster" Target="/ppt/notesMasters/notesMaster1.xml" Id="Rf243fa0d917a49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dfa626a61749df" /><Relationship Type="http://schemas.openxmlformats.org/officeDocument/2006/relationships/notesMaster" Target="/ppt/notesMasters/notesMaster1.xml" Id="R8f81633e983b44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c8e397390747e8" /><Relationship Type="http://schemas.openxmlformats.org/officeDocument/2006/relationships/notesMaster" Target="/ppt/notesMasters/notesMaster1.xml" Id="R89d79ba7cd994e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e42c1b907d4ebb" /><Relationship Type="http://schemas.openxmlformats.org/officeDocument/2006/relationships/notesMaster" Target="/ppt/notesMasters/notesMaster1.xml" Id="Rf8078ac5c1e54f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3b3495b8bc4e96" /><Relationship Type="http://schemas.openxmlformats.org/officeDocument/2006/relationships/notesMaster" Target="/ppt/notesMasters/notesMaster1.xml" Id="R3a206827f1a24f1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0c58af417e4eca" /><Relationship Type="http://schemas.openxmlformats.org/officeDocument/2006/relationships/notesMaster" Target="/ppt/notesMasters/notesMaster1.xml" Id="R8aa063ecbae2445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81a65d46084092" /><Relationship Type="http://schemas.openxmlformats.org/officeDocument/2006/relationships/notesMaster" Target="/ppt/notesMasters/notesMaster1.xml" Id="R1964dba6f96e47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95b02a5d0a4a5b" /><Relationship Type="http://schemas.openxmlformats.org/officeDocument/2006/relationships/notesMaster" Target="/ppt/notesMasters/notesMaster1.xml" Id="Rd1b0841ee2a74b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9cf8a29a8a44f4" /><Relationship Type="http://schemas.openxmlformats.org/officeDocument/2006/relationships/notesMaster" Target="/ppt/notesMasters/notesMaster1.xml" Id="R71e1ad7034d3473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275ea6bc5d4033" /><Relationship Type="http://schemas.openxmlformats.org/officeDocument/2006/relationships/notesMaster" Target="/ppt/notesMasters/notesMaster1.xml" Id="R2f4f22dd31ed43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a1c34cb4ab4515" /><Relationship Type="http://schemas.openxmlformats.org/officeDocument/2006/relationships/notesMaster" Target="/ppt/notesMasters/notesMaster1.xml" Id="R4180caa7976f41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bb885b1d974190" /><Relationship Type="http://schemas.openxmlformats.org/officeDocument/2006/relationships/notesMaster" Target="/ppt/notesMasters/notesMaster1.xml" Id="Ra1431a5bbd4442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795b5979508436b" /><Relationship Type="http://schemas.openxmlformats.org/officeDocument/2006/relationships/notesMaster" Target="/ppt/notesMasters/notesMaster1.xml" Id="Rb051b31bb7964a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title and scope. Built-in patients are fictional. No clinical deployment or prospective benefit is claimed. Team Sigmoid, Rehaan (solo), JSS University, Noida; supplied by the entrant.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motivation: KDIGO Blood pressure and volume management in dialysis, Kidney International 2020. https://kdigo.org/wp-content/uploads/2017/02/KDIGO-BP-Volume-Management-in-Dialysis-Conference-Report.pdf . Equations and noise values in RENALIS are authored research assumptions.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entry: /workspace?view=investigation&amp;patient=RNL-014&amp;minute=80 . Follow Learn, Understand, Compare, Ask, Review and Verify. The evidence journey is implemented in src/EvidenceJourney.tsx.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backend/history.py, model.py, mechanisms.py, app.py. React/TypeScript frontend, FastAPI/NumPy backend and SQLite persistence. Observed HEMOBP training is separate and does not drive synthetic physiological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backend/history.py and history_fixtures.py. Current-session and future-available records are excluded. Generator and learner share a model family, so this synthetic ablation cannot establish clinical personalization.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backend/model.py advance and backend/mechanisms.py project/sensor_prediction. Fluid conservation is tested. Conservation alone does not validate the pressure equation or identify a real physiological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backend/mechanisms.py. The mixed family expands authored possibilities but does not guarantee model completeness. Similar factual fits can imply divergent hypothetical responses. Family support is not a diagnostic probability.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backend/insights.py. The UI shows conditional 10th to 90th ranges and three hypothetical outcomes. These previews are model-derived, uncalibrated and never enter the acquired-evidence ledger.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backend/discrimination.py, tests/test_discrimination.py and docs/demo-walkthrough-v04.md. Meera minute90, rate650, research equipment, noise1, failure0, immediate acquisition. Device fixtures are not accessible during selection. These are model-bank support weights, not clinical diagnostic probabilities.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backend/discrimination.py 21-node Gaussian quadrature, current posterior, declared noise. Cardiac repeat at+5min offers0.00717 expected pair bits in this example. Pair metrics condition on these families, retaining other mass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backend/discrimination.py, backend/mechanisms.py and model-card.md. Two families with at least10% support trigger pair entropy; otherwise whole-bank entropy. Earliest feasible slot per channel;0.005-bit floor. Repeated observations assume independent noise. Frozen192-case study evaluated different one-acquisition policies.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backend/mechanisms.py measurement_value. Nine-node Gaussian quadrature is compared with a 41-node diagnostic reference. Information gain remains distinct from expected decision-loss reduction. Costs and loss weights are authored, not elicited clinical utilities.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backend/app.py. Server enforces equipment, channel/value range and cutoff. Failed acquisitions remain charged and visible. Reset archives records. A correction appends a new value at its release time and preserves earlier cutoffs and saved reports.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docs/observed-v04.json and scripts/evaluate_observed_v04.py. Dataset DOI 10.6084/m9.figshare.6260654.v3, CC BY 4.0. https://www.nature.com/articles/s41597-019-0319-8 . Endpoint is next distinct measured SBP &lt;=90 with a 5-35 minute gap and current SBP &gt;90.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docs/observed-v04.json. Fit/calibration/test patient overlap is zero. Threshold selection uses calibration patients. Alerts consolidate under a 30-minute refractory rule. No continuous-event, prospective clinical or India transport claim follows from these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docs/policy-validation-v04.json. All 768 policy records retained. Independent additive futures include mixed/omitted mechanisms, noise, basic equipment and delayed/failing acquisition. Oracle-grid metric amendment is documented and initial report preserved. No policies were tuned after evaluation.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tests/test_model.py, tests/test_mechanisms.py, tests/test_research_release.py and scripts/check-journey.cjs. UI tests cover five responsive widths from 320 to 1440 pixels. Software tests do not establish clinical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backend/longitudinal.py and backend/app.py fhir_example. FHIR specification https://hl7.org/fhir/R4/observation.html and ABDM guide https://nrces.in/ndhm/fhir/r4/ . This is an example bundle, not a certification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docs/clinical-study-protocol.md and docs/data-capture-schema.json. No recruited clinicians, approvals, measured staff-time savings or patient outcomes are claimed. Team identity and public submission links must be supplied and verified before entry.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acbe1c710640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a4f4b7a6748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b31d70299f44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f0109ff98d46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0715faa9234bb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744325cd1847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6C6CB-C59D-43BA-9CF2-6B4AD65A49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2AD86E8-CBB3-4D17-85E9-05C1122CFC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5C65EF9-7DA8-4336-8B3F-238B6F1B7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889258-8C20-447C-BBF5-9AC4277F8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3FAA04F-B368-4A5F-8C9F-56CC93041F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0308CA-F133-47AF-9F69-01EDF74030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3830734-5A43-4898-97F6-E23BABE49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04DEE4-9E3B-489B-B5DB-09497C0ECE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D9E22A1-9909-479C-8544-EFAB27CC0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0B00B57-B947-44D1-886E-517B7D91DB4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45505714cc4671" /><Relationship Type="http://schemas.openxmlformats.org/officeDocument/2006/relationships/slideLayout" Target="/ppt/slideLayouts/slideLayout1.xml" Id="Rf5393267ea4c4a3e" /><Relationship Type="http://schemas.openxmlformats.org/officeDocument/2006/relationships/slideLayout" Target="/ppt/slideLayouts/slideLayout2.xml" Id="R5896520e390f4dd7" /><Relationship Type="http://schemas.openxmlformats.org/officeDocument/2006/relationships/slideLayout" Target="/ppt/slideLayouts/slideLayout3.xml" Id="R8b859d26b94a49ac" /><Relationship Type="http://schemas.openxmlformats.org/officeDocument/2006/relationships/slideLayout" Target="/ppt/slideLayouts/slideLayout4.xml" Id="Rddf795346c3e426f" /><Relationship Type="http://schemas.openxmlformats.org/officeDocument/2006/relationships/slideLayout" Target="/ppt/slideLayouts/slideLayout5.xml" Id="R51a462471ee64f83" /><Relationship Type="http://schemas.openxmlformats.org/officeDocument/2006/relationships/slideLayout" Target="/ppt/slideLayouts/slideLayout6.xml" Id="R1e2828175c9840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5393267ea4c4a3e"/>
    <p:sldLayoutId xmlns:r="http://schemas.openxmlformats.org/officeDocument/2006/relationships" id="2147483650" r:id="R5896520e390f4dd7"/>
    <p:sldLayoutId xmlns:r="http://schemas.openxmlformats.org/officeDocument/2006/relationships" id="2147483651" r:id="R8b859d26b94a49ac"/>
    <p:sldLayoutId xmlns:r="http://schemas.openxmlformats.org/officeDocument/2006/relationships" id="2147483652" r:id="Rddf795346c3e426f"/>
    <p:sldLayoutId xmlns:r="http://schemas.openxmlformats.org/officeDocument/2006/relationships" id="2147483653" r:id="R51a462471ee64f83"/>
    <p:sldLayoutId xmlns:r="http://schemas.openxmlformats.org/officeDocument/2006/relationships" id="2147483654" r:id="R1e2828175c9840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8a057919904a04" /><Relationship Type="http://schemas.openxmlformats.org/officeDocument/2006/relationships/notesSlide" Target="/ppt/notesSlides/notesSlide1.xml" Id="R337f217c46a944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de5e11caf4942" /><Relationship Type="http://schemas.openxmlformats.org/officeDocument/2006/relationships/notesSlide" Target="/ppt/notesSlides/notesSlide2.xml" Id="Rd8d96b90ad2944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cbff3cea6d4dda" /><Relationship Type="http://schemas.openxmlformats.org/officeDocument/2006/relationships/notesSlide" Target="/ppt/notesSlides/notesSlide3.xml" Id="R10c216d94c214e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7257f9ad64254" /><Relationship Type="http://schemas.openxmlformats.org/officeDocument/2006/relationships/notesSlide" Target="/ppt/notesSlides/notesSlide4.xml" Id="Rb55e4608f59e44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a95037882a4d88" /><Relationship Type="http://schemas.openxmlformats.org/officeDocument/2006/relationships/notesSlide" Target="/ppt/notesSlides/notesSlide5.xml" Id="R7c0e0db91c7146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d708fe9a6345da" /><Relationship Type="http://schemas.openxmlformats.org/officeDocument/2006/relationships/notesSlide" Target="/ppt/notesSlides/notesSlide6.xml" Id="Rc9e9868058394b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64bb9d6d1145dc" /><Relationship Type="http://schemas.openxmlformats.org/officeDocument/2006/relationships/notesSlide" Target="/ppt/notesSlides/notesSlide7.xml" Id="R36d3194e47c846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acc6591fa4531" /><Relationship Type="http://schemas.openxmlformats.org/officeDocument/2006/relationships/notesSlide" Target="/ppt/notesSlides/notesSlide8.xml" Id="Raba7b74942d642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65904b390e4fbd" /><Relationship Type="http://schemas.openxmlformats.org/officeDocument/2006/relationships/notesSlide" Target="/ppt/notesSlides/notesSlide9.xml" Id="R1c01c758deb743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4a60ac7594383" /><Relationship Type="http://schemas.openxmlformats.org/officeDocument/2006/relationships/notesSlide" Target="/ppt/notesSlides/notesSlide10.xml" Id="R17bb3cf21e58430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6f4c8d24e4e5b" /><Relationship Type="http://schemas.openxmlformats.org/officeDocument/2006/relationships/notesSlide" Target="/ppt/notesSlides/notesSlide11.xml" Id="R9fb09f7deced4d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ff34aa39b4075" /><Relationship Type="http://schemas.openxmlformats.org/officeDocument/2006/relationships/notesSlide" Target="/ppt/notesSlides/notesSlide12.xml" Id="Rbf7822d6e725449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566e92e3704e6d" /><Relationship Type="http://schemas.openxmlformats.org/officeDocument/2006/relationships/notesSlide" Target="/ppt/notesSlides/notesSlide13.xml" Id="Rdb05238d39374f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6924c05964b58" /><Relationship Type="http://schemas.openxmlformats.org/officeDocument/2006/relationships/chart" Target="/ppt/slides/charts/chart1.xml" Id="Re67e74c400c54b82" /><Relationship Type="http://schemas.openxmlformats.org/officeDocument/2006/relationships/notesSlide" Target="/ppt/notesSlides/notesSlide14.xml" Id="Rbd5fd9f0b1e849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3a1d6e41544ae" /><Relationship Type="http://schemas.openxmlformats.org/officeDocument/2006/relationships/notesSlide" Target="/ppt/notesSlides/notesSlide15.xml" Id="R0c2574a7945c42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f3850cd40474f" /><Relationship Type="http://schemas.openxmlformats.org/officeDocument/2006/relationships/chart" Target="/ppt/slides/charts/chart2.xml" Id="R7626d7e3a407443b" /><Relationship Type="http://schemas.openxmlformats.org/officeDocument/2006/relationships/notesSlide" Target="/ppt/notesSlides/notesSlide16.xml" Id="Rffe99ccf49bc44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3e0025a7224184" /><Relationship Type="http://schemas.openxmlformats.org/officeDocument/2006/relationships/notesSlide" Target="/ppt/notesSlides/notesSlide17.xml" Id="R271ffba121224c4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baf29f4df40b6" /><Relationship Type="http://schemas.openxmlformats.org/officeDocument/2006/relationships/notesSlide" Target="/ppt/notesSlides/notesSlide18.xml" Id="R450eaed2a8fc4fc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f078c37b764f88" /><Relationship Type="http://schemas.openxmlformats.org/officeDocument/2006/relationships/notesSlide" Target="/ppt/notesSlides/notesSlide19.xml" Id="R0372c73a5d014a4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MAE</c:v>
          </c:tx>
          <c:spPr>
            <a:solidFill xmlns:a="http://schemas.openxmlformats.org/drawingml/2006/main">
              <a:srgbClr val="30796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Persistence</c:v>
                </c:pt>
                <c:pt idx="1">
                  <c:v>Dynamic</c:v>
                </c:pt>
                <c:pt idx="2">
                  <c:v>Demographics</c:v>
                </c:pt>
                <c:pt idx="3">
                  <c:v>Past sessions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12.194</c:v>
                </c:pt>
                <c:pt idx="1">
                  <c:v>11.356</c:v>
                </c:pt>
                <c:pt idx="2">
                  <c:v>11.328</c:v>
                </c:pt>
                <c:pt idx="3">
                  <c:v>11.161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Calibri"/>
                    <a:ea typeface="Calibri"/>
                    <a:cs typeface="Calibri"/>
                  </a:rPr>
                  <a:t>mmHg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Mean independent regret</c:v>
          </c:tx>
          <c:spPr>
            <a:solidFill xmlns:a="http://schemas.openxmlformats.org/drawingml/2006/main">
              <a:srgbClr val="AC734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no observation</c:v>
                </c:pt>
                <c:pt idx="1">
                  <c:v>fixed cuff</c:v>
                </c:pt>
                <c:pt idx="2">
                  <c:v>information gain</c:v>
                </c:pt>
                <c:pt idx="3">
                  <c:v>decision value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0.23078</c:v>
                </c:pt>
                <c:pt idx="1">
                  <c:v>0.2217</c:v>
                </c:pt>
                <c:pt idx="2">
                  <c:v>0.24472</c:v>
                </c:pt>
                <c:pt idx="3">
                  <c:v>0.24145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5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Calibri"/>
                    <a:ea typeface="Calibri"/>
                    <a:cs typeface="Calibri"/>
                  </a:rPr>
                  <a:t>Research loss units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D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2C3E0-982B-4D33-8D0D-D49BA127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E8F1DA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E8F1DA"/>
                </a:solidFill>
                <a:latin typeface="Calibri"/>
                <a:ea typeface="Calibri"/>
                <a:cs typeface="Calibri"/>
              </a:rPr>
              <a:t>RENALIS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2C85C-CC27-4BAF-9523-E67E7DC5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B6CBB8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B6CBB8"/>
                </a:solidFill>
                <a:latin typeface="Calibri"/>
                <a:ea typeface="Calibri"/>
                <a:cs typeface="Calibri"/>
              </a:rPr>
              <a:t>A dialysis twin that makes competing explanations and the next evidence question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8CD46-AF20-4515-A5B8-E4686309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ADC3B0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ADC3B0"/>
                </a:solidFill>
                <a:latin typeface="Calibri"/>
                <a:ea typeface="Calibri"/>
                <a:cs typeface="Calibri"/>
              </a:rPr>
              <a:t>RENALIS submission · 19 October 2026   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F5B5B-9711-4753-9791-D139EA8C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defPPr>
            <a:lvl1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1pPr>
            <a:lvl2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2pPr>
            <a:lvl3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3pPr>
            <a:lvl4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4pPr>
            <a:lvl5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5pPr>
            <a:lvl6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6pPr>
            <a:lvl7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7pPr>
            <a:lvl8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8pPr>
            <a:lvl9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D5E8BD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D5E8BD"/>
                </a:solidFill>
                <a:latin typeface="Calibri"/>
                <a:ea typeface="Calibri"/>
                <a:cs typeface="Calibri"/>
              </a:rPr>
              <a:t>Team Sigmoid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37EC8-28DE-420A-8134-78FE13AB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defPPr>
            <a:lvl1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1pPr>
            <a:lvl2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2pPr>
            <a:lvl3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3pPr>
            <a:lvl4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4pPr>
            <a:lvl5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5pPr>
            <a:lvl6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6pPr>
            <a:lvl7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7pPr>
            <a:lvl8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8pPr>
            <a:lvl9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pPr>
            <a:r>
              <a:rPr sz="2250" b="0">
                <a:solidFill>
                  <a:srgbClr val="C2D4BE"/>
                </a:solidFill>
                <a:latin typeface="Calibri"/>
                <a:ea typeface="Calibri"/>
                <a:cs typeface="Calibri"/>
              </a:rPr>
              <a:t>Rehaan · Solo entrant · JSS University, Noida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056D1-1EC6-48FA-901E-CA109FBA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C2D4BE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C2D4BE"/>
                </a:solidFill>
                <a:latin typeface="Calibri"/>
                <a:ea typeface="Calibri"/>
                <a:cs typeface="Calibri"/>
              </a:rPr>
              <a:t>Competing explanations. A clearer next evidence question.</a:t>
            </a:r>
          </a:p>
        </p:txBody>
      </p:sp>
    </p:spTree>
    <p:extLst>
      <p:ext uri="{BB962C8B-B14F-4D97-AF65-F5344CB8AC3E}">
        <p14:creationId xmlns:p14="http://schemas.microsoft.com/office/powerpoint/2010/main" val="1262544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954AA-45B1-4234-BAD7-7D0A47CA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clinical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BFE28-5055-44BC-8BBB-7CCEF836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 declining pressure trace can fit several physiological explanations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BDA1DF-36B2-424D-9AB1-F26ED20B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B41C90-78C8-416D-9D70-AFDCC37A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During dialysis, fluid removal interacts with refill and compensatory responses.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8BBAB-A55F-415E-B70A-283A7258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RENALIS preserves several compatible models and compares hypothetical profiles.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2C9CB-6F2A-4448-90B9-9AFD69FF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next question is which feasible observation could change that comparison.</a:t>
            </a:r>
          </a:p>
        </p:txBody>
      </p:sp>
    </p:spTree>
    <p:extLst>
      <p:ext uri="{BB962C8B-B14F-4D97-AF65-F5344CB8AC3E}">
        <p14:creationId xmlns:p14="http://schemas.microsoft.com/office/powerpoint/2010/main" val="8439271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82FA8-192B-4D35-A0BE-C5970B68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One patient, one evidence cutoff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69AE6-6473-4210-B4DA-EFD90638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Six connected stages keep the reasoning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45E71-2C28-4403-8206-A6201A01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B7675-3D07-4036-AC96-36F0ABC3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Learn from preceding sessions, then inspect the model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4B0AA-B19E-4D11-9BB2-A825BD1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Compare four explanations, then preview possible measurement results.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F48CE2-BCBF-4A1D-8993-389687D5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Acquire or abstain, review the record, and inspect independent evaluations.</a:t>
            </a:r>
          </a:p>
        </p:txBody>
      </p:sp>
    </p:spTree>
    <p:extLst>
      <p:ext uri="{BB962C8B-B14F-4D97-AF65-F5344CB8AC3E}">
        <p14:creationId xmlns:p14="http://schemas.microsoft.com/office/powerpoint/2010/main" val="102504794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DD8602-57CC-4668-8E82-595D44FA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250A7-5D0B-4FEA-A8C5-228C6724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synthetic physiological path and observed-data benchmark remain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7513-3BCF-43ED-9EA9-D94D308C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4931E-C8A1-472F-B783-A217E673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Preceding synthetic sessions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Raw BP + machine settings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B7C04-350A-4B26-B7D9-C4CBCEF2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349ADD-9411-4993-99A5-564EFFE7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19375"/>
            <a:ext cx="3190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learner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Shrinkage + lineage digest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026B7-BE89-4E59-BBC2-58B77393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527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F06EFD-5A14-46AE-B3FF-9D20EEB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193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replay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Available-time cutoff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221C82-5E72-41BE-A136-6B16E79D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33800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47259-DBF5-4398-A5B7-B4FDA8D3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86250"/>
            <a:ext cx="3457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Four physiological families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48 particles per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1342E-DB68-42CC-B94D-6719CE9C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4C3EF-77AE-40B9-9306-5E3027DC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86250"/>
            <a:ext cx="3238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Observation-policy comparison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Time, noise, failure, burden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EBB72-0873-405E-AE8E-EDEF201E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9625"/>
            <a:ext cx="47625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00C124-D7F2-43EF-B427-2ABA58AC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Evidence journey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Review + saved reports</a:t>
            </a:r>
          </a:p>
        </p:txBody>
      </p:sp>
    </p:spTree>
    <p:extLst>
      <p:ext uri="{BB962C8B-B14F-4D97-AF65-F5344CB8AC3E}">
        <p14:creationId xmlns:p14="http://schemas.microsoft.com/office/powerpoint/2010/main" val="1687320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4930F-842D-4D82-9FC8-A8CEBBD9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Patient history changes the prior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A413B-44A4-43A0-9285-8693ABB1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Raw preceding-session trajectories replace an authored refill prior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F5980-4401-4C38-AFD1-E5F7FC18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6D436-8330-4E2C-9917-A5EA290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Six completed synthetic sessions supply BP readings and machine settings.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EA723-40F4-4D86-9055-A8E5A9E6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 grid likelihood fits refill and compensation, then shrinks toward a population reference.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50E021-F595-4AFD-A5C0-11068021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 forward-session ablation, uncertainty floor and history digest expose the learning limits.</a:t>
            </a:r>
          </a:p>
        </p:txBody>
      </p:sp>
    </p:spTree>
    <p:extLst>
      <p:ext uri="{BB962C8B-B14F-4D97-AF65-F5344CB8AC3E}">
        <p14:creationId xmlns:p14="http://schemas.microsoft.com/office/powerpoint/2010/main" val="2822391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B5133-C89D-4EC6-A4E4-28D42C89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Inspectable physiological 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65797-92D5-49C5-B184-10A86D4F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Compartment state, measured settings and authored response maps are labeled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0D4E1-84E4-4836-A334-7D8DD46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A0966-558F-4C77-AB52-C7624BFA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Tissue fluid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Estimated compartment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FD76C-5B65-4183-BE31-B11AC051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0956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0234B1-7FB3-402B-9066-B5D5FDED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Circulating volume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Estimated compartment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21E1E3-D890-4840-8B23-20F734F2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956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775AD-9E69-489C-BA8D-F7689CCD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Machine removal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Observed setting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5DADE-C0F4-419B-8582-A42BE885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38575"/>
            <a:ext cx="228600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C1624-7AEF-4420-9011-CC1A61F1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81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Pressure response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Family-specific equation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F92ED-EBF3-4434-B849-A721B2A2C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Cardiac output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Authored sensor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99075-C523-4A66-B910-C2C0D12C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85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Vascular response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Authored hypothesis</a:t>
            </a:r>
          </a:p>
        </p:txBody>
      </p:sp>
    </p:spTree>
    <p:extLst>
      <p:ext uri="{BB962C8B-B14F-4D97-AF65-F5344CB8AC3E}">
        <p14:creationId xmlns:p14="http://schemas.microsoft.com/office/powerpoint/2010/main" val="5951354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0976F-D6E7-42C4-B95F-40A717428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Four explanations preserve ambiguity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9053B-E38A-400C-A29F-078891A7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Volume/refill, vascular, cardiac and mixed response families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F8B93-7263-400E-8355-E4090C8D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0FC0F7-C1AE-46BC-9279-B4284793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Each family retains 48 particles and fits the same available BP and machine history.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8E2AF-03D2-44C3-A382-77A4EDB0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Compatibility weights describe this chosen model bank and can remain unresolved.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67494-4932-4817-B791-1698A270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Contradictory observations downgrade authority because actual physiology may be absent.</a:t>
            </a:r>
          </a:p>
        </p:txBody>
      </p:sp>
    </p:spTree>
    <p:extLst>
      <p:ext uri="{BB962C8B-B14F-4D97-AF65-F5344CB8AC3E}">
        <p14:creationId xmlns:p14="http://schemas.microsoft.com/office/powerpoint/2010/main" val="7722053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1F8011-01C0-43AC-A182-99409CB54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Possible measurements appear before acquisition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72B58-29D0-4534-A620-BBA507AC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Predicted ranges include selected noise and observation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9C430-10FC-42BA-AB10-AEE6B0C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2EED0-6E15-474E-9D47-C2B2B2FE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Cuff BP, relative blood volume and cardiac output have explicit observation equations.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5664D-ACC9-40DE-A830-B57CF6D2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Lower, middle and higher result previews show conditional support and scenario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521344-15F6-45B2-8F73-3AA0106E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Overlapping ranges reveal when a measurement cannot reliably separate explanations.</a:t>
            </a:r>
          </a:p>
        </p:txBody>
      </p:sp>
    </p:spTree>
    <p:extLst>
      <p:ext uri="{BB962C8B-B14F-4D97-AF65-F5344CB8AC3E}">
        <p14:creationId xmlns:p14="http://schemas.microsoft.com/office/powerpoint/2010/main" val="2656263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8780F-441F-4B6F-88A1-136D7726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After 3.74, the evidence question changes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148F3-8378-4068-AE19-669B75D1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planner automatically focuses on the surviving volume–cardiac ambiguity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EB40C-5B37-452D-A3C8-FD2540C1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A3775-A443-4F59-806C-AF9F4C11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 3.74 L/min leaves cardiac 51.7% and volume 46.2% model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D0828-838D-4EFA-80EB-D4E16627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next computed discriminator is relative blood volume, without a manual resolving value.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F87FC-602E-4056-B167-7D16BA2E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Actual synthetic RBV 85.0% shifts support to volume 66.9%, cardiac 31.8%: still unresolved.</a:t>
            </a:r>
          </a:p>
        </p:txBody>
      </p:sp>
    </p:spTree>
    <p:extLst>
      <p:ext uri="{BB962C8B-B14F-4D97-AF65-F5344CB8AC3E}">
        <p14:creationId xmlns:p14="http://schemas.microsoft.com/office/powerpoint/2010/main" val="1011193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8968D-80CD-4AF4-AAEF-59B100F2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Why relative blood volume?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02E0D-95FC-4A34-BE45-0C52524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two explanations predict different distributions, with honest overlap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DDD39-94AB-42C6-A29A-0A19EC0B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331E8-57D0-40CD-AD8B-7B9E896D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5048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Volume / refill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Median 83.87%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10th–90th:81.25–86.40%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57F4F-103D-482C-99A7-AA12D4AA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14625"/>
            <a:ext cx="5381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786398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Cardiac response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Median 87.81%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10th–90th:84.40–90.53%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E76D82-2BC7-476B-AD74-FC687F54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Expected pair information: RBV 0.39378 bits; cuff 0.00004 bits.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CB150-0AD6-4131-8738-37642189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defPPr>
            <a:lvl1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1pPr>
            <a:lvl2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2pPr>
            <a:lvl3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3pPr>
            <a:lvl4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4pPr>
            <a:lvl5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5pPr>
            <a:lvl6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6pPr>
            <a:lvl7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7pPr>
            <a:lvl8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8pPr>
            <a:lvl9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AC7346"/>
                </a:solidFill>
                <a:latin typeface="Calibri"/>
                <a:ea typeface="Calibri"/>
                <a:cs typeface="Calibri"/>
              </a:defRPr>
            </a:pPr>
            <a:r>
              <a:rPr sz="1875" b="0">
                <a:solidFill>
                  <a:srgbClr val="AC7346"/>
                </a:solidFill>
                <a:latin typeface="Calibri"/>
                <a:ea typeface="Calibri"/>
                <a:cs typeface="Calibri"/>
              </a:rPr>
              <a:t>Selected noise is included. The actual result may remain ambiguous.</a:t>
            </a:r>
          </a:p>
        </p:txBody>
      </p:sp>
    </p:spTree>
    <p:extLst>
      <p:ext uri="{BB962C8B-B14F-4D97-AF65-F5344CB8AC3E}">
        <p14:creationId xmlns:p14="http://schemas.microsoft.com/office/powerpoint/2010/main" val="228260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DAB3E-3115-4937-A7C7-2F43BDE7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Separate learning from improving a modeled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07CBC-BEFA-40D5-81F3-29500765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new information selector does not replace whole-policy decision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AD3C6E-3CE0-4F22-BDBF-07842F60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05E25-3955-4405-861E-B0E14ABD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Information ranks feasible observations by expected entropy reduction.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F7EA5-AF99-4770-A2DC-8806FFF0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Decision value separately includes action loss, waiting, failure and burden.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91685-B368-4E85-BDEF-18E25E6F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sequential selector is software-tested; independent multi-acquisition evaluation is still planned.</a:t>
            </a:r>
          </a:p>
        </p:txBody>
      </p:sp>
    </p:spTree>
    <p:extLst>
      <p:ext uri="{BB962C8B-B14F-4D97-AF65-F5344CB8AC3E}">
        <p14:creationId xmlns:p14="http://schemas.microsoft.com/office/powerpoint/2010/main" val="15508102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65DA41-2045-403E-90E0-D3F730B6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Whole-policy observation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9EC84-9738-4D44-9A7A-D715D5E5D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comparison includes what happens while waiting and when acquisition fails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1F93E-6C82-44A9-8B24-B3C9FB16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FD62E-2787-4B72-875E-584A40A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Start with the best immediate action under the declared research loss.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F792D-A169-4E4E-A975-F371DA66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Integrate possible results, delayed action and acquisition failure using Gaussian quadrature.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83374-566B-44C2-A833-9278FD66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Subtract declared burden and delay penalty. Preserve negative value and abstain when needed.</a:t>
            </a:r>
          </a:p>
        </p:txBody>
      </p:sp>
    </p:spTree>
    <p:extLst>
      <p:ext uri="{BB962C8B-B14F-4D97-AF65-F5344CB8AC3E}">
        <p14:creationId xmlns:p14="http://schemas.microsoft.com/office/powerpoint/2010/main" val="11663122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79340-F8B1-4F9F-BBD6-8E7B9359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An auditable evidence lifecycle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85AD7-7355-4425-B696-1A5D1AA3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Availability, quality, corrections and saved revisions share one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83C6D-11E5-4CAC-A912-6989FC32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59AF5-9E01-4C4B-A856-884D86B7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Observe at minute 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Quality + declared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B5C64D-481D-4C48-94FF-A4B20340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7FFCD-279F-45C2-BF46-086BE50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622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Release at minute t + delay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No future-value leakage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9189A-60A5-4F6C-946C-F16B827B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8082F-6C14-4C56-A83E-2C99B99F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7622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Assimilate valid evidence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Retain failures + artifacts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8BB6C3-0C99-4669-B618-789AA3AB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143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Append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Original value retained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321A69-1F30-4506-8990-D2968E28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0125"/>
            <a:ext cx="5715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F352F-F541-45C1-822C-FB652023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3286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Rewind before correction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Earlier evidence restored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73DC0D-992B-4BC4-B633-911743A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10125"/>
            <a:ext cx="4762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0796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ABDEFD-1394-4BFF-A107-CAD8F4EB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47675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8"/>
          </a:solidFill>
          <a:ln xmlns:a="http://schemas.openxmlformats.org/drawingml/2006/main" w="14288">
            <a:solidFill>
              <a:srgbClr val="307961"/>
            </a:solidFill>
          </a:ln>
        </p:spPr>
        <p:txBody>
          <a:bodyPr xmlns:a="http://schemas.openxmlformats.org/drawingml/2006/main" lIns="133350" tIns="133350" rIns="133350" bIns="133350"/>
          <a:lstStyle xmlns:a="http://schemas.openxmlformats.org/drawingml/2006/main">
            <a:def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Save immutable report</a:t>
            </a:r>
          </a:p>
          <a:p xmlns:a="http://schemas.openxmlformats.org/drawingml/2006/main">
            <a:pPr>
              <a:defRPr sz="180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Revision + evidence IDs</a:t>
            </a:r>
          </a:p>
        </p:txBody>
      </p:sp>
    </p:spTree>
    <p:extLst>
      <p:ext uri="{BB962C8B-B14F-4D97-AF65-F5344CB8AC3E}">
        <p14:creationId xmlns:p14="http://schemas.microsoft.com/office/powerpoint/2010/main" val="11761092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182DD-5683-41E3-A967-A61C1690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adds a small retrospective gain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BE9D4-1A7C-4D0C-A788-1EB3ACF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HEMOBP v3: 61,947 test windows from 176 separate test patients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CE96E7-85CC-4928-840B-AADE2DB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2AE27254-6BBF-4FE8-94E8-90C75259C28C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7e74c400c54b8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A5B84-2EF3-4DD5-81DD-10BEE48C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History increment: -0.1665 mmHg. Patient-cluster interval [-0.2298, -0.1099].</a:t>
            </a:r>
          </a:p>
        </p:txBody>
      </p:sp>
    </p:spTree>
    <p:extLst>
      <p:ext uri="{BB962C8B-B14F-4D97-AF65-F5344CB8AC3E}">
        <p14:creationId xmlns:p14="http://schemas.microsoft.com/office/powerpoint/2010/main" val="12637943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FA1F3-A854-4CFA-9A38-1AB1C6E9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observed-data limits change interpretation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DFAD6-452B-424E-A722-691192FC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The clock-alignment assumption and alert workload remain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0CFDB2-689E-48DF-B621-A28DC736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461670-6E5A-44A2-AFF6-7D8A97B2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An empirical eight-hour table offset matches 2,516,989 of 4,366,298 machine packets.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FB6EF-5172-4CA1-BABA-78C4379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Source clock semantics still need independent confirmation. Exclusions may bias the cohort.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B47F4-0FC9-4514-BE03-F425EF03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Sensitivity is 61.25%, PPV is 13.51%, and empirical 90% range coverage is 86.74%.</a:t>
            </a:r>
          </a:p>
        </p:txBody>
      </p:sp>
    </p:spTree>
    <p:extLst>
      <p:ext uri="{BB962C8B-B14F-4D97-AF65-F5344CB8AC3E}">
        <p14:creationId xmlns:p14="http://schemas.microsoft.com/office/powerpoint/2010/main" val="12914643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AB0FEC-15C2-40A3-8CB4-BC98CEB7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Decision value does not beat cuff overall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06D09-D27B-49C2-AE3E-858C60FC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Independent authored holdout: 192 cases across eight regimes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4F20D-529E-49EC-80C6-7ACFF45F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16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B373BC8-A297-4A61-9333-82F8FBA06E7F}"/>
              </a:ext>
            </a:extLst>
          </p:cNvPr>
          <p:cNvGraphicFramePr/>
          <p:nvPr/>
        </p:nvGraphicFramePr>
        <p:xfrm>
          <a:off xmlns:a="http://schemas.openxmlformats.org/drawingml/2006/main" x="609600" y="25717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26d7e3a40744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549CC-9701-421E-92E4-8AB606C1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Decision value minus cuff: +0.01975, paired seed interval [-0.00981, 0.05996].</a:t>
            </a:r>
          </a:p>
        </p:txBody>
      </p:sp>
    </p:spTree>
    <p:extLst>
      <p:ext uri="{BB962C8B-B14F-4D97-AF65-F5344CB8AC3E}">
        <p14:creationId xmlns:p14="http://schemas.microsoft.com/office/powerpoint/2010/main" val="12266648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32ABA-3631-49CE-8491-80238DD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Failure states remain part of 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7009C-8684-4E62-B1FF-512EE9C4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 clear demonstration includes the cases where the model should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223CF-9647-4222-87CD-2EAA8C1B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C6339-1E81-4CB2-ADA5-DE9EB733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Current low BP, stale readings, completion and contradiction withhold scenario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E92EE-BA22-4C5F-9F94-E6D841E0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Failures and artifacts remain visible. Equipment constraints apply on the server.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D6259-7BCF-40D6-92B6-09095259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Network errors disable mutations and offer retry. Reports preserve evidence through corrections.</a:t>
            </a:r>
          </a:p>
        </p:txBody>
      </p:sp>
    </p:spTree>
    <p:extLst>
      <p:ext uri="{BB962C8B-B14F-4D97-AF65-F5344CB8AC3E}">
        <p14:creationId xmlns:p14="http://schemas.microsoft.com/office/powerpoint/2010/main" val="165638140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1BBBA-89FA-4FD1-BE89-3AA54556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Longitudinal and interoperability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8B45B-32FB-4818-AD48-695FF2C6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Both extensions expose their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1AEC4-06C8-4B56-9A47-D8539EF7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5A4BC-DFDB-4625-97D7-8FA0E0B8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Conditional fluid transport spans future sessions with authored intake/output and conservation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6DD92-6720-40F7-9BDF-A172BFB1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A synthetic FHIR R4 collection exports Patient, Device and measured BP Observation resources.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189B5-212E-41AA-A486-E165E30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Prospective physiology, ABDM profile conformance and authorized clinical integration remain open gates.</a:t>
            </a:r>
          </a:p>
        </p:txBody>
      </p:sp>
    </p:spTree>
    <p:extLst>
      <p:ext uri="{BB962C8B-B14F-4D97-AF65-F5344CB8AC3E}">
        <p14:creationId xmlns:p14="http://schemas.microsoft.com/office/powerpoint/2010/main" val="14093498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2DA30-EAC2-4082-ADD2-AB93B47B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The next evidence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915A5-C06D-4625-ADEB-33F97662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A research prototype becomes credible through independent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273F5-E8E6-4F2E-BBE7-694C7BE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E7362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E7362"/>
                </a:solidFill>
                <a:latin typeface="Calibri"/>
                <a:ea typeface="Calibri"/>
                <a:cs typeface="Calibri"/>
              </a:rPr>
              <a:t>RENALIS submission · 19 October 2026   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B9DB6-9DE7-4C48-83D3-55FB39C6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Confirm source clock semantics and reproduce the audited cohort independently.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7DFD7-E2E4-4B99-B418-27E72957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Conduct an approved expert walkthrough and paired physiological silent study.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853F9-4EE0-4190-95B4-39E284E2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defPPr>
            <a:lvl1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1pPr>
            <a:lvl2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2pPr>
            <a:lvl3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3pPr>
            <a:lvl4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4pPr>
            <a:lvl5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5pPr>
            <a:lvl6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6pPr>
            <a:lvl7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7pPr>
            <a:lvl8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8pPr>
            <a:lvl9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D30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173D30"/>
                </a:solidFill>
                <a:latin typeface="Calibri"/>
                <a:ea typeface="Calibri"/>
                <a:cs typeface="Calibri"/>
              </a:rPr>
              <a:t>Evaluate external calibration and workload before any prospective impact or treatment claim.</a:t>
            </a:r>
          </a:p>
        </p:txBody>
      </p:sp>
    </p:spTree>
    <p:extLst>
      <p:ext uri="{BB962C8B-B14F-4D97-AF65-F5344CB8AC3E}">
        <p14:creationId xmlns:p14="http://schemas.microsoft.com/office/powerpoint/2010/main" val="7434279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2026-10-19T14:45:25.6290000Z</dcterms:created>
  <dcterms:modified xsi:type="dcterms:W3CDTF">2026-10-19T14:45:25.6290000Z</dcterms:modified>
</coreProperties>
</file>